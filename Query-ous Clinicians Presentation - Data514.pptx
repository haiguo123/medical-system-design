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ed Hat Display SemiBold"/>
      <p:regular r:id="rId28"/>
      <p:bold r:id="rId29"/>
      <p:italic r:id="rId30"/>
      <p:boldItalic r:id="rId31"/>
    </p:embeddedFont>
    <p:embeddedFont>
      <p:font typeface="Roboto"/>
      <p:regular r:id="rId32"/>
      <p:bold r:id="rId33"/>
      <p:italic r:id="rId34"/>
      <p:boldItalic r:id="rId35"/>
    </p:embeddedFont>
    <p:embeddedFont>
      <p:font typeface="Red Hat Display Medium"/>
      <p:regular r:id="rId36"/>
      <p:bold r:id="rId37"/>
      <p:italic r:id="rId38"/>
      <p:boldItalic r:id="rId39"/>
    </p:embeddedFont>
    <p:embeddedFont>
      <p:font typeface="Red Hat Display"/>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edHatDisplay-regular.fntdata"/><Relationship Id="rId20" Type="http://schemas.openxmlformats.org/officeDocument/2006/relationships/slide" Target="slides/slide15.xml"/><Relationship Id="rId42" Type="http://schemas.openxmlformats.org/officeDocument/2006/relationships/font" Target="fonts/RedHatDisplay-italic.fntdata"/><Relationship Id="rId41" Type="http://schemas.openxmlformats.org/officeDocument/2006/relationships/font" Target="fonts/RedHatDisplay-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RedHatDisplay-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edHatDisplaySemiBold-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edHatDisplay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edHatDisplaySemiBold-boldItalic.fntdata"/><Relationship Id="rId30" Type="http://schemas.openxmlformats.org/officeDocument/2006/relationships/font" Target="fonts/RedHatDisplaySemiBold-italic.fntdata"/><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RedHatDisplayMedium-bold.fntdata"/><Relationship Id="rId14" Type="http://schemas.openxmlformats.org/officeDocument/2006/relationships/slide" Target="slides/slide9.xml"/><Relationship Id="rId36" Type="http://schemas.openxmlformats.org/officeDocument/2006/relationships/font" Target="fonts/RedHatDisplayMedium-regular.fntdata"/><Relationship Id="rId17" Type="http://schemas.openxmlformats.org/officeDocument/2006/relationships/slide" Target="slides/slide12.xml"/><Relationship Id="rId39" Type="http://schemas.openxmlformats.org/officeDocument/2006/relationships/font" Target="fonts/RedHatDisplayMedium-boldItalic.fntdata"/><Relationship Id="rId16" Type="http://schemas.openxmlformats.org/officeDocument/2006/relationships/slide" Target="slides/slide11.xml"/><Relationship Id="rId38" Type="http://schemas.openxmlformats.org/officeDocument/2006/relationships/font" Target="fonts/RedHatDisplay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eb7c09b8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eb7c09b8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b7c09b81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eb7c09b81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eb7c09b81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eb7c09b81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ec8f36af7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ec8f36af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Ian</a:t>
            </a:r>
            <a:endParaRPr/>
          </a:p>
          <a:p>
            <a:pPr indent="-298450" lvl="0" marL="457200" rtl="0" algn="l">
              <a:spcBef>
                <a:spcPts val="0"/>
              </a:spcBef>
              <a:spcAft>
                <a:spcPts val="0"/>
              </a:spcAft>
              <a:buSzPts val="1100"/>
              <a:buChar char="-"/>
            </a:pPr>
            <a:r>
              <a:rPr lang="en"/>
              <a:t>Make sure to mention something about likely audience and their technical </a:t>
            </a:r>
            <a:r>
              <a:rPr lang="en"/>
              <a:t>capabilities here</a:t>
            </a:r>
            <a:endParaRPr/>
          </a:p>
          <a:p>
            <a:pPr indent="-298450" lvl="0" marL="457200" rtl="0" algn="l">
              <a:spcBef>
                <a:spcPts val="0"/>
              </a:spcBef>
              <a:spcAft>
                <a:spcPts val="0"/>
              </a:spcAft>
              <a:buSzPts val="1100"/>
              <a:buChar char="-"/>
            </a:pPr>
            <a:r>
              <a:rPr lang="en"/>
              <a:t>For clinicians/nurses/doctors, etc. likely little to no technical skills so we’d in theory build a front-end with pre-written queries for common queries (see our use cases)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eebf10fcb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eebf10fcb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Ian</a:t>
            </a:r>
            <a:endParaRPr/>
          </a:p>
          <a:p>
            <a:pPr indent="-298450" lvl="0" marL="457200" rtl="0" algn="l">
              <a:spcBef>
                <a:spcPts val="0"/>
              </a:spcBef>
              <a:spcAft>
                <a:spcPts val="0"/>
              </a:spcAft>
              <a:buSzPts val="1100"/>
              <a:buChar char="-"/>
            </a:pPr>
            <a:r>
              <a:rPr lang="en"/>
              <a:t>Make sure to mention something about likely audience and their technical capabilities here</a:t>
            </a:r>
            <a:endParaRPr/>
          </a:p>
          <a:p>
            <a:pPr indent="-298450" lvl="0" marL="457200" rtl="0" algn="l">
              <a:spcBef>
                <a:spcPts val="0"/>
              </a:spcBef>
              <a:spcAft>
                <a:spcPts val="0"/>
              </a:spcAft>
              <a:buSzPts val="1100"/>
              <a:buChar char="-"/>
            </a:pPr>
            <a:r>
              <a:rPr lang="en"/>
              <a:t>For clinicians/nurses/doctors, etc. likely little to no technical skills so we’d in theory build a front-end with pre-written queries for common queries (see our use cases)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eb7c09b81f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eb7c09b81f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Red Hat Display SemiBold"/>
                <a:ea typeface="Red Hat Display SemiBold"/>
                <a:cs typeface="Red Hat Display SemiBold"/>
                <a:sym typeface="Red Hat Display SemiBold"/>
              </a:rPr>
              <a:t>Roxy</a:t>
            </a:r>
            <a:endParaRPr sz="1300">
              <a:solidFill>
                <a:schemeClr val="dk1"/>
              </a:solidFill>
              <a:latin typeface="Red Hat Display SemiBold"/>
              <a:ea typeface="Red Hat Display SemiBold"/>
              <a:cs typeface="Red Hat Display SemiBold"/>
              <a:sym typeface="Red Hat Display SemiBold"/>
            </a:endParaRPr>
          </a:p>
          <a:p>
            <a:pPr indent="-292100" lvl="0" marL="457200" rtl="0" algn="l">
              <a:spcBef>
                <a:spcPts val="0"/>
              </a:spcBef>
              <a:spcAft>
                <a:spcPts val="0"/>
              </a:spcAft>
              <a:buClr>
                <a:schemeClr val="dk1"/>
              </a:buClr>
              <a:buSzPts val="1000"/>
              <a:buFont typeface="Red Hat Display SemiBold"/>
              <a:buChar char="●"/>
            </a:pPr>
            <a:r>
              <a:rPr lang="en" sz="1300">
                <a:solidFill>
                  <a:schemeClr val="dk1"/>
                </a:solidFill>
                <a:latin typeface="Red Hat Display SemiBold"/>
                <a:ea typeface="Red Hat Display SemiBold"/>
                <a:cs typeface="Red Hat Display SemiBold"/>
                <a:sym typeface="Red Hat Display SemiBold"/>
              </a:rPr>
              <a:t>PHI is removed to meet HIPAA standards, Sensitive patient data like </a:t>
            </a:r>
            <a:r>
              <a:rPr lang="en" sz="1300">
                <a:solidFill>
                  <a:schemeClr val="dk1"/>
                </a:solidFill>
                <a:latin typeface="Red Hat Display SemiBold"/>
                <a:ea typeface="Red Hat Display SemiBold"/>
                <a:cs typeface="Red Hat Display SemiBold"/>
                <a:sym typeface="Red Hat Display SemiBold"/>
              </a:rPr>
              <a:t>birthdays</a:t>
            </a:r>
            <a:r>
              <a:rPr lang="en" sz="1300">
                <a:solidFill>
                  <a:schemeClr val="dk1"/>
                </a:solidFill>
                <a:latin typeface="Red Hat Display SemiBold"/>
                <a:ea typeface="Red Hat Display SemiBold"/>
                <a:cs typeface="Red Hat Display SemiBold"/>
                <a:sym typeface="Red Hat Display SemiBold"/>
              </a:rPr>
              <a:t>, </a:t>
            </a:r>
            <a:endParaRPr sz="1300">
              <a:solidFill>
                <a:schemeClr val="dk1"/>
              </a:solidFill>
              <a:latin typeface="Red Hat Display SemiBold"/>
              <a:ea typeface="Red Hat Display SemiBold"/>
              <a:cs typeface="Red Hat Display SemiBold"/>
              <a:sym typeface="Red Hat Display SemiBold"/>
            </a:endParaRPr>
          </a:p>
          <a:p>
            <a:pPr indent="-292100" lvl="0" marL="457200" rtl="0" algn="l">
              <a:spcBef>
                <a:spcPts val="0"/>
              </a:spcBef>
              <a:spcAft>
                <a:spcPts val="0"/>
              </a:spcAft>
              <a:buClr>
                <a:schemeClr val="dk1"/>
              </a:buClr>
              <a:buSzPts val="1000"/>
              <a:buFont typeface="Red Hat Display SemiBold"/>
              <a:buChar char="●"/>
            </a:pPr>
            <a:r>
              <a:rPr lang="en" sz="1300">
                <a:solidFill>
                  <a:schemeClr val="dk1"/>
                </a:solidFill>
                <a:latin typeface="Red Hat Display SemiBold"/>
                <a:ea typeface="Red Hat Display SemiBold"/>
                <a:cs typeface="Red Hat Display SemiBold"/>
                <a:sym typeface="Red Hat Display SemiBold"/>
              </a:rPr>
              <a:t>As a research tool, the MIMIC dataset is updated in large historical batches every few years by MIT rather than continuously. </a:t>
            </a:r>
            <a:endParaRPr sz="1300">
              <a:solidFill>
                <a:schemeClr val="dk1"/>
              </a:solidFill>
              <a:latin typeface="Red Hat Display SemiBold"/>
              <a:ea typeface="Red Hat Display SemiBold"/>
              <a:cs typeface="Red Hat Display SemiBold"/>
              <a:sym typeface="Red Hat Display SemiBold"/>
            </a:endParaRPr>
          </a:p>
          <a:p>
            <a:pPr indent="-292100" lvl="0" marL="457200" rtl="0" algn="l">
              <a:spcBef>
                <a:spcPts val="0"/>
              </a:spcBef>
              <a:spcAft>
                <a:spcPts val="0"/>
              </a:spcAft>
              <a:buClr>
                <a:schemeClr val="dk1"/>
              </a:buClr>
              <a:buSzPts val="1000"/>
              <a:buFont typeface="Red Hat Display SemiBold"/>
              <a:buChar char="●"/>
            </a:pPr>
            <a:r>
              <a:rPr lang="en" sz="1300">
                <a:solidFill>
                  <a:schemeClr val="dk1"/>
                </a:solidFill>
                <a:latin typeface="Red Hat Display SemiBold"/>
                <a:ea typeface="Red Hat Display SemiBold"/>
                <a:cs typeface="Red Hat Display SemiBold"/>
                <a:sym typeface="Red Hat Display SemiBold"/>
              </a:rPr>
              <a:t>However, the real-world clinical databases it represents grow exponentially and rapidly, adding thousands of new data points per hour for every patient connected to intensive care monitors. </a:t>
            </a:r>
            <a:endParaRPr sz="1000">
              <a:solidFill>
                <a:schemeClr val="dk1"/>
              </a:solidFill>
              <a:latin typeface="Red Hat Display SemiBold"/>
              <a:ea typeface="Red Hat Display SemiBold"/>
              <a:cs typeface="Red Hat Display SemiBold"/>
              <a:sym typeface="Red Hat Display SemiBold"/>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83e7887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e83e7887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eb7c09b81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eb7c09b81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eb7c09b81f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eb7c09b81f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Roxy</a:t>
            </a:r>
            <a:endParaRPr/>
          </a:p>
          <a:p>
            <a:pPr indent="-298450" lvl="0" marL="457200" rtl="0" algn="l">
              <a:spcBef>
                <a:spcPts val="0"/>
              </a:spcBef>
              <a:spcAft>
                <a:spcPts val="0"/>
              </a:spcAft>
              <a:buSzPts val="1100"/>
              <a:buChar char="●"/>
            </a:pPr>
            <a:r>
              <a:rPr lang="en"/>
              <a:t>Some sensitive information in these main tables can be age and sex for patients, insurance, race, and admit date for the insurance table, and the type of service which can easily be traced back to the patient</a:t>
            </a:r>
            <a:endParaRPr/>
          </a:p>
          <a:p>
            <a:pPr indent="-298450" lvl="0" marL="457200" rtl="0" algn="l">
              <a:spcBef>
                <a:spcPts val="0"/>
              </a:spcBef>
              <a:spcAft>
                <a:spcPts val="0"/>
              </a:spcAft>
              <a:buSzPts val="1100"/>
              <a:buChar char="●"/>
            </a:pPr>
            <a:r>
              <a:rPr lang="en"/>
              <a:t>The dataset protects this sensitive information by [how to protect slide] , but even </a:t>
            </a:r>
            <a:r>
              <a:rPr lang="en"/>
              <a:t>after</a:t>
            </a:r>
            <a:r>
              <a:rPr lang="en"/>
              <a:t> these data privacy effort, there’s still some issues [other potential issue slide]</a:t>
            </a:r>
            <a:endParaRPr/>
          </a:p>
          <a:p>
            <a:pPr indent="-298450" lvl="0" marL="457200" rtl="0" algn="l">
              <a:spcBef>
                <a:spcPts val="0"/>
              </a:spcBef>
              <a:spcAft>
                <a:spcPts val="0"/>
              </a:spcAft>
              <a:buSzPts val="1100"/>
              <a:buChar char="●"/>
            </a:pPr>
            <a:r>
              <a:rPr lang="en"/>
              <a:t>Some issues in reusing this dataset are [re use]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eca7b7ec3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eca7b7ec3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ec8f36af7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ec8f36af7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Red Hat Display"/>
                <a:ea typeface="Red Hat Display"/>
                <a:cs typeface="Red Hat Display"/>
                <a:sym typeface="Red Hat Display"/>
              </a:rPr>
              <a:t>Owen</a:t>
            </a:r>
            <a:endParaRPr sz="900">
              <a:solidFill>
                <a:schemeClr val="dk1"/>
              </a:solidFill>
              <a:latin typeface="Red Hat Display"/>
              <a:ea typeface="Red Hat Display"/>
              <a:cs typeface="Red Hat Display"/>
              <a:sym typeface="Red Hat Display"/>
            </a:endParaRPr>
          </a:p>
          <a:p>
            <a:pPr indent="-285750" lvl="0" marL="457200" rtl="0" algn="l">
              <a:spcBef>
                <a:spcPts val="0"/>
              </a:spcBef>
              <a:spcAft>
                <a:spcPts val="0"/>
              </a:spcAft>
              <a:buClr>
                <a:schemeClr val="dk1"/>
              </a:buClr>
              <a:buSzPts val="900"/>
              <a:buFont typeface="Red Hat Display"/>
              <a:buChar char="●"/>
            </a:pPr>
            <a:r>
              <a:rPr lang="en" sz="900">
                <a:solidFill>
                  <a:schemeClr val="dk1"/>
                </a:solidFill>
                <a:latin typeface="Red Hat Display"/>
                <a:ea typeface="Red Hat Display"/>
                <a:cs typeface="Red Hat Display"/>
                <a:sym typeface="Red Hat Display"/>
              </a:rPr>
              <a:t>MIMIC-IV will exceed 2TB due to high-frequency clinical event tables — a single long-stay ICU patient can generate hundreds of thousands of rows in chartevents and emar alone.</a:t>
            </a:r>
            <a:endParaRPr sz="900">
              <a:solidFill>
                <a:schemeClr val="dk1"/>
              </a:solidFill>
              <a:latin typeface="Red Hat Display"/>
              <a:ea typeface="Red Hat Display"/>
              <a:cs typeface="Red Hat Display"/>
              <a:sym typeface="Red Hat Display"/>
            </a:endParaRPr>
          </a:p>
          <a:p>
            <a:pPr indent="-285750" lvl="0" marL="457200" rtl="0" algn="l">
              <a:spcBef>
                <a:spcPts val="0"/>
              </a:spcBef>
              <a:spcAft>
                <a:spcPts val="0"/>
              </a:spcAft>
              <a:buClr>
                <a:schemeClr val="dk1"/>
              </a:buClr>
              <a:buSzPts val="900"/>
              <a:buFont typeface="Red Hat Display"/>
              <a:buChar char="●"/>
            </a:pPr>
            <a:r>
              <a:rPr lang="en" sz="900">
                <a:solidFill>
                  <a:schemeClr val="dk1"/>
                </a:solidFill>
                <a:latin typeface="Red Hat Display"/>
                <a:ea typeface="Red Hat Display"/>
                <a:cs typeface="Red Hat Display"/>
                <a:sym typeface="Red Hat Display"/>
              </a:rPr>
              <a:t>We chose a partitioned RDBMS over NoSQL because consistency is a patient safety requirement here — eventual consistency on a medication dashboard isn't acceptable.</a:t>
            </a:r>
            <a:endParaRPr sz="900">
              <a:solidFill>
                <a:schemeClr val="dk1"/>
              </a:solidFill>
              <a:latin typeface="Red Hat Display"/>
              <a:ea typeface="Red Hat Display"/>
              <a:cs typeface="Red Hat Display"/>
              <a:sym typeface="Red Hat Display"/>
            </a:endParaRPr>
          </a:p>
          <a:p>
            <a:pPr indent="-285750" lvl="0" marL="457200" rtl="0" algn="l">
              <a:spcBef>
                <a:spcPts val="0"/>
              </a:spcBef>
              <a:spcAft>
                <a:spcPts val="0"/>
              </a:spcAft>
              <a:buClr>
                <a:schemeClr val="dk1"/>
              </a:buClr>
              <a:buSzPts val="900"/>
              <a:buFont typeface="Red Hat Display"/>
              <a:buChar char="●"/>
            </a:pPr>
            <a:r>
              <a:rPr lang="en" sz="900">
                <a:solidFill>
                  <a:schemeClr val="dk1"/>
                </a:solidFill>
                <a:latin typeface="Red Hat Display"/>
                <a:ea typeface="Red Hat Display"/>
                <a:cs typeface="Red Hat Display"/>
                <a:sym typeface="Red Hat Display"/>
              </a:rPr>
              <a:t>Our partition key is subject_id. Our two highest-frequency use cases — medication safety and ICU early warning — are both patient-centric, so partitioning by subject_id means those queries never cross a shard boundary. Our lower-frequency analytical use cases will scan all shards, but that cost is acceptable given how rarely they run.</a:t>
            </a:r>
            <a:endParaRPr sz="900">
              <a:solidFill>
                <a:schemeClr val="dk1"/>
              </a:solidFill>
              <a:latin typeface="Red Hat Display"/>
              <a:ea typeface="Red Hat Display"/>
              <a:cs typeface="Red Hat Display"/>
              <a:sym typeface="Red Hat Display"/>
            </a:endParaRPr>
          </a:p>
          <a:p>
            <a:pPr indent="-285750" lvl="0" marL="457200" rtl="0" algn="l">
              <a:spcBef>
                <a:spcPts val="0"/>
              </a:spcBef>
              <a:spcAft>
                <a:spcPts val="0"/>
              </a:spcAft>
              <a:buClr>
                <a:schemeClr val="dk1"/>
              </a:buClr>
              <a:buSzPts val="900"/>
              <a:buFont typeface="Red Hat Display"/>
              <a:buChar char="●"/>
            </a:pPr>
            <a:r>
              <a:rPr lang="en" sz="900">
                <a:solidFill>
                  <a:schemeClr val="dk1"/>
                </a:solidFill>
                <a:latin typeface="Red Hat Display"/>
                <a:ea typeface="Red Hat Display"/>
                <a:cs typeface="Red Hat Display"/>
                <a:sym typeface="Red Hat Display"/>
              </a:rPr>
              <a:t>Even though joins across servers may have huge network IO cost, this isn’t applicable to our specific use cases. Our dominant queries (medication safety and ICU warning) are patient-centric. If we partition by subject_id, a clinician pulling patient 42's full record, ie medications, vitals, labs, admissions will live on one node</a:t>
            </a:r>
            <a:endParaRPr sz="900">
              <a:solidFill>
                <a:schemeClr val="dk1"/>
              </a:solidFill>
              <a:latin typeface="Red Hat Display"/>
              <a:ea typeface="Red Hat Display"/>
              <a:cs typeface="Red Hat Display"/>
              <a:sym typeface="Red Hat Display"/>
            </a:endParaRPr>
          </a:p>
          <a:p>
            <a:pPr indent="-285750" lvl="0" marL="457200" rtl="0" algn="l">
              <a:spcBef>
                <a:spcPts val="0"/>
              </a:spcBef>
              <a:spcAft>
                <a:spcPts val="0"/>
              </a:spcAft>
              <a:buClr>
                <a:schemeClr val="dk1"/>
              </a:buClr>
              <a:buSzPts val="900"/>
              <a:buFont typeface="Red Hat Display"/>
              <a:buChar char="●"/>
            </a:pPr>
            <a:r>
              <a:rPr lang="en" sz="900">
                <a:solidFill>
                  <a:schemeClr val="dk1"/>
                </a:solidFill>
                <a:latin typeface="Red Hat Display"/>
                <a:ea typeface="Red Hat Display"/>
                <a:cs typeface="Red Hat Display"/>
                <a:sym typeface="Red Hat Display"/>
              </a:rPr>
              <a:t>One limitation: long-stay ICU patients could become hot spots, which we'd address with a composite subject_id and time bucket key if needed.</a:t>
            </a:r>
            <a:endParaRPr sz="900">
              <a:solidFill>
                <a:schemeClr val="dk1"/>
              </a:solidFill>
              <a:latin typeface="Red Hat Display"/>
              <a:ea typeface="Red Hat Display"/>
              <a:cs typeface="Red Hat Display"/>
              <a:sym typeface="Red Hat Display"/>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eca7b7ec3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eca7b7ec3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Owen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eca7b7ec32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eca7b7ec32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c8f36af7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ec8f36af7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Daniel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e89b9a2f3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e89b9a2f3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Daniel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ec8f36af7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ec8f36af7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eb7c09b81f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eb7c09b81f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Daniel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ec8f36af7f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ec8f36af7f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Daniel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eca7b7ec32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eca7b7ec32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e8d3a6716d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e8d3a6716d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Henry</a:t>
            </a:r>
            <a:endParaRPr/>
          </a:p>
          <a:p>
            <a:pPr indent="0" lvl="0" marL="0" rtl="0" algn="l">
              <a:spcBef>
                <a:spcPts val="0"/>
              </a:spcBef>
              <a:spcAft>
                <a:spcPts val="0"/>
              </a:spcAft>
              <a:buNone/>
            </a:pPr>
            <a:r>
              <a:rPr lang="en"/>
              <a:t>Hadm_id = hospital admission ID</a:t>
            </a:r>
            <a:endParaRPr/>
          </a:p>
          <a:p>
            <a:pPr indent="0" lvl="0" marL="0" rtl="0" algn="l">
              <a:spcBef>
                <a:spcPts val="0"/>
              </a:spcBef>
              <a:spcAft>
                <a:spcPts val="0"/>
              </a:spcAft>
              <a:buNone/>
            </a:pPr>
            <a:r>
              <a:rPr lang="en"/>
              <a:t>Emar = medication records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e8d3a6716d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3e8d3a6716d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latin typeface="Times New Roman"/>
                <a:ea typeface="Times New Roman"/>
                <a:cs typeface="Times New Roman"/>
                <a:sym typeface="Times New Roman"/>
              </a:rPr>
              <a:t>Henry</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1200">
                <a:solidFill>
                  <a:schemeClr val="dk1"/>
                </a:solidFill>
                <a:latin typeface="Times New Roman"/>
                <a:ea typeface="Times New Roman"/>
                <a:cs typeface="Times New Roman"/>
                <a:sym typeface="Times New Roman"/>
              </a:rPr>
              <a:t>In a document database this also enables a sparse index on</a:t>
            </a:r>
            <a:r>
              <a:rPr lang="en" sz="1200">
                <a:solidFill>
                  <a:srgbClr val="188038"/>
                </a:solidFill>
                <a:latin typeface="Times New Roman"/>
                <a:ea typeface="Times New Roman"/>
                <a:cs typeface="Times New Roman"/>
                <a:sym typeface="Times New Roman"/>
              </a:rPr>
              <a:t> dose_mismatch </a:t>
            </a:r>
            <a:r>
              <a:rPr lang="en" sz="1200">
                <a:solidFill>
                  <a:schemeClr val="dk1"/>
                </a:solidFill>
                <a:latin typeface="Times New Roman"/>
                <a:ea typeface="Times New Roman"/>
                <a:cs typeface="Times New Roman"/>
                <a:sym typeface="Times New Roman"/>
              </a:rPr>
              <a:t>that only indexes </a:t>
            </a:r>
            <a:r>
              <a:rPr lang="en" sz="1200">
                <a:solidFill>
                  <a:srgbClr val="188038"/>
                </a:solidFill>
                <a:latin typeface="Times New Roman"/>
                <a:ea typeface="Times New Roman"/>
                <a:cs typeface="Times New Roman"/>
                <a:sym typeface="Times New Roman"/>
              </a:rPr>
              <a:t>true</a:t>
            </a:r>
            <a:r>
              <a:rPr lang="en" sz="1200">
                <a:solidFill>
                  <a:schemeClr val="dk1"/>
                </a:solidFill>
                <a:latin typeface="Times New Roman"/>
                <a:ea typeface="Times New Roman"/>
                <a:cs typeface="Times New Roman"/>
                <a:sym typeface="Times New Roman"/>
              </a:rPr>
              <a:t> values and returns flagged records immediately without touching the full document array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b7c09b81f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eb7c09b81f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10" name="Shape 10"/>
        <p:cNvGrpSpPr/>
        <p:nvPr/>
      </p:nvGrpSpPr>
      <p:grpSpPr>
        <a:xfrm>
          <a:off x="0" y="0"/>
          <a:ext cx="0" cy="0"/>
          <a:chOff x="0" y="0"/>
          <a:chExt cx="0" cy="0"/>
        </a:xfrm>
      </p:grpSpPr>
      <p:sp>
        <p:nvSpPr>
          <p:cNvPr id="11" name="Google Shape;11;p2"/>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 name="Google Shape;12;p2"/>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 name="Google Shape;13;p2"/>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 name="Google Shape;14;p2"/>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 name="Google Shape;15;p2"/>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 name="Google Shape;16;p2"/>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 name="Google Shape;17;p2"/>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 name="Google Shape;18;p2"/>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 name="Google Shape;19;p2"/>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 name="Google Shape;20;p2"/>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 name="Google Shape;21;p2"/>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 name="Google Shape;22;p2"/>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 name="Google Shape;23;p2"/>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 name="Google Shape;24;p2"/>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5" name="Google Shape;25;p2"/>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6" name="Google Shape;26;p2"/>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7" name="Google Shape;27;p2"/>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29" name="Shape 29"/>
        <p:cNvGrpSpPr/>
        <p:nvPr/>
      </p:nvGrpSpPr>
      <p:grpSpPr>
        <a:xfrm>
          <a:off x="0" y="0"/>
          <a:ext cx="0" cy="0"/>
          <a:chOff x="0" y="0"/>
          <a:chExt cx="0" cy="0"/>
        </a:xfrm>
      </p:grpSpPr>
      <p:sp>
        <p:nvSpPr>
          <p:cNvPr id="30" name="Google Shape;30;p3"/>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1" name="Google Shape;31;p3"/>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2" name="Google Shape;32;p3"/>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3" name="Google Shape;33;p3"/>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4" name="Google Shape;34;p3"/>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5" name="Google Shape;35;p3"/>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6" name="Google Shape;36;p3"/>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7" name="Google Shape;37;p3"/>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8" name="Google Shape;38;p3"/>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9" name="Google Shape;39;p3"/>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 name="Google Shape;40;p3"/>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 name="Google Shape;41;p3"/>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 name="Google Shape;42;p3"/>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 name="Google Shape;43;p3"/>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 name="Google Shape;44;p3"/>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5" name="Google Shape;45;p3"/>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6" name="Google Shape;46;p3"/>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
          <p:cNvSpPr/>
          <p:nvPr>
            <p:ph idx="2" type="pic"/>
          </p:nvPr>
        </p:nvSpPr>
        <p:spPr>
          <a:xfrm>
            <a:off x="3154650" y="3875225"/>
            <a:ext cx="618600" cy="808500"/>
          </a:xfrm>
          <a:prstGeom prst="snip2DiagRect">
            <a:avLst>
              <a:gd fmla="val 0" name="adj1"/>
              <a:gd fmla="val 34473" name="adj2"/>
            </a:avLst>
          </a:prstGeom>
          <a:noFill/>
          <a:ln>
            <a:noFill/>
          </a:ln>
        </p:spPr>
      </p:sp>
      <p:sp>
        <p:nvSpPr>
          <p:cNvPr id="48" name="Google Shape;48;p3"/>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49" name="Google Shape;49;p3"/>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50" name="Google Shape;50;p3"/>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51" name="Google Shape;51;p3"/>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52" name="Google Shape;52;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53" name="Shape 53"/>
        <p:cNvGrpSpPr/>
        <p:nvPr/>
      </p:nvGrpSpPr>
      <p:grpSpPr>
        <a:xfrm>
          <a:off x="0" y="0"/>
          <a:ext cx="0" cy="0"/>
          <a:chOff x="0" y="0"/>
          <a:chExt cx="0" cy="0"/>
        </a:xfrm>
      </p:grpSpPr>
      <p:sp>
        <p:nvSpPr>
          <p:cNvPr id="54" name="Google Shape;54;p4"/>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5" name="Google Shape;55;p4"/>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4"/>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4"/>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4"/>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4"/>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4"/>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4"/>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4"/>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4"/>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4"/>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4"/>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4"/>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4"/>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4"/>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4"/>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4"/>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1" name="Google Shape;71;p4"/>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2" name="Google Shape;72;p4"/>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3" name="Google Shape;73;p4"/>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4"/>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4"/>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6" name="Google Shape;76;p4"/>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7" name="Google Shape;77;p4"/>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8" name="Google Shape;78;p4"/>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
        <p:nvSpPr>
          <p:cNvPr id="79" name="Google Shape;79;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80" name="Shape 80"/>
        <p:cNvGrpSpPr/>
        <p:nvPr/>
      </p:nvGrpSpPr>
      <p:grpSpPr>
        <a:xfrm>
          <a:off x="0" y="0"/>
          <a:ext cx="0" cy="0"/>
          <a:chOff x="0" y="0"/>
          <a:chExt cx="0" cy="0"/>
        </a:xfrm>
      </p:grpSpPr>
      <p:grpSp>
        <p:nvGrpSpPr>
          <p:cNvPr id="81" name="Google Shape;81;p5"/>
          <p:cNvGrpSpPr/>
          <p:nvPr/>
        </p:nvGrpSpPr>
        <p:grpSpPr>
          <a:xfrm>
            <a:off x="4895291" y="1377627"/>
            <a:ext cx="4091726" cy="3670806"/>
            <a:chOff x="5223565" y="1672200"/>
            <a:chExt cx="3763198" cy="3376074"/>
          </a:xfrm>
        </p:grpSpPr>
        <p:sp>
          <p:nvSpPr>
            <p:cNvPr id="82" name="Google Shape;82;p5"/>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5"/>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5"/>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5"/>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5"/>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5"/>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5"/>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9" name="Google Shape;89;p5"/>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0" name="Google Shape;90;p5"/>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1" name="Google Shape;91;p5"/>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2" name="Google Shape;92;p5"/>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3" name="Google Shape;93;p5"/>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4" name="Google Shape;94;p5"/>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5" name="Google Shape;95;p5"/>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6" name="Google Shape;96;p5"/>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5"/>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5"/>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5"/>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5"/>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5"/>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5"/>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5"/>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5"/>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5"/>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5"/>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5"/>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5"/>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5"/>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5"/>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5"/>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5"/>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5"/>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5"/>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5"/>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5"/>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5"/>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5"/>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5"/>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5"/>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1" name="Google Shape;121;p5"/>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2" name="Google Shape;122;p5"/>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3" name="Google Shape;123;p5"/>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5"/>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5"/>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5"/>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5"/>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5"/>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5"/>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5"/>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5"/>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5"/>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5"/>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5"/>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5"/>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5"/>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5"/>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5"/>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5"/>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5"/>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5"/>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5"/>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5"/>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5"/>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5"/>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5"/>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5"/>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5"/>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5"/>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0" name="Google Shape;150;p5"/>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1" name="Google Shape;151;p5"/>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5"/>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5"/>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54" name="Google Shape;154;p5"/>
          <p:cNvGrpSpPr/>
          <p:nvPr/>
        </p:nvGrpSpPr>
        <p:grpSpPr>
          <a:xfrm>
            <a:off x="142078" y="79823"/>
            <a:ext cx="2140834" cy="1767927"/>
            <a:chOff x="142083" y="79814"/>
            <a:chExt cx="1831025" cy="1512212"/>
          </a:xfrm>
        </p:grpSpPr>
        <p:sp>
          <p:nvSpPr>
            <p:cNvPr id="155" name="Google Shape;155;p5"/>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5"/>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5"/>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5"/>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5"/>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5"/>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5"/>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5"/>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5"/>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5"/>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5"/>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5"/>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5"/>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5"/>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5"/>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5"/>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5"/>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5"/>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5"/>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5"/>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5" name="Google Shape;175;p5"/>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6" name="Google Shape;176;p5"/>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7" name="Google Shape;177;p5"/>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8" name="Google Shape;178;p5"/>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179" name="Google Shape;179;p5"/>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80" name="Google Shape;180;p5"/>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182" name="Shape 182"/>
        <p:cNvGrpSpPr/>
        <p:nvPr/>
      </p:nvGrpSpPr>
      <p:grpSpPr>
        <a:xfrm>
          <a:off x="0" y="0"/>
          <a:ext cx="0" cy="0"/>
          <a:chOff x="0" y="0"/>
          <a:chExt cx="0" cy="0"/>
        </a:xfrm>
      </p:grpSpPr>
      <p:sp>
        <p:nvSpPr>
          <p:cNvPr id="183" name="Google Shape;183;p6"/>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84" name="Google Shape;184;p6"/>
          <p:cNvSpPr/>
          <p:nvPr>
            <p:ph idx="2" type="pic"/>
          </p:nvPr>
        </p:nvSpPr>
        <p:spPr>
          <a:xfrm>
            <a:off x="228425" y="1804150"/>
            <a:ext cx="1444500" cy="1451400"/>
          </a:xfrm>
          <a:prstGeom prst="rect">
            <a:avLst/>
          </a:prstGeom>
          <a:noFill/>
          <a:ln>
            <a:noFill/>
          </a:ln>
        </p:spPr>
      </p:sp>
      <p:sp>
        <p:nvSpPr>
          <p:cNvPr id="185" name="Google Shape;185;p6"/>
          <p:cNvSpPr/>
          <p:nvPr>
            <p:ph idx="3" type="pic"/>
          </p:nvPr>
        </p:nvSpPr>
        <p:spPr>
          <a:xfrm>
            <a:off x="2036775" y="1804150"/>
            <a:ext cx="1444500" cy="1451400"/>
          </a:xfrm>
          <a:prstGeom prst="rect">
            <a:avLst/>
          </a:prstGeom>
          <a:noFill/>
          <a:ln>
            <a:noFill/>
          </a:ln>
        </p:spPr>
      </p:sp>
      <p:sp>
        <p:nvSpPr>
          <p:cNvPr id="186" name="Google Shape;186;p6"/>
          <p:cNvSpPr/>
          <p:nvPr>
            <p:ph idx="4" type="pic"/>
          </p:nvPr>
        </p:nvSpPr>
        <p:spPr>
          <a:xfrm>
            <a:off x="3844088" y="1804150"/>
            <a:ext cx="1444500" cy="1451400"/>
          </a:xfrm>
          <a:prstGeom prst="rect">
            <a:avLst/>
          </a:prstGeom>
          <a:noFill/>
          <a:ln>
            <a:noFill/>
          </a:ln>
        </p:spPr>
      </p:sp>
      <p:sp>
        <p:nvSpPr>
          <p:cNvPr id="187" name="Google Shape;187;p6"/>
          <p:cNvSpPr/>
          <p:nvPr>
            <p:ph idx="5" type="pic"/>
          </p:nvPr>
        </p:nvSpPr>
        <p:spPr>
          <a:xfrm>
            <a:off x="5655513" y="1804150"/>
            <a:ext cx="1444500" cy="1451400"/>
          </a:xfrm>
          <a:prstGeom prst="rect">
            <a:avLst/>
          </a:prstGeom>
          <a:noFill/>
          <a:ln>
            <a:noFill/>
          </a:ln>
        </p:spPr>
      </p:sp>
      <p:sp>
        <p:nvSpPr>
          <p:cNvPr id="188" name="Google Shape;188;p6"/>
          <p:cNvSpPr/>
          <p:nvPr>
            <p:ph idx="6" type="pic"/>
          </p:nvPr>
        </p:nvSpPr>
        <p:spPr>
          <a:xfrm>
            <a:off x="7470863" y="1804150"/>
            <a:ext cx="1444500" cy="1451400"/>
          </a:xfrm>
          <a:prstGeom prst="rect">
            <a:avLst/>
          </a:prstGeom>
          <a:noFill/>
          <a:ln>
            <a:noFill/>
          </a:ln>
        </p:spPr>
      </p:sp>
      <p:sp>
        <p:nvSpPr>
          <p:cNvPr id="189" name="Google Shape;189;p6"/>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0" name="Google Shape;190;p6"/>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1" name="Google Shape;191;p6"/>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2" name="Google Shape;192;p6"/>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3" name="Google Shape;193;p6"/>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4" name="Google Shape;194;p6"/>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5" name="Google Shape;195;p6"/>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6" name="Google Shape;196;p6"/>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7" name="Google Shape;197;p6"/>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8" name="Google Shape;198;p6"/>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9" name="Google Shape;199;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200" name="Shape 200"/>
        <p:cNvGrpSpPr/>
        <p:nvPr/>
      </p:nvGrpSpPr>
      <p:grpSpPr>
        <a:xfrm>
          <a:off x="0" y="0"/>
          <a:ext cx="0" cy="0"/>
          <a:chOff x="0" y="0"/>
          <a:chExt cx="0" cy="0"/>
        </a:xfrm>
      </p:grpSpPr>
      <p:sp>
        <p:nvSpPr>
          <p:cNvPr id="201" name="Google Shape;201;p7"/>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02" name="Google Shape;202;p7"/>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3" name="Google Shape;203;p7"/>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4" name="Google Shape;204;p7"/>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5" name="Google Shape;205;p7"/>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6" name="Google Shape;206;p7"/>
          <p:cNvSpPr/>
          <p:nvPr>
            <p:ph idx="2" type="pic"/>
          </p:nvPr>
        </p:nvSpPr>
        <p:spPr>
          <a:xfrm>
            <a:off x="228425" y="1992125"/>
            <a:ext cx="1444500" cy="1451400"/>
          </a:xfrm>
          <a:prstGeom prst="rect">
            <a:avLst/>
          </a:prstGeom>
          <a:noFill/>
          <a:ln>
            <a:noFill/>
          </a:ln>
        </p:spPr>
      </p:sp>
      <p:sp>
        <p:nvSpPr>
          <p:cNvPr id="207" name="Google Shape;207;p7"/>
          <p:cNvSpPr/>
          <p:nvPr>
            <p:ph idx="3" type="pic"/>
          </p:nvPr>
        </p:nvSpPr>
        <p:spPr>
          <a:xfrm>
            <a:off x="2039088" y="1992125"/>
            <a:ext cx="1444500" cy="1451400"/>
          </a:xfrm>
          <a:prstGeom prst="rect">
            <a:avLst/>
          </a:prstGeom>
          <a:noFill/>
          <a:ln>
            <a:noFill/>
          </a:ln>
        </p:spPr>
      </p:sp>
      <p:sp>
        <p:nvSpPr>
          <p:cNvPr id="208" name="Google Shape;208;p7"/>
          <p:cNvSpPr/>
          <p:nvPr>
            <p:ph idx="4" type="pic"/>
          </p:nvPr>
        </p:nvSpPr>
        <p:spPr>
          <a:xfrm>
            <a:off x="3849663" y="1992125"/>
            <a:ext cx="1444500" cy="1451400"/>
          </a:xfrm>
          <a:prstGeom prst="rect">
            <a:avLst/>
          </a:prstGeom>
          <a:noFill/>
          <a:ln>
            <a:noFill/>
          </a:ln>
        </p:spPr>
      </p:sp>
      <p:sp>
        <p:nvSpPr>
          <p:cNvPr id="209" name="Google Shape;209;p7"/>
          <p:cNvSpPr/>
          <p:nvPr>
            <p:ph idx="5" type="pic"/>
          </p:nvPr>
        </p:nvSpPr>
        <p:spPr>
          <a:xfrm>
            <a:off x="5660238" y="1992125"/>
            <a:ext cx="1444500" cy="1451400"/>
          </a:xfrm>
          <a:prstGeom prst="rect">
            <a:avLst/>
          </a:prstGeom>
          <a:noFill/>
          <a:ln>
            <a:noFill/>
          </a:ln>
        </p:spPr>
      </p:sp>
      <p:sp>
        <p:nvSpPr>
          <p:cNvPr id="210" name="Google Shape;210;p7"/>
          <p:cNvSpPr/>
          <p:nvPr>
            <p:ph idx="6" type="pic"/>
          </p:nvPr>
        </p:nvSpPr>
        <p:spPr>
          <a:xfrm>
            <a:off x="7470738" y="1992125"/>
            <a:ext cx="1444500" cy="1451400"/>
          </a:xfrm>
          <a:prstGeom prst="rect">
            <a:avLst/>
          </a:prstGeom>
          <a:noFill/>
          <a:ln>
            <a:noFill/>
          </a:ln>
        </p:spPr>
      </p:sp>
      <p:sp>
        <p:nvSpPr>
          <p:cNvPr id="211" name="Google Shape;211;p7"/>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2" name="Google Shape;212;p7"/>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3" name="Google Shape;213;p7"/>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14" name="Google Shape;214;p7"/>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5" name="Google Shape;215;p7"/>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6" name="Google Shape;216;p7"/>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7" name="Google Shape;217;p7"/>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8" name="Google Shape;218;p7"/>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9" name="Google Shape;219;p7"/>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20" name="Google Shape;220;p7"/>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21" name="Google Shape;221;p7"/>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22" name="Google Shape;222;p7"/>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23" name="Google Shape;223;p7"/>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24" name="Google Shape;224;p7"/>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25" name="Google Shape;225;p7"/>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26" name="Google Shape;226;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27" name="Shape 227"/>
        <p:cNvGrpSpPr/>
        <p:nvPr/>
      </p:nvGrpSpPr>
      <p:grpSpPr>
        <a:xfrm>
          <a:off x="0" y="0"/>
          <a:ext cx="0" cy="0"/>
          <a:chOff x="0" y="0"/>
          <a:chExt cx="0" cy="0"/>
        </a:xfrm>
      </p:grpSpPr>
      <p:sp>
        <p:nvSpPr>
          <p:cNvPr id="228" name="Google Shape;228;p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29" name="Google Shape;229;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30" name="Shape 230"/>
        <p:cNvGrpSpPr/>
        <p:nvPr/>
      </p:nvGrpSpPr>
      <p:grpSpPr>
        <a:xfrm>
          <a:off x="0" y="0"/>
          <a:ext cx="0" cy="0"/>
          <a:chOff x="0" y="0"/>
          <a:chExt cx="0" cy="0"/>
        </a:xfrm>
      </p:grpSpPr>
      <p:sp>
        <p:nvSpPr>
          <p:cNvPr id="231" name="Google Shape;231;p9"/>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2" name="Google Shape;232;p9"/>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33" name="Google Shape;233;p9"/>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4" name="Google Shape;234;p9"/>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35" name="Google Shape;235;p9"/>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6" name="Google Shape;236;p9"/>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37" name="Google Shape;237;p9"/>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8" name="Google Shape;238;p9"/>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9" name="Google Shape;239;p9"/>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40" name="Google Shape;240;p9"/>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41" name="Google Shape;241;p9"/>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42" name="Google Shape;242;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43" name="Shape 243"/>
        <p:cNvGrpSpPr/>
        <p:nvPr/>
      </p:nvGrpSpPr>
      <p:grpSpPr>
        <a:xfrm>
          <a:off x="0" y="0"/>
          <a:ext cx="0" cy="0"/>
          <a:chOff x="0" y="0"/>
          <a:chExt cx="0" cy="0"/>
        </a:xfrm>
      </p:grpSpPr>
      <p:sp>
        <p:nvSpPr>
          <p:cNvPr id="244" name="Google Shape;244;p1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45" name="Google Shape;245;p10"/>
          <p:cNvSpPr/>
          <p:nvPr>
            <p:ph idx="2" type="pic"/>
          </p:nvPr>
        </p:nvSpPr>
        <p:spPr>
          <a:xfrm>
            <a:off x="1446025" y="1291825"/>
            <a:ext cx="1232400" cy="1283100"/>
          </a:xfrm>
          <a:prstGeom prst="snip1Rect">
            <a:avLst>
              <a:gd fmla="val 44296" name="adj"/>
            </a:avLst>
          </a:prstGeom>
          <a:noFill/>
          <a:ln>
            <a:noFill/>
          </a:ln>
        </p:spPr>
      </p:sp>
      <p:sp>
        <p:nvSpPr>
          <p:cNvPr id="246" name="Google Shape;246;p10"/>
          <p:cNvSpPr/>
          <p:nvPr>
            <p:ph idx="3" type="pic"/>
          </p:nvPr>
        </p:nvSpPr>
        <p:spPr>
          <a:xfrm>
            <a:off x="6526650" y="1291825"/>
            <a:ext cx="1232400" cy="1283100"/>
          </a:xfrm>
          <a:prstGeom prst="snip1Rect">
            <a:avLst>
              <a:gd fmla="val 44296" name="adj"/>
            </a:avLst>
          </a:prstGeom>
          <a:noFill/>
          <a:ln>
            <a:noFill/>
          </a:ln>
        </p:spPr>
      </p:sp>
      <p:sp>
        <p:nvSpPr>
          <p:cNvPr id="247" name="Google Shape;247;p10"/>
          <p:cNvSpPr/>
          <p:nvPr>
            <p:ph idx="4" type="pic"/>
          </p:nvPr>
        </p:nvSpPr>
        <p:spPr>
          <a:xfrm>
            <a:off x="3982125" y="2570200"/>
            <a:ext cx="1232400" cy="1292100"/>
          </a:xfrm>
          <a:prstGeom prst="snip1Rect">
            <a:avLst>
              <a:gd fmla="val 44296" name="adj"/>
            </a:avLst>
          </a:prstGeom>
          <a:noFill/>
          <a:ln>
            <a:noFill/>
          </a:ln>
        </p:spPr>
      </p:sp>
      <p:sp>
        <p:nvSpPr>
          <p:cNvPr id="248" name="Google Shape;248;p10"/>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9" name="Google Shape;249;p10"/>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50" name="Google Shape;250;p10"/>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0"/>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52" name="Google Shape;252;p10"/>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53" name="Google Shape;253;p10"/>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54" name="Google Shape;254;p10"/>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55" name="Google Shape;255;p10"/>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56" name="Google Shape;256;p10"/>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57" name="Google Shape;257;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58" name="Shape 258"/>
        <p:cNvGrpSpPr/>
        <p:nvPr/>
      </p:nvGrpSpPr>
      <p:grpSpPr>
        <a:xfrm>
          <a:off x="0" y="0"/>
          <a:ext cx="0" cy="0"/>
          <a:chOff x="0" y="0"/>
          <a:chExt cx="0" cy="0"/>
        </a:xfrm>
      </p:grpSpPr>
      <p:pic>
        <p:nvPicPr>
          <p:cNvPr id="259" name="Google Shape;259;p11"/>
          <p:cNvPicPr preferRelativeResize="0"/>
          <p:nvPr/>
        </p:nvPicPr>
        <p:blipFill rotWithShape="1">
          <a:blip r:embed="rId2">
            <a:alphaModFix/>
          </a:blip>
          <a:srcRect b="7467" l="0" r="17932" t="6703"/>
          <a:stretch/>
        </p:blipFill>
        <p:spPr>
          <a:xfrm>
            <a:off x="5425450" y="0"/>
            <a:ext cx="3718549" cy="4097924"/>
          </a:xfrm>
          <a:prstGeom prst="rect">
            <a:avLst/>
          </a:prstGeom>
          <a:noFill/>
          <a:ln>
            <a:noFill/>
          </a:ln>
        </p:spPr>
      </p:pic>
      <p:sp>
        <p:nvSpPr>
          <p:cNvPr id="260" name="Google Shape;260;p11"/>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61" name="Google Shape;261;p11"/>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62" name="Google Shape;262;p11"/>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3" name="Google Shape;263;p11"/>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64" name="Google Shape;264;p11"/>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5" name="Google Shape;265;p11"/>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66" name="Google Shape;266;p11"/>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67" name="Google Shape;267;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268" name="Shape 268"/>
        <p:cNvGrpSpPr/>
        <p:nvPr/>
      </p:nvGrpSpPr>
      <p:grpSpPr>
        <a:xfrm>
          <a:off x="0" y="0"/>
          <a:ext cx="0" cy="0"/>
          <a:chOff x="0" y="0"/>
          <a:chExt cx="0" cy="0"/>
        </a:xfrm>
      </p:grpSpPr>
      <p:pic>
        <p:nvPicPr>
          <p:cNvPr id="269" name="Google Shape;269;p12"/>
          <p:cNvPicPr preferRelativeResize="0"/>
          <p:nvPr/>
        </p:nvPicPr>
        <p:blipFill rotWithShape="1">
          <a:blip r:embed="rId2">
            <a:alphaModFix/>
          </a:blip>
          <a:srcRect b="15068" l="14900" r="18071" t="15236"/>
          <a:stretch/>
        </p:blipFill>
        <p:spPr>
          <a:xfrm>
            <a:off x="2750850" y="1538351"/>
            <a:ext cx="1791900" cy="2175997"/>
          </a:xfrm>
          <a:prstGeom prst="rect">
            <a:avLst/>
          </a:prstGeom>
          <a:noFill/>
          <a:ln>
            <a:noFill/>
          </a:ln>
        </p:spPr>
      </p:pic>
      <p:sp>
        <p:nvSpPr>
          <p:cNvPr id="270" name="Google Shape;270;p12"/>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271" name="Google Shape;271;p12"/>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2" name="Google Shape;272;p12"/>
          <p:cNvSpPr/>
          <p:nvPr>
            <p:ph idx="2" type="pic"/>
          </p:nvPr>
        </p:nvSpPr>
        <p:spPr>
          <a:xfrm>
            <a:off x="228425" y="2450950"/>
            <a:ext cx="1791900" cy="1917600"/>
          </a:xfrm>
          <a:prstGeom prst="rect">
            <a:avLst/>
          </a:prstGeom>
          <a:noFill/>
          <a:ln>
            <a:noFill/>
          </a:ln>
        </p:spPr>
      </p:sp>
      <p:sp>
        <p:nvSpPr>
          <p:cNvPr id="273" name="Google Shape;273;p12"/>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74" name="Google Shape;274;p12"/>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75" name="Google Shape;275;p12"/>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6" name="Google Shape;276;p12"/>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77" name="Google Shape;277;p12"/>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8" name="Google Shape;278;p12"/>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79" name="Google Shape;279;p12"/>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0" name="Google Shape;280;p12"/>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1" name="Google Shape;281;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282" name="Shape 282"/>
        <p:cNvGrpSpPr/>
        <p:nvPr/>
      </p:nvGrpSpPr>
      <p:grpSpPr>
        <a:xfrm>
          <a:off x="0" y="0"/>
          <a:ext cx="0" cy="0"/>
          <a:chOff x="0" y="0"/>
          <a:chExt cx="0" cy="0"/>
        </a:xfrm>
      </p:grpSpPr>
      <p:sp>
        <p:nvSpPr>
          <p:cNvPr id="283" name="Google Shape;283;p13"/>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13"/>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5" name="Google Shape;285;p13"/>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86" name="Google Shape;286;p13"/>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7" name="Google Shape;287;p13"/>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88" name="Google Shape;288;p13"/>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89" name="Google Shape;289;p13"/>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90" name="Google Shape;290;p13"/>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91" name="Google Shape;291;p13"/>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92" name="Google Shape;292;p13"/>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93" name="Google Shape;293;p13"/>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94" name="Google Shape;294;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295" name="Shape 295"/>
        <p:cNvGrpSpPr/>
        <p:nvPr/>
      </p:nvGrpSpPr>
      <p:grpSpPr>
        <a:xfrm>
          <a:off x="0" y="0"/>
          <a:ext cx="0" cy="0"/>
          <a:chOff x="0" y="0"/>
          <a:chExt cx="0" cy="0"/>
        </a:xfrm>
      </p:grpSpPr>
      <p:sp>
        <p:nvSpPr>
          <p:cNvPr id="296" name="Google Shape;296;p14"/>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7" name="Google Shape;297;p14"/>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98" name="Google Shape;298;p14"/>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99" name="Google Shape;299;p14"/>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300" name="Google Shape;300;p14"/>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301" name="Google Shape;301;p14"/>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02" name="Google Shape;302;p14"/>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03" name="Google Shape;303;p14"/>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304" name="Google Shape;304;p14"/>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305" name="Google Shape;305;p14"/>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06" name="Google Shape;306;p14"/>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07" name="Google Shape;307;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308" name="Shape 308"/>
        <p:cNvGrpSpPr/>
        <p:nvPr/>
      </p:nvGrpSpPr>
      <p:grpSpPr>
        <a:xfrm>
          <a:off x="0" y="0"/>
          <a:ext cx="0" cy="0"/>
          <a:chOff x="0" y="0"/>
          <a:chExt cx="0" cy="0"/>
        </a:xfrm>
      </p:grpSpPr>
      <p:sp>
        <p:nvSpPr>
          <p:cNvPr id="309" name="Google Shape;309;p15"/>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10" name="Google Shape;310;p15"/>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11" name="Google Shape;311;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12" name="Google Shape;312;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313" name="Google Shape;313;p15"/>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15"/>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5" name="Google Shape;315;p15"/>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16" name="Google Shape;316;p15"/>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17" name="Google Shape;317;p15"/>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18" name="Google Shape;318;p15"/>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19" name="Google Shape;319;p15"/>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20" name="Google Shape;320;p15"/>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21" name="Google Shape;321;p15"/>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2" name="Google Shape;322;p15"/>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3" name="Google Shape;323;p15"/>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4" name="Google Shape;324;p15"/>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5" name="Google Shape;325;p15"/>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6" name="Google Shape;326;p15"/>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7" name="Google Shape;327;p15"/>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8" name="Google Shape;328;p15"/>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9" name="Google Shape;329;p15"/>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30" name="Google Shape;330;p15"/>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31" name="Google Shape;331;p15"/>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32" name="Google Shape;332;p15"/>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33" name="Google Shape;333;p15"/>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34" name="Google Shape;334;p15"/>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35" name="Google Shape;335;p15"/>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36" name="Google Shape;336;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37" name="Shape 337"/>
        <p:cNvGrpSpPr/>
        <p:nvPr/>
      </p:nvGrpSpPr>
      <p:grpSpPr>
        <a:xfrm>
          <a:off x="0" y="0"/>
          <a:ext cx="0" cy="0"/>
          <a:chOff x="0" y="0"/>
          <a:chExt cx="0" cy="0"/>
        </a:xfrm>
      </p:grpSpPr>
      <p:sp>
        <p:nvSpPr>
          <p:cNvPr id="338" name="Google Shape;338;p1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39" name="Google Shape;339;p16"/>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40" name="Google Shape;340;p1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1" name="Google Shape;341;p16"/>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2" name="Google Shape;342;p16"/>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3" name="Google Shape;343;p16"/>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4" name="Google Shape;344;p16"/>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5" name="Google Shape;345;p16"/>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6" name="Google Shape;346;p16"/>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47" name="Google Shape;347;p16"/>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48" name="Google Shape;348;p16"/>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49" name="Google Shape;349;p16"/>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50" name="Google Shape;350;p16"/>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51" name="Google Shape;351;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52" name="Shape 352"/>
        <p:cNvGrpSpPr/>
        <p:nvPr/>
      </p:nvGrpSpPr>
      <p:grpSpPr>
        <a:xfrm>
          <a:off x="0" y="0"/>
          <a:ext cx="0" cy="0"/>
          <a:chOff x="0" y="0"/>
          <a:chExt cx="0" cy="0"/>
        </a:xfrm>
      </p:grpSpPr>
      <p:sp>
        <p:nvSpPr>
          <p:cNvPr id="353" name="Google Shape;353;p1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54" name="Google Shape;354;p1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55" name="Google Shape;355;p1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6" name="Google Shape;356;p17"/>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57" name="Google Shape;357;p17"/>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58" name="Google Shape;358;p17"/>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59" name="Google Shape;359;p17"/>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60" name="Google Shape;360;p17"/>
          <p:cNvGrpSpPr/>
          <p:nvPr/>
        </p:nvGrpSpPr>
        <p:grpSpPr>
          <a:xfrm flipH="1">
            <a:off x="6903656" y="79823"/>
            <a:ext cx="2140834" cy="1767927"/>
            <a:chOff x="142083" y="79814"/>
            <a:chExt cx="1831025" cy="1512212"/>
          </a:xfrm>
        </p:grpSpPr>
        <p:sp>
          <p:nvSpPr>
            <p:cNvPr id="361" name="Google Shape;361;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2" name="Google Shape;362;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3" name="Google Shape;363;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4" name="Google Shape;364;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5" name="Google Shape;365;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6" name="Google Shape;366;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7" name="Google Shape;367;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8" name="Google Shape;368;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9" name="Google Shape;369;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0" name="Google Shape;370;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1" name="Google Shape;371;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2" name="Google Shape;372;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3" name="Google Shape;373;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4" name="Google Shape;374;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5" name="Google Shape;375;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6" name="Google Shape;376;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7" name="Google Shape;377;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8" name="Google Shape;378;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9" name="Google Shape;379;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0" name="Google Shape;380;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1" name="Google Shape;381;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2" name="Google Shape;382;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3" name="Google Shape;383;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4" name="Google Shape;384;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385" name="Google Shape;385;p17"/>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86" name="Google Shape;386;p17"/>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87" name="Google Shape;387;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388" name="Shape 388"/>
        <p:cNvGrpSpPr/>
        <p:nvPr/>
      </p:nvGrpSpPr>
      <p:grpSpPr>
        <a:xfrm>
          <a:off x="0" y="0"/>
          <a:ext cx="0" cy="0"/>
          <a:chOff x="0" y="0"/>
          <a:chExt cx="0" cy="0"/>
        </a:xfrm>
      </p:grpSpPr>
      <p:sp>
        <p:nvSpPr>
          <p:cNvPr id="389" name="Google Shape;389;p1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90" name="Google Shape;390;p1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91" name="Google Shape;391;p1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92" name="Google Shape;392;p18"/>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93" name="Google Shape;393;p18"/>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94" name="Google Shape;394;p18"/>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95" name="Google Shape;395;p18"/>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396" name="Google Shape;396;p18"/>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97" name="Google Shape;397;p18"/>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98" name="Google Shape;398;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399" name="Shape 399"/>
        <p:cNvGrpSpPr/>
        <p:nvPr/>
      </p:nvGrpSpPr>
      <p:grpSpPr>
        <a:xfrm>
          <a:off x="0" y="0"/>
          <a:ext cx="0" cy="0"/>
          <a:chOff x="0" y="0"/>
          <a:chExt cx="0" cy="0"/>
        </a:xfrm>
      </p:grpSpPr>
      <p:sp>
        <p:nvSpPr>
          <p:cNvPr id="400" name="Google Shape;400;p1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401" name="Google Shape;401;p1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402" name="Google Shape;402;p1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403" name="Google Shape;403;p19"/>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04" name="Google Shape;404;p19"/>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05" name="Google Shape;405;p19"/>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6" name="Google Shape;406;p19"/>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407" name="Google Shape;407;p19"/>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08" name="Google Shape;408;p19"/>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09" name="Google Shape;409;p19"/>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10" name="Google Shape;410;p19"/>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411" name="Google Shape;411;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412" name="Shape 412"/>
        <p:cNvGrpSpPr/>
        <p:nvPr/>
      </p:nvGrpSpPr>
      <p:grpSpPr>
        <a:xfrm>
          <a:off x="0" y="0"/>
          <a:ext cx="0" cy="0"/>
          <a:chOff x="0" y="0"/>
          <a:chExt cx="0" cy="0"/>
        </a:xfrm>
      </p:grpSpPr>
      <p:cxnSp>
        <p:nvCxnSpPr>
          <p:cNvPr id="413" name="Google Shape;413;p20"/>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414" name="Google Shape;414;p20"/>
          <p:cNvCxnSpPr>
            <a:stCxn id="415" idx="1"/>
            <a:endCxn id="416"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417" name="Google Shape;417;p20"/>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418" name="Google Shape;418;p20"/>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415" name="Google Shape;415;p20"/>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9" name="Google Shape;419;p20"/>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416" name="Google Shape;416;p20"/>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20" name="Google Shape;420;p20"/>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21" name="Google Shape;421;p20"/>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2" name="Google Shape;422;p20"/>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3" name="Google Shape;423;p20"/>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
        <p:nvSpPr>
          <p:cNvPr id="424" name="Google Shape;424;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25" name="Shape 425"/>
        <p:cNvGrpSpPr/>
        <p:nvPr/>
      </p:nvGrpSpPr>
      <p:grpSpPr>
        <a:xfrm>
          <a:off x="0" y="0"/>
          <a:ext cx="0" cy="0"/>
          <a:chOff x="0" y="0"/>
          <a:chExt cx="0" cy="0"/>
        </a:xfrm>
      </p:grpSpPr>
      <p:cxnSp>
        <p:nvCxnSpPr>
          <p:cNvPr id="426" name="Google Shape;426;p21"/>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27" name="Google Shape;427;p21"/>
          <p:cNvCxnSpPr>
            <a:stCxn id="428" idx="1"/>
            <a:endCxn id="429"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30" name="Google Shape;430;p21"/>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31" name="Google Shape;431;p21"/>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28" name="Google Shape;428;p21"/>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32" name="Google Shape;432;p21"/>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29" name="Google Shape;429;p21"/>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33" name="Google Shape;433;p21"/>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34" name="Google Shape;434;p21"/>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5" name="Google Shape;435;p21"/>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6" name="Google Shape;436;p21"/>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
        <p:nvSpPr>
          <p:cNvPr id="437" name="Google Shape;437;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38" name="Shape 438"/>
        <p:cNvGrpSpPr/>
        <p:nvPr/>
      </p:nvGrpSpPr>
      <p:grpSpPr>
        <a:xfrm>
          <a:off x="0" y="0"/>
          <a:ext cx="0" cy="0"/>
          <a:chOff x="0" y="0"/>
          <a:chExt cx="0" cy="0"/>
        </a:xfrm>
      </p:grpSpPr>
      <p:sp>
        <p:nvSpPr>
          <p:cNvPr id="439" name="Google Shape;439;p22"/>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0" name="Google Shape;440;p22"/>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41" name="Google Shape;441;p22"/>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2" name="Google Shape;442;p22"/>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3" name="Google Shape;443;p22"/>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4" name="Google Shape;444;p22"/>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5" name="Google Shape;445;p22"/>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46" name="Google Shape;446;p22"/>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7" name="Google Shape;447;p22"/>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48" name="Google Shape;448;p22"/>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9" name="Google Shape;449;p22"/>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50" name="Google Shape;450;p22"/>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1" name="Google Shape;451;p22"/>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52" name="Google Shape;452;p22"/>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3" name="Google Shape;453;p22"/>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54" name="Google Shape;454;p22"/>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5" name="Google Shape;455;p22"/>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56" name="Google Shape;456;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57" name="Shape 457"/>
        <p:cNvGrpSpPr/>
        <p:nvPr/>
      </p:nvGrpSpPr>
      <p:grpSpPr>
        <a:xfrm>
          <a:off x="0" y="0"/>
          <a:ext cx="0" cy="0"/>
          <a:chOff x="0" y="0"/>
          <a:chExt cx="0" cy="0"/>
        </a:xfrm>
      </p:grpSpPr>
      <p:sp>
        <p:nvSpPr>
          <p:cNvPr id="458" name="Google Shape;458;p23"/>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9" name="Google Shape;459;p23"/>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60" name="Google Shape;460;p23"/>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1" name="Google Shape;461;p23"/>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2" name="Google Shape;462;p23"/>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3" name="Google Shape;463;p23"/>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64" name="Google Shape;464;p23"/>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5" name="Google Shape;465;p23"/>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66" name="Google Shape;466;p23"/>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7" name="Google Shape;467;p23"/>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8" name="Google Shape;468;p23"/>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69" name="Google Shape;469;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70" name="Shape 470"/>
        <p:cNvGrpSpPr/>
        <p:nvPr/>
      </p:nvGrpSpPr>
      <p:grpSpPr>
        <a:xfrm>
          <a:off x="0" y="0"/>
          <a:ext cx="0" cy="0"/>
          <a:chOff x="0" y="0"/>
          <a:chExt cx="0" cy="0"/>
        </a:xfrm>
      </p:grpSpPr>
      <p:sp>
        <p:nvSpPr>
          <p:cNvPr id="471" name="Google Shape;471;p24"/>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72" name="Google Shape;472;p24"/>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73" name="Google Shape;473;p24"/>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74" name="Google Shape;474;p24"/>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75" name="Google Shape;475;p24"/>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76" name="Google Shape;476;p24"/>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77" name="Google Shape;477;p24"/>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78" name="Google Shape;478;p24"/>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79" name="Google Shape;479;p24"/>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80" name="Google Shape;480;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81" name="Shape 481"/>
        <p:cNvGrpSpPr/>
        <p:nvPr/>
      </p:nvGrpSpPr>
      <p:grpSpPr>
        <a:xfrm>
          <a:off x="0" y="0"/>
          <a:ext cx="0" cy="0"/>
          <a:chOff x="0" y="0"/>
          <a:chExt cx="0" cy="0"/>
        </a:xfrm>
      </p:grpSpPr>
      <p:sp>
        <p:nvSpPr>
          <p:cNvPr id="482" name="Google Shape;482;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83" name="Google Shape;483;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84" name="Shape 484"/>
        <p:cNvGrpSpPr/>
        <p:nvPr/>
      </p:nvGrpSpPr>
      <p:grpSpPr>
        <a:xfrm>
          <a:off x="0" y="0"/>
          <a:ext cx="0" cy="0"/>
          <a:chOff x="0" y="0"/>
          <a:chExt cx="0" cy="0"/>
        </a:xfrm>
      </p:grpSpPr>
      <p:sp>
        <p:nvSpPr>
          <p:cNvPr id="485" name="Google Shape;48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86" name="Google Shape;486;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87" name="Google Shape;487;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88" name="Shape 488"/>
        <p:cNvGrpSpPr/>
        <p:nvPr/>
      </p:nvGrpSpPr>
      <p:grpSpPr>
        <a:xfrm>
          <a:off x="0" y="0"/>
          <a:ext cx="0" cy="0"/>
          <a:chOff x="0" y="0"/>
          <a:chExt cx="0" cy="0"/>
        </a:xfrm>
      </p:grpSpPr>
      <p:sp>
        <p:nvSpPr>
          <p:cNvPr id="489" name="Google Shape;489;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90" name="Google Shape;490;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1" name="Google Shape;491;p27"/>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92" name="Google Shape;492;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93" name="Shape 493"/>
        <p:cNvGrpSpPr/>
        <p:nvPr/>
      </p:nvGrpSpPr>
      <p:grpSpPr>
        <a:xfrm>
          <a:off x="0" y="0"/>
          <a:ext cx="0" cy="0"/>
          <a:chOff x="0" y="0"/>
          <a:chExt cx="0" cy="0"/>
        </a:xfrm>
      </p:grpSpPr>
      <p:sp>
        <p:nvSpPr>
          <p:cNvPr id="494" name="Google Shape;494;p2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95" name="Google Shape;495;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6" name="Google Shape;496;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97" name="Shape 497"/>
        <p:cNvGrpSpPr/>
        <p:nvPr/>
      </p:nvGrpSpPr>
      <p:grpSpPr>
        <a:xfrm>
          <a:off x="0" y="0"/>
          <a:ext cx="0" cy="0"/>
          <a:chOff x="0" y="0"/>
          <a:chExt cx="0" cy="0"/>
        </a:xfrm>
      </p:grpSpPr>
      <p:sp>
        <p:nvSpPr>
          <p:cNvPr id="498" name="Google Shape;498;p2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99" name="Google Shape;499;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00" name="Shape 500"/>
        <p:cNvGrpSpPr/>
        <p:nvPr/>
      </p:nvGrpSpPr>
      <p:grpSpPr>
        <a:xfrm>
          <a:off x="0" y="0"/>
          <a:ext cx="0" cy="0"/>
          <a:chOff x="0" y="0"/>
          <a:chExt cx="0" cy="0"/>
        </a:xfrm>
      </p:grpSpPr>
      <p:sp>
        <p:nvSpPr>
          <p:cNvPr id="501" name="Google Shape;501;p3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2" name="Google Shape;502;p3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03" name="Google Shape;503;p3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4" name="Google Shape;504;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05" name="Shape 505"/>
        <p:cNvGrpSpPr/>
        <p:nvPr/>
      </p:nvGrpSpPr>
      <p:grpSpPr>
        <a:xfrm>
          <a:off x="0" y="0"/>
          <a:ext cx="0" cy="0"/>
          <a:chOff x="0" y="0"/>
          <a:chExt cx="0" cy="0"/>
        </a:xfrm>
      </p:grpSpPr>
      <p:sp>
        <p:nvSpPr>
          <p:cNvPr id="506" name="Google Shape;506;p3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
        <p:nvSpPr>
          <p:cNvPr id="507" name="Google Shape;507;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08" name="Shape 508"/>
        <p:cNvGrpSpPr/>
        <p:nvPr/>
      </p:nvGrpSpPr>
      <p:grpSpPr>
        <a:xfrm>
          <a:off x="0" y="0"/>
          <a:ext cx="0" cy="0"/>
          <a:chOff x="0" y="0"/>
          <a:chExt cx="0" cy="0"/>
        </a:xfrm>
      </p:grpSpPr>
      <p:sp>
        <p:nvSpPr>
          <p:cNvPr id="509" name="Google Shape;509;p3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0" name="Google Shape;510;p3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
        <p:nvSpPr>
          <p:cNvPr id="511" name="Google Shape;511;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12" name="Shape 512"/>
        <p:cNvGrpSpPr/>
        <p:nvPr/>
      </p:nvGrpSpPr>
      <p:grpSpPr>
        <a:xfrm>
          <a:off x="0" y="0"/>
          <a:ext cx="0" cy="0"/>
          <a:chOff x="0" y="0"/>
          <a:chExt cx="0" cy="0"/>
        </a:xfrm>
      </p:grpSpPr>
      <p:sp>
        <p:nvSpPr>
          <p:cNvPr id="513" name="Google Shape;513;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14" name="Shape 514"/>
        <p:cNvGrpSpPr/>
        <p:nvPr/>
      </p:nvGrpSpPr>
      <p:grpSpPr>
        <a:xfrm>
          <a:off x="0" y="0"/>
          <a:ext cx="0" cy="0"/>
          <a:chOff x="0" y="0"/>
          <a:chExt cx="0" cy="0"/>
        </a:xfrm>
      </p:grpSpPr>
      <p:sp>
        <p:nvSpPr>
          <p:cNvPr id="515" name="Google Shape;515;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6" name="Google Shape;516;p34"/>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17" name="Google Shape;517;p34"/>
          <p:cNvSpPr/>
          <p:nvPr>
            <p:ph idx="2" type="pic"/>
          </p:nvPr>
        </p:nvSpPr>
        <p:spPr>
          <a:xfrm>
            <a:off x="4992024" y="1152775"/>
            <a:ext cx="3840300" cy="3416400"/>
          </a:xfrm>
          <a:prstGeom prst="rect">
            <a:avLst/>
          </a:prstGeom>
          <a:noFill/>
          <a:ln>
            <a:noFill/>
          </a:ln>
        </p:spPr>
      </p:sp>
      <p:sp>
        <p:nvSpPr>
          <p:cNvPr id="518" name="Google Shape;518;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19" name="Shape 519"/>
        <p:cNvGrpSpPr/>
        <p:nvPr/>
      </p:nvGrpSpPr>
      <p:grpSpPr>
        <a:xfrm>
          <a:off x="0" y="0"/>
          <a:ext cx="0" cy="0"/>
          <a:chOff x="0" y="0"/>
          <a:chExt cx="0" cy="0"/>
        </a:xfrm>
      </p:grpSpPr>
      <p:sp>
        <p:nvSpPr>
          <p:cNvPr id="520" name="Google Shape;520;p3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1" name="Google Shape;521;p35"/>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22" name="Google Shape;522;p3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23" name="Google Shape;523;p3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4" name="Google Shape;524;p3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5" name="Google Shape;525;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26" name="Shape 526"/>
        <p:cNvGrpSpPr/>
        <p:nvPr/>
      </p:nvGrpSpPr>
      <p:grpSpPr>
        <a:xfrm>
          <a:off x="0" y="0"/>
          <a:ext cx="0" cy="0"/>
          <a:chOff x="0" y="0"/>
          <a:chExt cx="0" cy="0"/>
        </a:xfrm>
      </p:grpSpPr>
      <p:sp>
        <p:nvSpPr>
          <p:cNvPr id="527" name="Google Shape;527;p36"/>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28" name="Google Shape;528;p3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29" name="Google Shape;529;p3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0" name="Google Shape;530;p3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1" name="Google Shape;531;p3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2" name="Google Shape;532;p3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3" name="Google Shape;533;p3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4" name="Google Shape;534;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35" name="Shape 535"/>
        <p:cNvGrpSpPr/>
        <p:nvPr/>
      </p:nvGrpSpPr>
      <p:grpSpPr>
        <a:xfrm>
          <a:off x="0" y="0"/>
          <a:ext cx="0" cy="0"/>
          <a:chOff x="0" y="0"/>
          <a:chExt cx="0" cy="0"/>
        </a:xfrm>
      </p:grpSpPr>
      <p:sp>
        <p:nvSpPr>
          <p:cNvPr id="536" name="Google Shape;536;p37"/>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37" name="Google Shape;537;p3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8" name="Google Shape;538;p3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39" name="Google Shape;539;p3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40" name="Google Shape;540;p3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1" name="Google Shape;541;p3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2" name="Google Shape;542;p3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3" name="Google Shape;543;p3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4" name="Google Shape;544;p3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5" name="Google Shape;545;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46" name="Shape 546"/>
        <p:cNvGrpSpPr/>
        <p:nvPr/>
      </p:nvGrpSpPr>
      <p:grpSpPr>
        <a:xfrm>
          <a:off x="0" y="0"/>
          <a:ext cx="0" cy="0"/>
          <a:chOff x="0" y="0"/>
          <a:chExt cx="0" cy="0"/>
        </a:xfrm>
      </p:grpSpPr>
      <p:sp>
        <p:nvSpPr>
          <p:cNvPr id="547" name="Google Shape;54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8" name="Google Shape;548;p38"/>
          <p:cNvSpPr/>
          <p:nvPr>
            <p:ph idx="2" type="pic"/>
          </p:nvPr>
        </p:nvSpPr>
        <p:spPr>
          <a:xfrm>
            <a:off x="311700" y="1170425"/>
            <a:ext cx="8520600" cy="3492900"/>
          </a:xfrm>
          <a:prstGeom prst="rect">
            <a:avLst/>
          </a:prstGeom>
          <a:noFill/>
          <a:ln>
            <a:noFill/>
          </a:ln>
        </p:spPr>
      </p:sp>
      <p:sp>
        <p:nvSpPr>
          <p:cNvPr id="549" name="Google Shape;549;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50" name="Shape 550"/>
        <p:cNvGrpSpPr/>
        <p:nvPr/>
      </p:nvGrpSpPr>
      <p:grpSpPr>
        <a:xfrm>
          <a:off x="0" y="0"/>
          <a:ext cx="0" cy="0"/>
          <a:chOff x="0" y="0"/>
          <a:chExt cx="0" cy="0"/>
        </a:xfrm>
      </p:grpSpPr>
      <p:sp>
        <p:nvSpPr>
          <p:cNvPr id="551" name="Google Shape;551;p39"/>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52" name="Google Shape;552;p39"/>
          <p:cNvSpPr/>
          <p:nvPr>
            <p:ph idx="2" type="pic"/>
          </p:nvPr>
        </p:nvSpPr>
        <p:spPr>
          <a:xfrm>
            <a:off x="4804825" y="1133300"/>
            <a:ext cx="4027500" cy="2392800"/>
          </a:xfrm>
          <a:prstGeom prst="rect">
            <a:avLst/>
          </a:prstGeom>
          <a:noFill/>
          <a:ln>
            <a:noFill/>
          </a:ln>
        </p:spPr>
      </p:sp>
      <p:sp>
        <p:nvSpPr>
          <p:cNvPr id="553" name="Google Shape;553;p39"/>
          <p:cNvSpPr/>
          <p:nvPr>
            <p:ph idx="3" type="pic"/>
          </p:nvPr>
        </p:nvSpPr>
        <p:spPr>
          <a:xfrm>
            <a:off x="311725" y="1133300"/>
            <a:ext cx="4027500" cy="2392800"/>
          </a:xfrm>
          <a:prstGeom prst="rect">
            <a:avLst/>
          </a:prstGeom>
          <a:noFill/>
          <a:ln>
            <a:noFill/>
          </a:ln>
        </p:spPr>
      </p:sp>
      <p:sp>
        <p:nvSpPr>
          <p:cNvPr id="554" name="Google Shape;554;p3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55" name="Google Shape;555;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56" name="Google Shape;556;p3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7" name="Google Shape;557;p3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8" name="Google Shape;558;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59" name="Shape 559"/>
        <p:cNvGrpSpPr/>
        <p:nvPr/>
      </p:nvGrpSpPr>
      <p:grpSpPr>
        <a:xfrm>
          <a:off x="0" y="0"/>
          <a:ext cx="0" cy="0"/>
          <a:chOff x="0" y="0"/>
          <a:chExt cx="0" cy="0"/>
        </a:xfrm>
      </p:grpSpPr>
      <p:sp>
        <p:nvSpPr>
          <p:cNvPr id="560" name="Google Shape;560;p40"/>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61" name="Google Shape;561;p40"/>
          <p:cNvSpPr/>
          <p:nvPr>
            <p:ph idx="2" type="pic"/>
          </p:nvPr>
        </p:nvSpPr>
        <p:spPr>
          <a:xfrm>
            <a:off x="6205225" y="1128325"/>
            <a:ext cx="2627100" cy="2273100"/>
          </a:xfrm>
          <a:prstGeom prst="rect">
            <a:avLst/>
          </a:prstGeom>
          <a:noFill/>
          <a:ln>
            <a:noFill/>
          </a:ln>
        </p:spPr>
      </p:sp>
      <p:sp>
        <p:nvSpPr>
          <p:cNvPr id="562" name="Google Shape;562;p40"/>
          <p:cNvSpPr/>
          <p:nvPr>
            <p:ph idx="3" type="pic"/>
          </p:nvPr>
        </p:nvSpPr>
        <p:spPr>
          <a:xfrm>
            <a:off x="311725" y="1128325"/>
            <a:ext cx="2627100" cy="2273100"/>
          </a:xfrm>
          <a:prstGeom prst="rect">
            <a:avLst/>
          </a:prstGeom>
          <a:noFill/>
          <a:ln>
            <a:noFill/>
          </a:ln>
        </p:spPr>
      </p:sp>
      <p:sp>
        <p:nvSpPr>
          <p:cNvPr id="563" name="Google Shape;563;p4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4" name="Google Shape;564;p40"/>
          <p:cNvSpPr/>
          <p:nvPr>
            <p:ph idx="5" type="pic"/>
          </p:nvPr>
        </p:nvSpPr>
        <p:spPr>
          <a:xfrm>
            <a:off x="3255250" y="1128325"/>
            <a:ext cx="2627100" cy="2273100"/>
          </a:xfrm>
          <a:prstGeom prst="rect">
            <a:avLst/>
          </a:prstGeom>
          <a:noFill/>
          <a:ln>
            <a:noFill/>
          </a:ln>
        </p:spPr>
      </p:sp>
      <p:sp>
        <p:nvSpPr>
          <p:cNvPr id="565" name="Google Shape;565;p4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6" name="Google Shape;566;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67" name="Google Shape;567;p4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8" name="Google Shape;568;p4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69" name="Google Shape;569;p4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70" name="Google Shape;570;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71" name="Shape 571"/>
        <p:cNvGrpSpPr/>
        <p:nvPr/>
      </p:nvGrpSpPr>
      <p:grpSpPr>
        <a:xfrm>
          <a:off x="0" y="0"/>
          <a:ext cx="0" cy="0"/>
          <a:chOff x="0" y="0"/>
          <a:chExt cx="0" cy="0"/>
        </a:xfrm>
      </p:grpSpPr>
      <p:sp>
        <p:nvSpPr>
          <p:cNvPr id="572" name="Google Shape;572;p41"/>
          <p:cNvSpPr/>
          <p:nvPr>
            <p:ph idx="2" type="pic"/>
          </p:nvPr>
        </p:nvSpPr>
        <p:spPr>
          <a:xfrm>
            <a:off x="311700" y="445025"/>
            <a:ext cx="8520600" cy="4218300"/>
          </a:xfrm>
          <a:prstGeom prst="rect">
            <a:avLst/>
          </a:prstGeom>
          <a:noFill/>
          <a:ln>
            <a:noFill/>
          </a:ln>
        </p:spPr>
      </p:sp>
      <p:sp>
        <p:nvSpPr>
          <p:cNvPr id="573" name="Google Shape;573;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74" name="Shape 574"/>
        <p:cNvGrpSpPr/>
        <p:nvPr/>
      </p:nvGrpSpPr>
      <p:grpSpPr>
        <a:xfrm>
          <a:off x="0" y="0"/>
          <a:ext cx="0" cy="0"/>
          <a:chOff x="0" y="0"/>
          <a:chExt cx="0" cy="0"/>
        </a:xfrm>
      </p:grpSpPr>
      <p:sp>
        <p:nvSpPr>
          <p:cNvPr id="575" name="Google Shape;575;p42"/>
          <p:cNvSpPr/>
          <p:nvPr>
            <p:ph idx="2" type="pic"/>
          </p:nvPr>
        </p:nvSpPr>
        <p:spPr>
          <a:xfrm>
            <a:off x="3389600" y="118913"/>
            <a:ext cx="1643700" cy="1535100"/>
          </a:xfrm>
          <a:prstGeom prst="rect">
            <a:avLst/>
          </a:prstGeom>
          <a:noFill/>
          <a:ln>
            <a:noFill/>
          </a:ln>
        </p:spPr>
      </p:sp>
      <p:sp>
        <p:nvSpPr>
          <p:cNvPr id="576" name="Google Shape;576;p42"/>
          <p:cNvSpPr/>
          <p:nvPr>
            <p:ph idx="3" type="pic"/>
          </p:nvPr>
        </p:nvSpPr>
        <p:spPr>
          <a:xfrm>
            <a:off x="5195935" y="118913"/>
            <a:ext cx="1643700" cy="1535100"/>
          </a:xfrm>
          <a:prstGeom prst="rect">
            <a:avLst/>
          </a:prstGeom>
          <a:noFill/>
          <a:ln>
            <a:noFill/>
          </a:ln>
        </p:spPr>
      </p:sp>
      <p:sp>
        <p:nvSpPr>
          <p:cNvPr id="577" name="Google Shape;577;p42"/>
          <p:cNvSpPr/>
          <p:nvPr>
            <p:ph idx="4" type="pic"/>
          </p:nvPr>
        </p:nvSpPr>
        <p:spPr>
          <a:xfrm>
            <a:off x="7002270" y="118913"/>
            <a:ext cx="1643700" cy="1535100"/>
          </a:xfrm>
          <a:prstGeom prst="rect">
            <a:avLst/>
          </a:prstGeom>
          <a:noFill/>
          <a:ln>
            <a:noFill/>
          </a:ln>
        </p:spPr>
      </p:sp>
      <p:sp>
        <p:nvSpPr>
          <p:cNvPr id="578" name="Google Shape;578;p42"/>
          <p:cNvSpPr/>
          <p:nvPr>
            <p:ph idx="5" type="pic"/>
          </p:nvPr>
        </p:nvSpPr>
        <p:spPr>
          <a:xfrm>
            <a:off x="3389588" y="1804212"/>
            <a:ext cx="1643700" cy="1535100"/>
          </a:xfrm>
          <a:prstGeom prst="rect">
            <a:avLst/>
          </a:prstGeom>
          <a:noFill/>
          <a:ln>
            <a:noFill/>
          </a:ln>
        </p:spPr>
      </p:sp>
      <p:sp>
        <p:nvSpPr>
          <p:cNvPr id="579" name="Google Shape;579;p42"/>
          <p:cNvSpPr/>
          <p:nvPr>
            <p:ph idx="6" type="pic"/>
          </p:nvPr>
        </p:nvSpPr>
        <p:spPr>
          <a:xfrm>
            <a:off x="5195922" y="1804212"/>
            <a:ext cx="1643700" cy="1535100"/>
          </a:xfrm>
          <a:prstGeom prst="rect">
            <a:avLst/>
          </a:prstGeom>
          <a:noFill/>
          <a:ln>
            <a:noFill/>
          </a:ln>
        </p:spPr>
      </p:sp>
      <p:sp>
        <p:nvSpPr>
          <p:cNvPr id="580" name="Google Shape;580;p42"/>
          <p:cNvSpPr/>
          <p:nvPr>
            <p:ph idx="7" type="pic"/>
          </p:nvPr>
        </p:nvSpPr>
        <p:spPr>
          <a:xfrm>
            <a:off x="7002257" y="1804212"/>
            <a:ext cx="1643700" cy="1535100"/>
          </a:xfrm>
          <a:prstGeom prst="rect">
            <a:avLst/>
          </a:prstGeom>
          <a:noFill/>
          <a:ln>
            <a:noFill/>
          </a:ln>
        </p:spPr>
      </p:sp>
      <p:sp>
        <p:nvSpPr>
          <p:cNvPr id="581" name="Google Shape;581;p4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82" name="Google Shape;582;p42"/>
          <p:cNvSpPr/>
          <p:nvPr>
            <p:ph idx="8" type="pic"/>
          </p:nvPr>
        </p:nvSpPr>
        <p:spPr>
          <a:xfrm>
            <a:off x="3389588" y="3489487"/>
            <a:ext cx="1643700" cy="1535100"/>
          </a:xfrm>
          <a:prstGeom prst="rect">
            <a:avLst/>
          </a:prstGeom>
          <a:noFill/>
          <a:ln>
            <a:noFill/>
          </a:ln>
        </p:spPr>
      </p:sp>
      <p:sp>
        <p:nvSpPr>
          <p:cNvPr id="583" name="Google Shape;583;p42"/>
          <p:cNvSpPr/>
          <p:nvPr>
            <p:ph idx="9" type="pic"/>
          </p:nvPr>
        </p:nvSpPr>
        <p:spPr>
          <a:xfrm>
            <a:off x="5195922" y="3489487"/>
            <a:ext cx="1643700" cy="1535100"/>
          </a:xfrm>
          <a:prstGeom prst="rect">
            <a:avLst/>
          </a:prstGeom>
          <a:noFill/>
          <a:ln>
            <a:noFill/>
          </a:ln>
        </p:spPr>
      </p:sp>
      <p:sp>
        <p:nvSpPr>
          <p:cNvPr id="584" name="Google Shape;584;p42"/>
          <p:cNvSpPr/>
          <p:nvPr>
            <p:ph idx="13" type="pic"/>
          </p:nvPr>
        </p:nvSpPr>
        <p:spPr>
          <a:xfrm>
            <a:off x="7002257" y="3489487"/>
            <a:ext cx="1643700" cy="1535100"/>
          </a:xfrm>
          <a:prstGeom prst="rect">
            <a:avLst/>
          </a:prstGeom>
          <a:noFill/>
          <a:ln>
            <a:noFill/>
          </a:ln>
        </p:spPr>
      </p:sp>
      <p:sp>
        <p:nvSpPr>
          <p:cNvPr id="585" name="Google Shape;585;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1.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7" name="Google Shape;7;p1"/>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8" name="Google Shape;8;p1"/>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
        <p:nvSpPr>
          <p:cNvPr id="9" name="Google Shape;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lt1"/>
                </a:solidFill>
                <a:latin typeface="Red Hat Display"/>
                <a:ea typeface="Red Hat Display"/>
                <a:cs typeface="Red Hat Display"/>
                <a:sym typeface="Red Hat Display"/>
              </a:defRPr>
            </a:lvl1pPr>
            <a:lvl2pPr lvl="1" algn="r">
              <a:buNone/>
              <a:defRPr sz="1300">
                <a:solidFill>
                  <a:schemeClr val="lt1"/>
                </a:solidFill>
                <a:latin typeface="Red Hat Display"/>
                <a:ea typeface="Red Hat Display"/>
                <a:cs typeface="Red Hat Display"/>
                <a:sym typeface="Red Hat Display"/>
              </a:defRPr>
            </a:lvl2pPr>
            <a:lvl3pPr lvl="2" algn="r">
              <a:buNone/>
              <a:defRPr sz="1300">
                <a:solidFill>
                  <a:schemeClr val="lt1"/>
                </a:solidFill>
                <a:latin typeface="Red Hat Display"/>
                <a:ea typeface="Red Hat Display"/>
                <a:cs typeface="Red Hat Display"/>
                <a:sym typeface="Red Hat Display"/>
              </a:defRPr>
            </a:lvl3pPr>
            <a:lvl4pPr lvl="3" algn="r">
              <a:buNone/>
              <a:defRPr sz="1300">
                <a:solidFill>
                  <a:schemeClr val="lt1"/>
                </a:solidFill>
                <a:latin typeface="Red Hat Display"/>
                <a:ea typeface="Red Hat Display"/>
                <a:cs typeface="Red Hat Display"/>
                <a:sym typeface="Red Hat Display"/>
              </a:defRPr>
            </a:lvl4pPr>
            <a:lvl5pPr lvl="4" algn="r">
              <a:buNone/>
              <a:defRPr sz="1300">
                <a:solidFill>
                  <a:schemeClr val="lt1"/>
                </a:solidFill>
                <a:latin typeface="Red Hat Display"/>
                <a:ea typeface="Red Hat Display"/>
                <a:cs typeface="Red Hat Display"/>
                <a:sym typeface="Red Hat Display"/>
              </a:defRPr>
            </a:lvl5pPr>
            <a:lvl6pPr lvl="5" algn="r">
              <a:buNone/>
              <a:defRPr sz="1300">
                <a:solidFill>
                  <a:schemeClr val="lt1"/>
                </a:solidFill>
                <a:latin typeface="Red Hat Display"/>
                <a:ea typeface="Red Hat Display"/>
                <a:cs typeface="Red Hat Display"/>
                <a:sym typeface="Red Hat Display"/>
              </a:defRPr>
            </a:lvl6pPr>
            <a:lvl7pPr lvl="6" algn="r">
              <a:buNone/>
              <a:defRPr sz="1300">
                <a:solidFill>
                  <a:schemeClr val="lt1"/>
                </a:solidFill>
                <a:latin typeface="Red Hat Display"/>
                <a:ea typeface="Red Hat Display"/>
                <a:cs typeface="Red Hat Display"/>
                <a:sym typeface="Red Hat Display"/>
              </a:defRPr>
            </a:lvl7pPr>
            <a:lvl8pPr lvl="7" algn="r">
              <a:buNone/>
              <a:defRPr sz="1300">
                <a:solidFill>
                  <a:schemeClr val="lt1"/>
                </a:solidFill>
                <a:latin typeface="Red Hat Display"/>
                <a:ea typeface="Red Hat Display"/>
                <a:cs typeface="Red Hat Display"/>
                <a:sym typeface="Red Hat Display"/>
              </a:defRPr>
            </a:lvl8pPr>
            <a:lvl9pPr lvl="8" algn="r">
              <a:buNone/>
              <a:defRPr sz="1300">
                <a:solidFill>
                  <a:schemeClr val="lt1"/>
                </a:solidFill>
                <a:latin typeface="Red Hat Display"/>
                <a:ea typeface="Red Hat Display"/>
                <a:cs typeface="Red Hat Display"/>
                <a:sym typeface="Red Hat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9.png"/><Relationship Id="rId11" Type="http://schemas.openxmlformats.org/officeDocument/2006/relationships/image" Target="../media/image3.png"/><Relationship Id="rId10" Type="http://schemas.openxmlformats.org/officeDocument/2006/relationships/image" Target="../media/image15.png"/><Relationship Id="rId1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43"/>
          <p:cNvSpPr txBox="1"/>
          <p:nvPr>
            <p:ph type="title"/>
          </p:nvPr>
        </p:nvSpPr>
        <p:spPr>
          <a:xfrm>
            <a:off x="259050" y="2207725"/>
            <a:ext cx="5760900" cy="25173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MIMIC-IV Clinical Database</a:t>
            </a:r>
            <a:endParaRPr/>
          </a:p>
          <a:p>
            <a:pPr indent="0" lvl="0" marL="0" rtl="0" algn="l">
              <a:spcBef>
                <a:spcPts val="0"/>
              </a:spcBef>
              <a:spcAft>
                <a:spcPts val="0"/>
              </a:spcAft>
              <a:buNone/>
            </a:pPr>
            <a:r>
              <a:rPr lang="en">
                <a:solidFill>
                  <a:schemeClr val="dk2"/>
                </a:solidFill>
              </a:rPr>
              <a:t>Presentation</a:t>
            </a:r>
            <a:endParaRPr>
              <a:solidFill>
                <a:schemeClr val="dk2"/>
              </a:solidFill>
            </a:endParaRPr>
          </a:p>
        </p:txBody>
      </p:sp>
      <p:sp>
        <p:nvSpPr>
          <p:cNvPr id="591" name="Google Shape;591;p43"/>
          <p:cNvSpPr txBox="1"/>
          <p:nvPr/>
        </p:nvSpPr>
        <p:spPr>
          <a:xfrm>
            <a:off x="7128612" y="4793629"/>
            <a:ext cx="1730700" cy="175800"/>
          </a:xfrm>
          <a:prstGeom prst="rect">
            <a:avLst/>
          </a:prstGeom>
          <a:noFill/>
          <a:ln>
            <a:noFill/>
          </a:ln>
        </p:spPr>
        <p:txBody>
          <a:bodyPr anchorCtr="0" anchor="ctr" bIns="0" lIns="0" spcFirstLastPara="1" rIns="0" wrap="square" tIns="0">
            <a:noAutofit/>
          </a:bodyPr>
          <a:lstStyle/>
          <a:p>
            <a:pPr indent="0" lvl="0" marL="0" rtl="0" algn="r">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05/2026</a:t>
            </a:r>
            <a:endParaRPr sz="800">
              <a:solidFill>
                <a:schemeClr val="lt2"/>
              </a:solidFill>
              <a:latin typeface="Red Hat Display"/>
              <a:ea typeface="Red Hat Display"/>
              <a:cs typeface="Red Hat Display"/>
              <a:sym typeface="Red Hat Display"/>
            </a:endParaRPr>
          </a:p>
        </p:txBody>
      </p:sp>
      <p:sp>
        <p:nvSpPr>
          <p:cNvPr id="592" name="Google Shape;592;p43"/>
          <p:cNvSpPr txBox="1"/>
          <p:nvPr/>
        </p:nvSpPr>
        <p:spPr>
          <a:xfrm>
            <a:off x="228600" y="4793631"/>
            <a:ext cx="29961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800">
                <a:solidFill>
                  <a:schemeClr val="lt2"/>
                </a:solidFill>
                <a:latin typeface="Red Hat Display"/>
                <a:ea typeface="Red Hat Display"/>
                <a:cs typeface="Red Hat Display"/>
                <a:sym typeface="Red Hat Display"/>
              </a:rPr>
              <a:t>Roxanne Dimadi, Ian Chang, Daniel Yan, Owen Guo, Juan Pablo Reyes Martinez, Henry Shi</a:t>
            </a:r>
            <a:endParaRPr sz="800">
              <a:solidFill>
                <a:schemeClr val="lt2"/>
              </a:solidFill>
              <a:latin typeface="Red Hat Display"/>
              <a:ea typeface="Red Hat Display"/>
              <a:cs typeface="Red Hat Display"/>
              <a:sym typeface="Red Hat Display"/>
            </a:endParaRPr>
          </a:p>
        </p:txBody>
      </p:sp>
      <p:sp>
        <p:nvSpPr>
          <p:cNvPr id="593" name="Google Shape;593;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4"/>
          <p:cNvSpPr/>
          <p:nvPr/>
        </p:nvSpPr>
        <p:spPr>
          <a:xfrm>
            <a:off x="5462554" y="91008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99" name="Google Shape;599;p44"/>
          <p:cNvSpPr/>
          <p:nvPr/>
        </p:nvSpPr>
        <p:spPr>
          <a:xfrm>
            <a:off x="5462554" y="194931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0" name="Google Shape;600;p44"/>
          <p:cNvSpPr/>
          <p:nvPr/>
        </p:nvSpPr>
        <p:spPr>
          <a:xfrm>
            <a:off x="5462554" y="23959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1" name="Google Shape;601;p44"/>
          <p:cNvSpPr/>
          <p:nvPr/>
        </p:nvSpPr>
        <p:spPr>
          <a:xfrm>
            <a:off x="5462554" y="388178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2" name="Google Shape;602;p44"/>
          <p:cNvSpPr/>
          <p:nvPr/>
        </p:nvSpPr>
        <p:spPr>
          <a:xfrm>
            <a:off x="5462554" y="44007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03" name="Google Shape;603;p44"/>
          <p:cNvSpPr txBox="1"/>
          <p:nvPr>
            <p:ph idx="1" type="subTitle"/>
          </p:nvPr>
        </p:nvSpPr>
        <p:spPr>
          <a:xfrm>
            <a:off x="5711275" y="910100"/>
            <a:ext cx="2846700" cy="9552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Dataset Description</a:t>
            </a:r>
            <a:endParaRPr/>
          </a:p>
          <a:p>
            <a:pPr indent="-317500" lvl="0" marL="457200" rtl="0" algn="l">
              <a:spcBef>
                <a:spcPts val="0"/>
              </a:spcBef>
              <a:spcAft>
                <a:spcPts val="0"/>
              </a:spcAft>
              <a:buSzPts val="1400"/>
              <a:buChar char="-"/>
            </a:pPr>
            <a:r>
              <a:rPr lang="en"/>
              <a:t>Dataset summary / likely audience</a:t>
            </a:r>
            <a:endParaRPr/>
          </a:p>
          <a:p>
            <a:pPr indent="-317500" lvl="0" marL="457200" rtl="0" algn="l">
              <a:spcBef>
                <a:spcPts val="0"/>
              </a:spcBef>
              <a:spcAft>
                <a:spcPts val="0"/>
              </a:spcAft>
              <a:buSzPts val="1400"/>
              <a:buChar char="-"/>
            </a:pPr>
            <a:r>
              <a:rPr lang="en"/>
              <a:t>Use Cases</a:t>
            </a:r>
            <a:endParaRPr/>
          </a:p>
        </p:txBody>
      </p:sp>
      <p:sp>
        <p:nvSpPr>
          <p:cNvPr id="604" name="Google Shape;604;p44"/>
          <p:cNvSpPr txBox="1"/>
          <p:nvPr>
            <p:ph type="title"/>
          </p:nvPr>
        </p:nvSpPr>
        <p:spPr>
          <a:xfrm>
            <a:off x="1392601" y="836575"/>
            <a:ext cx="3205200" cy="12930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Presentation</a:t>
            </a:r>
            <a:endParaRPr/>
          </a:p>
          <a:p>
            <a:pPr indent="0" lvl="0" marL="0" rtl="0" algn="l">
              <a:spcBef>
                <a:spcPts val="0"/>
              </a:spcBef>
              <a:spcAft>
                <a:spcPts val="0"/>
              </a:spcAft>
              <a:buNone/>
            </a:pPr>
            <a:r>
              <a:rPr lang="en">
                <a:solidFill>
                  <a:schemeClr val="dk2"/>
                </a:solidFill>
              </a:rPr>
              <a:t>overview</a:t>
            </a:r>
            <a:endParaRPr>
              <a:solidFill>
                <a:schemeClr val="dk2"/>
              </a:solidFill>
            </a:endParaRPr>
          </a:p>
        </p:txBody>
      </p:sp>
      <p:sp>
        <p:nvSpPr>
          <p:cNvPr id="605" name="Google Shape;605;p44"/>
          <p:cNvSpPr txBox="1"/>
          <p:nvPr>
            <p:ph idx="2" type="subTitle"/>
          </p:nvPr>
        </p:nvSpPr>
        <p:spPr>
          <a:xfrm>
            <a:off x="5711285" y="194932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Data governance</a:t>
            </a:r>
            <a:endParaRPr/>
          </a:p>
        </p:txBody>
      </p:sp>
      <p:sp>
        <p:nvSpPr>
          <p:cNvPr id="606" name="Google Shape;606;p44"/>
          <p:cNvSpPr txBox="1"/>
          <p:nvPr>
            <p:ph idx="3" type="subTitle"/>
          </p:nvPr>
        </p:nvSpPr>
        <p:spPr>
          <a:xfrm>
            <a:off x="5711275" y="2462088"/>
            <a:ext cx="2846700" cy="67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Schema Design</a:t>
            </a:r>
            <a:endParaRPr/>
          </a:p>
          <a:p>
            <a:pPr indent="-317500" lvl="0" marL="457200" rtl="0" algn="l">
              <a:spcBef>
                <a:spcPts val="0"/>
              </a:spcBef>
              <a:spcAft>
                <a:spcPts val="0"/>
              </a:spcAft>
              <a:buSzPts val="1400"/>
              <a:buChar char="-"/>
            </a:pPr>
            <a:r>
              <a:rPr lang="en"/>
              <a:t>Relational model</a:t>
            </a:r>
            <a:endParaRPr/>
          </a:p>
          <a:p>
            <a:pPr indent="-317500" lvl="0" marL="457200" rtl="0" algn="l">
              <a:spcBef>
                <a:spcPts val="0"/>
              </a:spcBef>
              <a:spcAft>
                <a:spcPts val="0"/>
              </a:spcAft>
              <a:buSzPts val="1400"/>
              <a:buChar char="-"/>
            </a:pPr>
            <a:r>
              <a:rPr lang="en"/>
              <a:t>NoSQL</a:t>
            </a:r>
            <a:endParaRPr/>
          </a:p>
        </p:txBody>
      </p:sp>
      <p:sp>
        <p:nvSpPr>
          <p:cNvPr id="607" name="Google Shape;607;p44"/>
          <p:cNvSpPr txBox="1"/>
          <p:nvPr>
            <p:ph idx="4" type="subTitle"/>
          </p:nvPr>
        </p:nvSpPr>
        <p:spPr>
          <a:xfrm>
            <a:off x="5711285" y="388232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Logical Plan</a:t>
            </a:r>
            <a:endParaRPr/>
          </a:p>
        </p:txBody>
      </p:sp>
      <p:sp>
        <p:nvSpPr>
          <p:cNvPr id="608" name="Google Shape;608;p44"/>
          <p:cNvSpPr txBox="1"/>
          <p:nvPr>
            <p:ph idx="5" type="subTitle"/>
          </p:nvPr>
        </p:nvSpPr>
        <p:spPr>
          <a:xfrm>
            <a:off x="5711285" y="44013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Indices / caching structures</a:t>
            </a:r>
            <a:endParaRPr/>
          </a:p>
        </p:txBody>
      </p:sp>
      <p:sp>
        <p:nvSpPr>
          <p:cNvPr id="609" name="Google Shape;609;p44"/>
          <p:cNvSpPr/>
          <p:nvPr/>
        </p:nvSpPr>
        <p:spPr>
          <a:xfrm>
            <a:off x="5462554" y="3358426"/>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610" name="Google Shape;610;p44"/>
          <p:cNvSpPr txBox="1"/>
          <p:nvPr>
            <p:ph idx="4" type="subTitle"/>
          </p:nvPr>
        </p:nvSpPr>
        <p:spPr>
          <a:xfrm>
            <a:off x="5711285" y="3358963"/>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Queries</a:t>
            </a:r>
            <a:endParaRPr/>
          </a:p>
        </p:txBody>
      </p:sp>
      <p:sp>
        <p:nvSpPr>
          <p:cNvPr id="611" name="Google Shape;611;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45"/>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The Dataset</a:t>
            </a:r>
            <a:endParaRPr/>
          </a:p>
        </p:txBody>
      </p:sp>
      <p:sp>
        <p:nvSpPr>
          <p:cNvPr id="617" name="Google Shape;617;p45"/>
          <p:cNvSpPr txBox="1"/>
          <p:nvPr>
            <p:ph idx="1" type="subTitle"/>
          </p:nvPr>
        </p:nvSpPr>
        <p:spPr>
          <a:xfrm>
            <a:off x="228600" y="2800223"/>
            <a:ext cx="4916700" cy="110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Developed by MIT, the MIMIC dataset is an anonymized database of real patient records from intensive care units. It was created to bypass strict medical privacy laws that usually make medical data </a:t>
            </a:r>
            <a:r>
              <a:rPr lang="en"/>
              <a:t>inaccessible</a:t>
            </a:r>
            <a:r>
              <a:rPr lang="en"/>
              <a:t>. </a:t>
            </a:r>
            <a:endParaRPr/>
          </a:p>
        </p:txBody>
      </p:sp>
      <p:sp>
        <p:nvSpPr>
          <p:cNvPr id="618" name="Google Shape;618;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6"/>
          <p:cNvSpPr txBox="1"/>
          <p:nvPr>
            <p:ph type="title"/>
          </p:nvPr>
        </p:nvSpPr>
        <p:spPr>
          <a:xfrm>
            <a:off x="228600" y="42001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Dataset Summary</a:t>
            </a:r>
            <a:endParaRPr/>
          </a:p>
        </p:txBody>
      </p:sp>
      <p:sp>
        <p:nvSpPr>
          <p:cNvPr id="624" name="Google Shape;624;p46"/>
          <p:cNvSpPr txBox="1"/>
          <p:nvPr>
            <p:ph idx="1" type="subTitle"/>
          </p:nvPr>
        </p:nvSpPr>
        <p:spPr>
          <a:xfrm>
            <a:off x="2704800" y="194570"/>
            <a:ext cx="6345000" cy="912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625" name="Google Shape;625;p46"/>
          <p:cNvSpPr txBox="1"/>
          <p:nvPr>
            <p:ph idx="1" type="subTitle"/>
          </p:nvPr>
        </p:nvSpPr>
        <p:spPr>
          <a:xfrm>
            <a:off x="292725" y="1781125"/>
            <a:ext cx="6480300" cy="27165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sz="1400">
                <a:latin typeface="Red Hat Display SemiBold"/>
                <a:ea typeface="Red Hat Display SemiBold"/>
                <a:cs typeface="Red Hat Display SemiBold"/>
                <a:sym typeface="Red Hat Display SemiBold"/>
              </a:rPr>
              <a:t>- Total demo dataset size is currently 15.5mb with 26 total tables, available </a:t>
            </a:r>
            <a:endParaRPr sz="1400">
              <a:latin typeface="Red Hat Display SemiBold"/>
              <a:ea typeface="Red Hat Display SemiBold"/>
              <a:cs typeface="Red Hat Display SemiBold"/>
              <a:sym typeface="Red Hat Display SemiBold"/>
            </a:endParaRPr>
          </a:p>
          <a:p>
            <a:pPr indent="0" lvl="0" marL="0" rtl="0" algn="l">
              <a:lnSpc>
                <a:spcPct val="100000"/>
              </a:lnSpc>
              <a:spcBef>
                <a:spcPts val="0"/>
              </a:spcBef>
              <a:spcAft>
                <a:spcPts val="0"/>
              </a:spcAft>
              <a:buNone/>
            </a:pPr>
            <a:r>
              <a:rPr lang="en" sz="1400">
                <a:latin typeface="Red Hat Display SemiBold"/>
                <a:ea typeface="Red Hat Display SemiBold"/>
                <a:cs typeface="Red Hat Display SemiBold"/>
                <a:sym typeface="Red Hat Display SemiBold"/>
              </a:rPr>
              <a:t>in csv and BigQuery, we scaled down to 7 core tables</a:t>
            </a:r>
            <a:endParaRPr sz="1400">
              <a:latin typeface="Red Hat Display SemiBold"/>
              <a:ea typeface="Red Hat Display SemiBold"/>
              <a:cs typeface="Red Hat Display SemiBold"/>
              <a:sym typeface="Red Hat Display SemiBold"/>
            </a:endParaRPr>
          </a:p>
          <a:p>
            <a:pPr indent="0" lvl="0" marL="0" rtl="0" algn="l">
              <a:lnSpc>
                <a:spcPct val="100000"/>
              </a:lnSpc>
              <a:spcBef>
                <a:spcPts val="0"/>
              </a:spcBef>
              <a:spcAft>
                <a:spcPts val="0"/>
              </a:spcAft>
              <a:buNone/>
            </a:pPr>
            <a:r>
              <a:t/>
            </a:r>
            <a:endParaRPr sz="1400">
              <a:latin typeface="Red Hat Display SemiBold"/>
              <a:ea typeface="Red Hat Display SemiBold"/>
              <a:cs typeface="Red Hat Display SemiBold"/>
              <a:sym typeface="Red Hat Display SemiBold"/>
            </a:endParaRPr>
          </a:p>
          <a:p>
            <a:pPr indent="0" lvl="0" marL="0" rtl="0" algn="l">
              <a:lnSpc>
                <a:spcPct val="100000"/>
              </a:lnSpc>
              <a:spcBef>
                <a:spcPts val="0"/>
              </a:spcBef>
              <a:spcAft>
                <a:spcPts val="0"/>
              </a:spcAft>
              <a:buNone/>
            </a:pPr>
            <a:r>
              <a:rPr lang="en" sz="1400">
                <a:latin typeface="Red Hat Display SemiBold"/>
                <a:ea typeface="Red Hat Display SemiBold"/>
                <a:cs typeface="Red Hat Display SemiBold"/>
                <a:sym typeface="Red Hat Display SemiBold"/>
              </a:rPr>
              <a:t>- Likely audience:  researchers and professionals who need to develop predictive models and run statistical tests on real-world clinical data. </a:t>
            </a:r>
            <a:endParaRPr sz="1400">
              <a:latin typeface="Red Hat Display SemiBold"/>
              <a:ea typeface="Red Hat Display SemiBold"/>
              <a:cs typeface="Red Hat Display SemiBold"/>
              <a:sym typeface="Red Hat Display SemiBold"/>
            </a:endParaRPr>
          </a:p>
          <a:p>
            <a:pPr indent="0" lvl="0" marL="0" rtl="0" algn="l">
              <a:lnSpc>
                <a:spcPct val="100000"/>
              </a:lnSpc>
              <a:spcBef>
                <a:spcPts val="0"/>
              </a:spcBef>
              <a:spcAft>
                <a:spcPts val="0"/>
              </a:spcAft>
              <a:buNone/>
            </a:pPr>
            <a:r>
              <a:t/>
            </a:r>
            <a:endParaRPr sz="1400">
              <a:latin typeface="Red Hat Display SemiBold"/>
              <a:ea typeface="Red Hat Display SemiBold"/>
              <a:cs typeface="Red Hat Display SemiBold"/>
              <a:sym typeface="Red Hat Display SemiBold"/>
            </a:endParaRPr>
          </a:p>
          <a:p>
            <a:pPr indent="0" lvl="0" marL="0" rtl="0" algn="l">
              <a:lnSpc>
                <a:spcPct val="100000"/>
              </a:lnSpc>
              <a:spcBef>
                <a:spcPts val="0"/>
              </a:spcBef>
              <a:spcAft>
                <a:spcPts val="0"/>
              </a:spcAft>
              <a:buNone/>
            </a:pPr>
            <a:r>
              <a:rPr lang="en" sz="1400">
                <a:latin typeface="Red Hat Display SemiBold"/>
                <a:ea typeface="Red Hat Display SemiBold"/>
                <a:cs typeface="Red Hat Display SemiBold"/>
                <a:sym typeface="Red Hat Display SemiBold"/>
              </a:rPr>
              <a:t>- Typical workflow: extracting specific patient cohorts using SQL queries, cleaning the sparse data in Python or R, and then train machine learning algorithms to predict outcomes such as ICU readmission or patient mortality.</a:t>
            </a:r>
            <a:endParaRPr sz="1400">
              <a:latin typeface="Red Hat Display SemiBold"/>
              <a:ea typeface="Red Hat Display SemiBold"/>
              <a:cs typeface="Red Hat Display SemiBold"/>
              <a:sym typeface="Red Hat Display SemiBold"/>
            </a:endParaRPr>
          </a:p>
          <a:p>
            <a:pPr indent="0" lvl="0" marL="0" rtl="0" algn="l">
              <a:spcBef>
                <a:spcPts val="0"/>
              </a:spcBef>
              <a:spcAft>
                <a:spcPts val="0"/>
              </a:spcAft>
              <a:buNone/>
            </a:pPr>
            <a:r>
              <a:t/>
            </a:r>
            <a:endParaRPr sz="1400"/>
          </a:p>
        </p:txBody>
      </p:sp>
      <p:sp>
        <p:nvSpPr>
          <p:cNvPr id="626" name="Google Shape;626;p46"/>
          <p:cNvSpPr txBox="1"/>
          <p:nvPr/>
        </p:nvSpPr>
        <p:spPr>
          <a:xfrm>
            <a:off x="153975" y="947675"/>
            <a:ext cx="6046200" cy="58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lt1"/>
                </a:solidFill>
                <a:latin typeface="Red Hat Display"/>
                <a:ea typeface="Red Hat Display"/>
                <a:cs typeface="Red Hat Display"/>
                <a:sym typeface="Red Hat Display"/>
              </a:rPr>
              <a:t>- The demo represents a subset of 100 patients, but it preserves the full schema and relationships of MIMIC-IV </a:t>
            </a:r>
            <a:endParaRPr sz="900">
              <a:solidFill>
                <a:schemeClr val="lt1"/>
              </a:solidFill>
              <a:latin typeface="Red Hat Display"/>
              <a:ea typeface="Red Hat Display"/>
              <a:cs typeface="Red Hat Display"/>
              <a:sym typeface="Red Hat Display"/>
            </a:endParaRPr>
          </a:p>
        </p:txBody>
      </p:sp>
      <p:sp>
        <p:nvSpPr>
          <p:cNvPr id="627" name="Google Shape;627;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1" name="Shape 631"/>
        <p:cNvGrpSpPr/>
        <p:nvPr/>
      </p:nvGrpSpPr>
      <p:grpSpPr>
        <a:xfrm>
          <a:off x="0" y="0"/>
          <a:ext cx="0" cy="0"/>
          <a:chOff x="0" y="0"/>
          <a:chExt cx="0" cy="0"/>
        </a:xfrm>
      </p:grpSpPr>
      <p:sp>
        <p:nvSpPr>
          <p:cNvPr id="632" name="Google Shape;632;p47"/>
          <p:cNvSpPr txBox="1"/>
          <p:nvPr>
            <p:ph type="title"/>
          </p:nvPr>
        </p:nvSpPr>
        <p:spPr>
          <a:xfrm>
            <a:off x="228600" y="420017"/>
            <a:ext cx="64803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(Skip slide) Extra Dataset Context</a:t>
            </a:r>
            <a:endParaRPr/>
          </a:p>
          <a:p>
            <a:pPr indent="0" lvl="0" marL="0" rtl="0" algn="l">
              <a:spcBef>
                <a:spcPts val="0"/>
              </a:spcBef>
              <a:spcAft>
                <a:spcPts val="0"/>
              </a:spcAft>
              <a:buNone/>
            </a:pPr>
            <a:r>
              <a:t/>
            </a:r>
            <a:endParaRPr/>
          </a:p>
        </p:txBody>
      </p:sp>
      <p:sp>
        <p:nvSpPr>
          <p:cNvPr id="633" name="Google Shape;633;p47"/>
          <p:cNvSpPr txBox="1"/>
          <p:nvPr>
            <p:ph idx="1" type="subTitle"/>
          </p:nvPr>
        </p:nvSpPr>
        <p:spPr>
          <a:xfrm>
            <a:off x="2704800" y="194570"/>
            <a:ext cx="6345000" cy="912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
        <p:nvSpPr>
          <p:cNvPr id="634" name="Google Shape;634;p47"/>
          <p:cNvSpPr txBox="1"/>
          <p:nvPr>
            <p:ph idx="1" type="subTitle"/>
          </p:nvPr>
        </p:nvSpPr>
        <p:spPr>
          <a:xfrm>
            <a:off x="292725" y="970475"/>
            <a:ext cx="6480300" cy="3527100"/>
          </a:xfrm>
          <a:prstGeom prst="rect">
            <a:avLst/>
          </a:prstGeom>
        </p:spPr>
        <p:txBody>
          <a:bodyPr anchorCtr="0" anchor="t" bIns="91425" lIns="0" spcFirstLastPara="1" rIns="91425" wrap="square" tIns="0">
            <a:noAutofit/>
          </a:bodyPr>
          <a:lstStyle/>
          <a:p>
            <a:pPr indent="-317500" lvl="0" marL="457200" rtl="0" algn="l">
              <a:spcBef>
                <a:spcPts val="0"/>
              </a:spcBef>
              <a:spcAft>
                <a:spcPts val="0"/>
              </a:spcAft>
              <a:buSzPts val="1400"/>
              <a:buChar char="-"/>
            </a:pPr>
            <a:r>
              <a:rPr lang="en" sz="1400">
                <a:latin typeface="Red Hat Display SemiBold"/>
                <a:ea typeface="Red Hat Display SemiBold"/>
                <a:cs typeface="Red Hat Display SemiBold"/>
                <a:sym typeface="Red Hat Display SemiBold"/>
              </a:rPr>
              <a:t>While this demo MIMIC-IV dataset is mostly static, with updated versions every few years (same with the full dataset), we wanted to treat it in part like what it’s meant to mimic: a real active hospital</a:t>
            </a:r>
            <a:endParaRPr sz="1400">
              <a:latin typeface="Red Hat Display SemiBold"/>
              <a:ea typeface="Red Hat Display SemiBold"/>
              <a:cs typeface="Red Hat Display SemiBold"/>
              <a:sym typeface="Red Hat Display SemiBold"/>
            </a:endParaRPr>
          </a:p>
          <a:p>
            <a:pPr indent="-317500" lvl="1" marL="914400" rtl="0" algn="l">
              <a:spcBef>
                <a:spcPts val="0"/>
              </a:spcBef>
              <a:spcAft>
                <a:spcPts val="0"/>
              </a:spcAft>
              <a:buSzPts val="1400"/>
              <a:buFont typeface="Red Hat Display SemiBold"/>
              <a:buChar char="-"/>
            </a:pPr>
            <a:r>
              <a:rPr lang="en" sz="1400">
                <a:latin typeface="Red Hat Display SemiBold"/>
                <a:ea typeface="Red Hat Display SemiBold"/>
                <a:cs typeface="Red Hat Display SemiBold"/>
                <a:sym typeface="Red Hat Display SemiBold"/>
              </a:rPr>
              <a:t>This is reflected in our use cases</a:t>
            </a:r>
            <a:endParaRPr sz="1400">
              <a:latin typeface="Red Hat Display SemiBold"/>
              <a:ea typeface="Red Hat Display SemiBold"/>
              <a:cs typeface="Red Hat Display SemiBold"/>
              <a:sym typeface="Red Hat Display SemiBold"/>
            </a:endParaRPr>
          </a:p>
          <a:p>
            <a:pPr indent="-317500" lvl="1" marL="914400" rtl="0" algn="l">
              <a:spcBef>
                <a:spcPts val="0"/>
              </a:spcBef>
              <a:spcAft>
                <a:spcPts val="0"/>
              </a:spcAft>
              <a:buSzPts val="1400"/>
              <a:buFont typeface="Red Hat Display SemiBold"/>
              <a:buChar char="-"/>
            </a:pPr>
            <a:r>
              <a:rPr lang="en" sz="1400">
                <a:latin typeface="Red Hat Display SemiBold"/>
                <a:ea typeface="Red Hat Display SemiBold"/>
                <a:cs typeface="Red Hat Display SemiBold"/>
                <a:sym typeface="Red Hat Display SemiBold"/>
              </a:rPr>
              <a:t>As such, our audience also extends from researchers to clinicians/nurses/doctors, etc. with little to no technical skills so we’d in theory build a front-end with pre-written queries for common demands (e.g. see use cases)</a:t>
            </a:r>
            <a:endParaRPr sz="1400">
              <a:latin typeface="Red Hat Display SemiBold"/>
              <a:ea typeface="Red Hat Display SemiBold"/>
              <a:cs typeface="Red Hat Display SemiBold"/>
              <a:sym typeface="Red Hat Display SemiBold"/>
            </a:endParaRPr>
          </a:p>
        </p:txBody>
      </p:sp>
      <p:sp>
        <p:nvSpPr>
          <p:cNvPr id="635" name="Google Shape;635;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cxnSp>
        <p:nvCxnSpPr>
          <p:cNvPr id="640" name="Google Shape;640;p48"/>
          <p:cNvCxnSpPr/>
          <p:nvPr/>
        </p:nvCxnSpPr>
        <p:spPr>
          <a:xfrm flipH="1">
            <a:off x="6003098" y="1375282"/>
            <a:ext cx="300000" cy="171900"/>
          </a:xfrm>
          <a:prstGeom prst="straightConnector1">
            <a:avLst/>
          </a:prstGeom>
          <a:noFill/>
          <a:ln cap="flat" cmpd="sng" w="9525">
            <a:solidFill>
              <a:schemeClr val="accent5"/>
            </a:solidFill>
            <a:prstDash val="solid"/>
            <a:round/>
            <a:headEnd len="med" w="med" type="none"/>
            <a:tailEnd len="med" w="med" type="none"/>
          </a:ln>
        </p:spPr>
      </p:cxnSp>
      <p:cxnSp>
        <p:nvCxnSpPr>
          <p:cNvPr id="641" name="Google Shape;641;p48"/>
          <p:cNvCxnSpPr/>
          <p:nvPr/>
        </p:nvCxnSpPr>
        <p:spPr>
          <a:xfrm flipH="1">
            <a:off x="3087920" y="1375282"/>
            <a:ext cx="300000" cy="171900"/>
          </a:xfrm>
          <a:prstGeom prst="straightConnector1">
            <a:avLst/>
          </a:prstGeom>
          <a:noFill/>
          <a:ln cap="flat" cmpd="sng" w="9525">
            <a:solidFill>
              <a:schemeClr val="accent5"/>
            </a:solidFill>
            <a:prstDash val="solid"/>
            <a:round/>
            <a:headEnd len="med" w="med" type="none"/>
            <a:tailEnd len="med" w="med" type="none"/>
          </a:ln>
        </p:spPr>
      </p:cxnSp>
      <p:sp>
        <p:nvSpPr>
          <p:cNvPr id="642" name="Google Shape;642;p48"/>
          <p:cNvSpPr/>
          <p:nvPr/>
        </p:nvSpPr>
        <p:spPr>
          <a:xfrm>
            <a:off x="477367" y="1373466"/>
            <a:ext cx="2607600" cy="1290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marR="2700" rtl="0" algn="l">
              <a:lnSpc>
                <a:spcPct val="115000"/>
              </a:lnSpc>
              <a:spcBef>
                <a:spcPts val="0"/>
              </a:spcBef>
              <a:spcAft>
                <a:spcPts val="0"/>
              </a:spcAft>
              <a:buNone/>
            </a:pPr>
            <a:r>
              <a:t/>
            </a:r>
            <a:endParaRPr sz="1300">
              <a:solidFill>
                <a:schemeClr val="lt1"/>
              </a:solidFill>
              <a:latin typeface="Red Hat Display"/>
              <a:ea typeface="Red Hat Display"/>
              <a:cs typeface="Red Hat Display"/>
              <a:sym typeface="Red Hat Display"/>
            </a:endParaRPr>
          </a:p>
        </p:txBody>
      </p:sp>
      <p:sp>
        <p:nvSpPr>
          <p:cNvPr id="643" name="Google Shape;643;p48"/>
          <p:cNvSpPr/>
          <p:nvPr/>
        </p:nvSpPr>
        <p:spPr>
          <a:xfrm>
            <a:off x="299070" y="1225164"/>
            <a:ext cx="2355900" cy="147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44" name="Google Shape;644;p48"/>
          <p:cNvSpPr/>
          <p:nvPr/>
        </p:nvSpPr>
        <p:spPr>
          <a:xfrm>
            <a:off x="3387621" y="1373466"/>
            <a:ext cx="2607600" cy="1290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marR="2700" rtl="0" algn="l">
              <a:lnSpc>
                <a:spcPct val="115000"/>
              </a:lnSpc>
              <a:spcBef>
                <a:spcPts val="0"/>
              </a:spcBef>
              <a:spcAft>
                <a:spcPts val="0"/>
              </a:spcAft>
              <a:buNone/>
            </a:pPr>
            <a:r>
              <a:t/>
            </a:r>
            <a:endParaRPr sz="1300">
              <a:solidFill>
                <a:schemeClr val="lt1"/>
              </a:solidFill>
              <a:latin typeface="Red Hat Display"/>
              <a:ea typeface="Red Hat Display"/>
              <a:cs typeface="Red Hat Display"/>
              <a:sym typeface="Red Hat Display"/>
            </a:endParaRPr>
          </a:p>
        </p:txBody>
      </p:sp>
      <p:sp>
        <p:nvSpPr>
          <p:cNvPr id="645" name="Google Shape;645;p48"/>
          <p:cNvSpPr/>
          <p:nvPr/>
        </p:nvSpPr>
        <p:spPr>
          <a:xfrm>
            <a:off x="3209325" y="1225164"/>
            <a:ext cx="2355900" cy="147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46" name="Google Shape;646;p48"/>
          <p:cNvSpPr/>
          <p:nvPr/>
        </p:nvSpPr>
        <p:spPr>
          <a:xfrm>
            <a:off x="6307902" y="1373466"/>
            <a:ext cx="2607600" cy="1290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91425" lIns="45700" spcFirstLastPara="1" rIns="45700" wrap="square" tIns="91425">
            <a:noAutofit/>
          </a:bodyPr>
          <a:lstStyle/>
          <a:p>
            <a:pPr indent="0" lvl="0" marL="0" rtl="0" algn="l">
              <a:lnSpc>
                <a:spcPct val="115000"/>
              </a:lnSpc>
              <a:spcBef>
                <a:spcPts val="0"/>
              </a:spcBef>
              <a:spcAft>
                <a:spcPts val="0"/>
              </a:spcAft>
              <a:buNone/>
            </a:pPr>
            <a:r>
              <a:t/>
            </a:r>
            <a:endParaRPr sz="800">
              <a:solidFill>
                <a:schemeClr val="lt1"/>
              </a:solidFill>
              <a:latin typeface="Red Hat Display"/>
              <a:ea typeface="Red Hat Display"/>
              <a:cs typeface="Red Hat Display"/>
              <a:sym typeface="Red Hat Display"/>
            </a:endParaRPr>
          </a:p>
          <a:p>
            <a:pPr indent="0" lvl="0" marL="0" marR="2700" rtl="0" algn="l">
              <a:lnSpc>
                <a:spcPct val="115000"/>
              </a:lnSpc>
              <a:spcBef>
                <a:spcPts val="0"/>
              </a:spcBef>
              <a:spcAft>
                <a:spcPts val="0"/>
              </a:spcAft>
              <a:buNone/>
            </a:pPr>
            <a:r>
              <a:t/>
            </a:r>
            <a:endParaRPr sz="800">
              <a:solidFill>
                <a:schemeClr val="lt1"/>
              </a:solidFill>
              <a:latin typeface="Red Hat Display"/>
              <a:ea typeface="Red Hat Display"/>
              <a:cs typeface="Red Hat Display"/>
              <a:sym typeface="Red Hat Display"/>
            </a:endParaRPr>
          </a:p>
        </p:txBody>
      </p:sp>
      <p:sp>
        <p:nvSpPr>
          <p:cNvPr id="647" name="Google Shape;647;p48"/>
          <p:cNvSpPr/>
          <p:nvPr/>
        </p:nvSpPr>
        <p:spPr>
          <a:xfrm>
            <a:off x="6129606" y="1225164"/>
            <a:ext cx="2355900" cy="147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cxnSp>
        <p:nvCxnSpPr>
          <p:cNvPr id="648" name="Google Shape;648;p48"/>
          <p:cNvCxnSpPr/>
          <p:nvPr/>
        </p:nvCxnSpPr>
        <p:spPr>
          <a:xfrm flipH="1">
            <a:off x="-75" y="1375282"/>
            <a:ext cx="472800" cy="171900"/>
          </a:xfrm>
          <a:prstGeom prst="straightConnector1">
            <a:avLst/>
          </a:prstGeom>
          <a:noFill/>
          <a:ln cap="flat" cmpd="sng" w="9525">
            <a:solidFill>
              <a:schemeClr val="accent5"/>
            </a:solidFill>
            <a:prstDash val="solid"/>
            <a:round/>
            <a:headEnd len="med" w="med" type="none"/>
            <a:tailEnd len="med" w="med" type="none"/>
          </a:ln>
        </p:spPr>
      </p:cxnSp>
      <p:sp>
        <p:nvSpPr>
          <p:cNvPr id="649" name="Google Shape;649;p48"/>
          <p:cNvSpPr txBox="1"/>
          <p:nvPr>
            <p:ph type="title"/>
          </p:nvPr>
        </p:nvSpPr>
        <p:spPr>
          <a:xfrm>
            <a:off x="609600" y="724825"/>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Anonymization</a:t>
            </a:r>
            <a:endParaRPr/>
          </a:p>
        </p:txBody>
      </p:sp>
      <p:sp>
        <p:nvSpPr>
          <p:cNvPr id="650" name="Google Shape;650;p48"/>
          <p:cNvSpPr txBox="1"/>
          <p:nvPr>
            <p:ph idx="1" type="subTitle"/>
          </p:nvPr>
        </p:nvSpPr>
        <p:spPr>
          <a:xfrm>
            <a:off x="299072" y="1221400"/>
            <a:ext cx="2355900" cy="155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Anonymizing Identifiers</a:t>
            </a:r>
            <a:endParaRPr/>
          </a:p>
        </p:txBody>
      </p:sp>
      <p:sp>
        <p:nvSpPr>
          <p:cNvPr id="651" name="Google Shape;651;p48"/>
          <p:cNvSpPr txBox="1"/>
          <p:nvPr>
            <p:ph idx="2" type="subTitle"/>
          </p:nvPr>
        </p:nvSpPr>
        <p:spPr>
          <a:xfrm>
            <a:off x="3214333" y="1221400"/>
            <a:ext cx="2355900" cy="155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Obscuring Timelines</a:t>
            </a:r>
            <a:endParaRPr/>
          </a:p>
        </p:txBody>
      </p:sp>
      <p:sp>
        <p:nvSpPr>
          <p:cNvPr id="652" name="Google Shape;652;p48"/>
          <p:cNvSpPr txBox="1"/>
          <p:nvPr>
            <p:ph idx="3" type="subTitle"/>
          </p:nvPr>
        </p:nvSpPr>
        <p:spPr>
          <a:xfrm>
            <a:off x="6125980" y="1221400"/>
            <a:ext cx="2355900" cy="155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Data Scrubbing</a:t>
            </a:r>
            <a:endParaRPr/>
          </a:p>
        </p:txBody>
      </p:sp>
      <p:sp>
        <p:nvSpPr>
          <p:cNvPr id="653" name="Google Shape;653;p48"/>
          <p:cNvSpPr txBox="1"/>
          <p:nvPr>
            <p:ph idx="5" type="body"/>
          </p:nvPr>
        </p:nvSpPr>
        <p:spPr>
          <a:xfrm>
            <a:off x="739156" y="1514840"/>
            <a:ext cx="2077800" cy="1149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000"/>
              <a:t>All Protected Health Information (PHI) was removed to meet HIPAA standards</a:t>
            </a:r>
            <a:endParaRPr sz="1000"/>
          </a:p>
          <a:p>
            <a:pPr indent="0" lvl="0" marL="0" rtl="0" algn="l">
              <a:spcBef>
                <a:spcPts val="0"/>
              </a:spcBef>
              <a:spcAft>
                <a:spcPts val="0"/>
              </a:spcAft>
              <a:buNone/>
            </a:pPr>
            <a:r>
              <a:rPr lang="en" sz="1000"/>
              <a:t>Sensitive patient and hospital IDs were replaced with random numbers.</a:t>
            </a:r>
            <a:endParaRPr sz="10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4" name="Google Shape;654;p48"/>
          <p:cNvSpPr txBox="1"/>
          <p:nvPr>
            <p:ph idx="6" type="body"/>
          </p:nvPr>
        </p:nvSpPr>
        <p:spPr>
          <a:xfrm>
            <a:off x="3651926" y="1514850"/>
            <a:ext cx="2237400" cy="93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900"/>
              <a:t> All chronological data was systematically shifted by random scalar values. This obscures precise years, seasonality, and days of the week, while preserving the mathematical time intervals between clinical events.</a:t>
            </a:r>
            <a:endParaRPr sz="900"/>
          </a:p>
        </p:txBody>
      </p:sp>
      <p:sp>
        <p:nvSpPr>
          <p:cNvPr id="655" name="Google Shape;655;p48"/>
          <p:cNvSpPr txBox="1"/>
          <p:nvPr>
            <p:ph idx="7" type="body"/>
          </p:nvPr>
        </p:nvSpPr>
        <p:spPr>
          <a:xfrm>
            <a:off x="6571250" y="1514850"/>
            <a:ext cx="2237400" cy="861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000"/>
              <a:t>The dataset removed all personal patient information using: automated rules to catch obvious identifiers, algorithms to catch trickier ones in written notes, and a final human check. </a:t>
            </a:r>
            <a:endParaRPr sz="1000"/>
          </a:p>
        </p:txBody>
      </p:sp>
      <p:sp>
        <p:nvSpPr>
          <p:cNvPr id="656" name="Google Shape;656;p48"/>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Dataset Description</a:t>
            </a:r>
            <a:endParaRPr/>
          </a:p>
        </p:txBody>
      </p:sp>
      <p:cxnSp>
        <p:nvCxnSpPr>
          <p:cNvPr id="657" name="Google Shape;657;p48"/>
          <p:cNvCxnSpPr/>
          <p:nvPr/>
        </p:nvCxnSpPr>
        <p:spPr>
          <a:xfrm flipH="1">
            <a:off x="-18725" y="2456207"/>
            <a:ext cx="472800" cy="171900"/>
          </a:xfrm>
          <a:prstGeom prst="straightConnector1">
            <a:avLst/>
          </a:prstGeom>
          <a:noFill/>
          <a:ln cap="flat" cmpd="sng" w="9525">
            <a:solidFill>
              <a:schemeClr val="accent5"/>
            </a:solidFill>
            <a:prstDash val="solid"/>
            <a:round/>
            <a:headEnd len="med" w="med" type="none"/>
            <a:tailEnd len="med" w="med" type="none"/>
          </a:ln>
        </p:spPr>
      </p:cxnSp>
      <p:cxnSp>
        <p:nvCxnSpPr>
          <p:cNvPr id="658" name="Google Shape;658;p48"/>
          <p:cNvCxnSpPr/>
          <p:nvPr/>
        </p:nvCxnSpPr>
        <p:spPr>
          <a:xfrm flipH="1">
            <a:off x="5967123" y="2399857"/>
            <a:ext cx="300000" cy="171900"/>
          </a:xfrm>
          <a:prstGeom prst="straightConnector1">
            <a:avLst/>
          </a:prstGeom>
          <a:noFill/>
          <a:ln cap="flat" cmpd="sng" w="9525">
            <a:solidFill>
              <a:schemeClr val="accent5"/>
            </a:solidFill>
            <a:prstDash val="solid"/>
            <a:round/>
            <a:headEnd len="med" w="med" type="none"/>
            <a:tailEnd len="med" w="med" type="none"/>
          </a:ln>
        </p:spPr>
      </p:cxnSp>
      <p:cxnSp>
        <p:nvCxnSpPr>
          <p:cNvPr id="659" name="Google Shape;659;p48"/>
          <p:cNvCxnSpPr/>
          <p:nvPr/>
        </p:nvCxnSpPr>
        <p:spPr>
          <a:xfrm flipH="1">
            <a:off x="3060595" y="2456207"/>
            <a:ext cx="300000" cy="171900"/>
          </a:xfrm>
          <a:prstGeom prst="straightConnector1">
            <a:avLst/>
          </a:prstGeom>
          <a:noFill/>
          <a:ln cap="flat" cmpd="sng" w="9525">
            <a:solidFill>
              <a:schemeClr val="accent5"/>
            </a:solidFill>
            <a:prstDash val="solid"/>
            <a:round/>
            <a:headEnd len="med" w="med" type="none"/>
            <a:tailEnd len="med" w="med" type="none"/>
          </a:ln>
        </p:spPr>
      </p:cxnSp>
      <p:sp>
        <p:nvSpPr>
          <p:cNvPr id="660" name="Google Shape;660;p48"/>
          <p:cNvSpPr txBox="1"/>
          <p:nvPr/>
        </p:nvSpPr>
        <p:spPr>
          <a:xfrm>
            <a:off x="298500" y="4196238"/>
            <a:ext cx="2316600" cy="153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661" name="Google Shape;661;p48"/>
          <p:cNvSpPr/>
          <p:nvPr/>
        </p:nvSpPr>
        <p:spPr>
          <a:xfrm>
            <a:off x="532653" y="3690315"/>
            <a:ext cx="1260300" cy="1201800"/>
          </a:xfrm>
          <a:prstGeom prst="snip1Rect">
            <a:avLst>
              <a:gd fmla="val 16667" name="adj"/>
            </a:avLst>
          </a:prstGeom>
          <a:solidFill>
            <a:schemeClr val="accent6"/>
          </a:solidFill>
          <a:ln cap="flat" cmpd="sng" w="11925">
            <a:solidFill>
              <a:schemeClr val="dk2"/>
            </a:solidFill>
            <a:prstDash val="solid"/>
            <a:round/>
            <a:headEnd len="sm" w="sm" type="none"/>
            <a:tailEnd len="sm" w="sm" type="none"/>
          </a:ln>
        </p:spPr>
        <p:txBody>
          <a:bodyPr anchorCtr="0" anchor="ctr" bIns="114400" lIns="114400" spcFirstLastPara="1" rIns="114400" wrap="square" tIns="114400">
            <a:noAutofit/>
          </a:bodyPr>
          <a:lstStyle/>
          <a:p>
            <a:pPr indent="0" lvl="0" marL="0" rtl="0" algn="ctr">
              <a:spcBef>
                <a:spcPts val="0"/>
              </a:spcBef>
              <a:spcAft>
                <a:spcPts val="0"/>
              </a:spcAft>
              <a:buNone/>
            </a:pPr>
            <a:r>
              <a:t/>
            </a:r>
            <a:endParaRPr sz="1752">
              <a:latin typeface="Red Hat Display"/>
              <a:ea typeface="Red Hat Display"/>
              <a:cs typeface="Red Hat Display"/>
              <a:sym typeface="Red Hat Display"/>
            </a:endParaRPr>
          </a:p>
        </p:txBody>
      </p:sp>
      <p:sp>
        <p:nvSpPr>
          <p:cNvPr id="662" name="Google Shape;662;p48"/>
          <p:cNvSpPr txBox="1"/>
          <p:nvPr/>
        </p:nvSpPr>
        <p:spPr>
          <a:xfrm>
            <a:off x="575822" y="3634088"/>
            <a:ext cx="1399500" cy="1072800"/>
          </a:xfrm>
          <a:prstGeom prst="rect">
            <a:avLst/>
          </a:prstGeom>
          <a:noFill/>
          <a:ln>
            <a:noFill/>
          </a:ln>
        </p:spPr>
        <p:txBody>
          <a:bodyPr anchorCtr="0" anchor="t" bIns="114400" lIns="114400" spcFirstLastPara="1" rIns="114400" wrap="square" tIns="114400">
            <a:noAutofit/>
          </a:bodyPr>
          <a:lstStyle/>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patients</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subject_id</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gender</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anchor_age</a:t>
            </a:r>
            <a:endParaRPr sz="1126">
              <a:solidFill>
                <a:schemeClr val="lt1"/>
              </a:solidFill>
              <a:latin typeface="Red Hat Display"/>
              <a:ea typeface="Red Hat Display"/>
              <a:cs typeface="Red Hat Display"/>
              <a:sym typeface="Red Hat Display"/>
            </a:endParaRPr>
          </a:p>
        </p:txBody>
      </p:sp>
      <p:cxnSp>
        <p:nvCxnSpPr>
          <p:cNvPr id="663" name="Google Shape;663;p48"/>
          <p:cNvCxnSpPr/>
          <p:nvPr/>
        </p:nvCxnSpPr>
        <p:spPr>
          <a:xfrm flipH="1" rot="10800000">
            <a:off x="529650" y="4035621"/>
            <a:ext cx="1272900" cy="1500"/>
          </a:xfrm>
          <a:prstGeom prst="straightConnector1">
            <a:avLst/>
          </a:prstGeom>
          <a:noFill/>
          <a:ln cap="flat" cmpd="sng" w="11925">
            <a:solidFill>
              <a:schemeClr val="dk2"/>
            </a:solidFill>
            <a:prstDash val="solid"/>
            <a:round/>
            <a:headEnd len="med" w="med" type="none"/>
            <a:tailEnd len="med" w="med" type="none"/>
          </a:ln>
        </p:spPr>
      </p:cxnSp>
      <p:sp>
        <p:nvSpPr>
          <p:cNvPr id="664" name="Google Shape;664;p48"/>
          <p:cNvSpPr/>
          <p:nvPr/>
        </p:nvSpPr>
        <p:spPr>
          <a:xfrm>
            <a:off x="2027190" y="3704367"/>
            <a:ext cx="1245000" cy="1201800"/>
          </a:xfrm>
          <a:prstGeom prst="snip1Rect">
            <a:avLst>
              <a:gd fmla="val 16667" name="adj"/>
            </a:avLst>
          </a:prstGeom>
          <a:solidFill>
            <a:schemeClr val="accent6"/>
          </a:solidFill>
          <a:ln cap="flat" cmpd="sng" w="11925">
            <a:solidFill>
              <a:schemeClr val="dk2"/>
            </a:solidFill>
            <a:prstDash val="solid"/>
            <a:round/>
            <a:headEnd len="sm" w="sm" type="none"/>
            <a:tailEnd len="sm" w="sm" type="none"/>
          </a:ln>
        </p:spPr>
        <p:txBody>
          <a:bodyPr anchorCtr="0" anchor="ctr" bIns="114400" lIns="114400" spcFirstLastPara="1" rIns="114400" wrap="square" tIns="114400">
            <a:noAutofit/>
          </a:bodyPr>
          <a:lstStyle/>
          <a:p>
            <a:pPr indent="0" lvl="0" marL="0" rtl="0" algn="ctr">
              <a:spcBef>
                <a:spcPts val="0"/>
              </a:spcBef>
              <a:spcAft>
                <a:spcPts val="0"/>
              </a:spcAft>
              <a:buNone/>
            </a:pPr>
            <a:r>
              <a:t/>
            </a:r>
            <a:endParaRPr sz="1752">
              <a:latin typeface="Red Hat Display"/>
              <a:ea typeface="Red Hat Display"/>
              <a:cs typeface="Red Hat Display"/>
              <a:sym typeface="Red Hat Display"/>
            </a:endParaRPr>
          </a:p>
        </p:txBody>
      </p:sp>
      <p:sp>
        <p:nvSpPr>
          <p:cNvPr id="665" name="Google Shape;665;p48"/>
          <p:cNvSpPr txBox="1"/>
          <p:nvPr/>
        </p:nvSpPr>
        <p:spPr>
          <a:xfrm>
            <a:off x="2070352" y="3676250"/>
            <a:ext cx="1245000" cy="1072800"/>
          </a:xfrm>
          <a:prstGeom prst="rect">
            <a:avLst/>
          </a:prstGeom>
          <a:noFill/>
          <a:ln>
            <a:noFill/>
          </a:ln>
        </p:spPr>
        <p:txBody>
          <a:bodyPr anchorCtr="0" anchor="t" bIns="114400" lIns="114400" spcFirstLastPara="1" rIns="114400" wrap="square" tIns="114400">
            <a:noAutofit/>
          </a:bodyPr>
          <a:lstStyle/>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admissions</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hadm_id</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admittime</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insurance</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admission_type</a:t>
            </a:r>
            <a:endParaRPr sz="1126">
              <a:solidFill>
                <a:schemeClr val="lt1"/>
              </a:solidFill>
              <a:latin typeface="Red Hat Display"/>
              <a:ea typeface="Red Hat Display"/>
              <a:cs typeface="Red Hat Display"/>
              <a:sym typeface="Red Hat Display"/>
            </a:endParaRPr>
          </a:p>
        </p:txBody>
      </p:sp>
      <p:cxnSp>
        <p:nvCxnSpPr>
          <p:cNvPr id="666" name="Google Shape;666;p48"/>
          <p:cNvCxnSpPr/>
          <p:nvPr/>
        </p:nvCxnSpPr>
        <p:spPr>
          <a:xfrm>
            <a:off x="2024188" y="4033000"/>
            <a:ext cx="1260300" cy="4800"/>
          </a:xfrm>
          <a:prstGeom prst="straightConnector1">
            <a:avLst/>
          </a:prstGeom>
          <a:noFill/>
          <a:ln cap="flat" cmpd="sng" w="11925">
            <a:solidFill>
              <a:schemeClr val="dk2"/>
            </a:solidFill>
            <a:prstDash val="solid"/>
            <a:round/>
            <a:headEnd len="med" w="med" type="none"/>
            <a:tailEnd len="med" w="med" type="none"/>
          </a:ln>
        </p:spPr>
      </p:cxnSp>
      <p:sp>
        <p:nvSpPr>
          <p:cNvPr id="667" name="Google Shape;667;p48"/>
          <p:cNvSpPr/>
          <p:nvPr/>
        </p:nvSpPr>
        <p:spPr>
          <a:xfrm>
            <a:off x="3536999" y="3710513"/>
            <a:ext cx="1245000" cy="1201800"/>
          </a:xfrm>
          <a:prstGeom prst="snip1Rect">
            <a:avLst>
              <a:gd fmla="val 16667" name="adj"/>
            </a:avLst>
          </a:prstGeom>
          <a:solidFill>
            <a:schemeClr val="accent6"/>
          </a:solidFill>
          <a:ln cap="flat" cmpd="sng" w="11925">
            <a:solidFill>
              <a:schemeClr val="dk2"/>
            </a:solidFill>
            <a:prstDash val="solid"/>
            <a:round/>
            <a:headEnd len="sm" w="sm" type="none"/>
            <a:tailEnd len="sm" w="sm" type="none"/>
          </a:ln>
        </p:spPr>
        <p:txBody>
          <a:bodyPr anchorCtr="0" anchor="ctr" bIns="114400" lIns="114400" spcFirstLastPara="1" rIns="114400" wrap="square" tIns="114400">
            <a:noAutofit/>
          </a:bodyPr>
          <a:lstStyle/>
          <a:p>
            <a:pPr indent="0" lvl="0" marL="0" rtl="0" algn="ctr">
              <a:spcBef>
                <a:spcPts val="0"/>
              </a:spcBef>
              <a:spcAft>
                <a:spcPts val="0"/>
              </a:spcAft>
              <a:buNone/>
            </a:pPr>
            <a:r>
              <a:t/>
            </a:r>
            <a:endParaRPr sz="1752">
              <a:latin typeface="Red Hat Display"/>
              <a:ea typeface="Red Hat Display"/>
              <a:cs typeface="Red Hat Display"/>
              <a:sym typeface="Red Hat Display"/>
            </a:endParaRPr>
          </a:p>
        </p:txBody>
      </p:sp>
      <p:sp>
        <p:nvSpPr>
          <p:cNvPr id="668" name="Google Shape;668;p48"/>
          <p:cNvSpPr txBox="1"/>
          <p:nvPr/>
        </p:nvSpPr>
        <p:spPr>
          <a:xfrm>
            <a:off x="3536988" y="3698238"/>
            <a:ext cx="1399500" cy="1072800"/>
          </a:xfrm>
          <a:prstGeom prst="rect">
            <a:avLst/>
          </a:prstGeom>
          <a:noFill/>
          <a:ln>
            <a:noFill/>
          </a:ln>
        </p:spPr>
        <p:txBody>
          <a:bodyPr anchorCtr="0" anchor="t" bIns="114400" lIns="114400" spcFirstLastPara="1" rIns="114400" wrap="square" tIns="114400">
            <a:noAutofit/>
          </a:bodyPr>
          <a:lstStyle/>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icustays</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stay_id</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first_careunit</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los</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outime</a:t>
            </a:r>
            <a:endParaRPr sz="1126">
              <a:solidFill>
                <a:schemeClr val="lt1"/>
              </a:solidFill>
              <a:latin typeface="Red Hat Display"/>
              <a:ea typeface="Red Hat Display"/>
              <a:cs typeface="Red Hat Display"/>
              <a:sym typeface="Red Hat Display"/>
            </a:endParaRPr>
          </a:p>
        </p:txBody>
      </p:sp>
      <p:cxnSp>
        <p:nvCxnSpPr>
          <p:cNvPr id="669" name="Google Shape;669;p48"/>
          <p:cNvCxnSpPr/>
          <p:nvPr/>
        </p:nvCxnSpPr>
        <p:spPr>
          <a:xfrm>
            <a:off x="3529347" y="4054171"/>
            <a:ext cx="1260300" cy="4800"/>
          </a:xfrm>
          <a:prstGeom prst="straightConnector1">
            <a:avLst/>
          </a:prstGeom>
          <a:noFill/>
          <a:ln cap="flat" cmpd="sng" w="11925">
            <a:solidFill>
              <a:schemeClr val="dk2"/>
            </a:solidFill>
            <a:prstDash val="solid"/>
            <a:round/>
            <a:headEnd len="med" w="med" type="none"/>
            <a:tailEnd len="med" w="med" type="none"/>
          </a:ln>
        </p:spPr>
      </p:cxnSp>
      <p:sp>
        <p:nvSpPr>
          <p:cNvPr id="670" name="Google Shape;670;p48"/>
          <p:cNvSpPr txBox="1"/>
          <p:nvPr>
            <p:ph type="title"/>
          </p:nvPr>
        </p:nvSpPr>
        <p:spPr>
          <a:xfrm>
            <a:off x="509250" y="2956788"/>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Attributes</a:t>
            </a:r>
            <a:endParaRPr/>
          </a:p>
        </p:txBody>
      </p:sp>
      <p:sp>
        <p:nvSpPr>
          <p:cNvPr id="671" name="Google Shape;671;p48"/>
          <p:cNvSpPr txBox="1"/>
          <p:nvPr/>
        </p:nvSpPr>
        <p:spPr>
          <a:xfrm>
            <a:off x="6498200" y="3392000"/>
            <a:ext cx="2316600" cy="1385400"/>
          </a:xfrm>
          <a:prstGeom prst="rect">
            <a:avLst/>
          </a:prstGeom>
          <a:noFill/>
          <a:ln>
            <a:noFill/>
          </a:ln>
        </p:spPr>
        <p:txBody>
          <a:bodyPr anchorCtr="0" anchor="t" bIns="0" lIns="0" spcFirstLastPara="1" rIns="0" wrap="square" tIns="0">
            <a:spAutoFit/>
          </a:bodyPr>
          <a:lstStyle/>
          <a:p>
            <a:pPr indent="-292100" lvl="0" marL="457200" rtl="0" algn="l">
              <a:lnSpc>
                <a:spcPct val="100000"/>
              </a:lnSpc>
              <a:spcBef>
                <a:spcPts val="0"/>
              </a:spcBef>
              <a:spcAft>
                <a:spcPts val="0"/>
              </a:spcAft>
              <a:buClr>
                <a:schemeClr val="lt1"/>
              </a:buClr>
              <a:buSzPts val="1000"/>
              <a:buFont typeface="Red Hat Display SemiBold"/>
              <a:buChar char="●"/>
            </a:pPr>
            <a:r>
              <a:rPr lang="en" sz="1000">
                <a:solidFill>
                  <a:schemeClr val="lt1"/>
                </a:solidFill>
                <a:latin typeface="Red Hat Display SemiBold"/>
                <a:ea typeface="Red Hat Display SemiBold"/>
                <a:cs typeface="Red Hat Display SemiBold"/>
                <a:sym typeface="Red Hat Display SemiBold"/>
              </a:rPr>
              <a:t>MMIC is updated every few years, but real world database grows exponentially every hour</a:t>
            </a:r>
            <a:endParaRPr sz="1000">
              <a:solidFill>
                <a:schemeClr val="lt1"/>
              </a:solidFill>
              <a:latin typeface="Red Hat Display SemiBold"/>
              <a:ea typeface="Red Hat Display SemiBold"/>
              <a:cs typeface="Red Hat Display SemiBold"/>
              <a:sym typeface="Red Hat Display SemiBold"/>
            </a:endParaRPr>
          </a:p>
          <a:p>
            <a:pPr indent="0" lvl="0" marL="457200" rtl="0" algn="l">
              <a:lnSpc>
                <a:spcPct val="10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a:p>
            <a:pPr indent="-292100" lvl="0" marL="457200" rtl="0" algn="l">
              <a:lnSpc>
                <a:spcPct val="100000"/>
              </a:lnSpc>
              <a:spcBef>
                <a:spcPts val="0"/>
              </a:spcBef>
              <a:spcAft>
                <a:spcPts val="0"/>
              </a:spcAft>
              <a:buClr>
                <a:schemeClr val="lt1"/>
              </a:buClr>
              <a:buSzPts val="1000"/>
              <a:buFont typeface="Red Hat Display SemiBold"/>
              <a:buChar char="●"/>
            </a:pPr>
            <a:r>
              <a:rPr lang="en" sz="1000">
                <a:solidFill>
                  <a:schemeClr val="lt1"/>
                </a:solidFill>
                <a:latin typeface="Red Hat Display SemiBold"/>
                <a:ea typeface="Red Hat Display SemiBold"/>
                <a:cs typeface="Red Hat Display SemiBold"/>
                <a:sym typeface="Red Hat Display SemiBold"/>
              </a:rPr>
              <a:t>Every record does not need an attribute (Ex: every patient doesn’t need a prescription)</a:t>
            </a:r>
            <a:endParaRPr sz="1000">
              <a:solidFill>
                <a:schemeClr val="lt1"/>
              </a:solidFill>
              <a:latin typeface="Red Hat Display SemiBold"/>
              <a:ea typeface="Red Hat Display SemiBold"/>
              <a:cs typeface="Red Hat Display SemiBold"/>
              <a:sym typeface="Red Hat Display SemiBold"/>
            </a:endParaRPr>
          </a:p>
          <a:p>
            <a:pPr indent="0" lvl="0" marL="457200" rtl="0" algn="l">
              <a:lnSpc>
                <a:spcPct val="10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a:p>
            <a:pPr indent="-292100" lvl="0" marL="457200" rtl="0" algn="l">
              <a:lnSpc>
                <a:spcPct val="100000"/>
              </a:lnSpc>
              <a:spcBef>
                <a:spcPts val="0"/>
              </a:spcBef>
              <a:spcAft>
                <a:spcPts val="0"/>
              </a:spcAft>
              <a:buClr>
                <a:schemeClr val="lt1"/>
              </a:buClr>
              <a:buSzPts val="1000"/>
              <a:buFont typeface="Red Hat Display SemiBold"/>
              <a:buChar char="●"/>
            </a:pPr>
            <a:r>
              <a:rPr lang="en" sz="1000">
                <a:solidFill>
                  <a:schemeClr val="lt1"/>
                </a:solidFill>
                <a:latin typeface="Red Hat Display SemiBold"/>
                <a:ea typeface="Red Hat Display SemiBold"/>
                <a:cs typeface="Red Hat Display SemiBold"/>
                <a:sym typeface="Red Hat Display SemiBold"/>
              </a:rPr>
              <a:t>Attributes vary in types</a:t>
            </a:r>
            <a:endParaRPr sz="1000">
              <a:solidFill>
                <a:schemeClr val="lt1"/>
              </a:solidFill>
              <a:latin typeface="Red Hat Display SemiBold"/>
              <a:ea typeface="Red Hat Display SemiBold"/>
              <a:cs typeface="Red Hat Display SemiBold"/>
              <a:sym typeface="Red Hat Display SemiBold"/>
            </a:endParaRPr>
          </a:p>
        </p:txBody>
      </p:sp>
      <p:sp>
        <p:nvSpPr>
          <p:cNvPr id="672" name="Google Shape;672;p48"/>
          <p:cNvSpPr/>
          <p:nvPr/>
        </p:nvSpPr>
        <p:spPr>
          <a:xfrm>
            <a:off x="5006653" y="3738640"/>
            <a:ext cx="1260300" cy="1201800"/>
          </a:xfrm>
          <a:prstGeom prst="snip1Rect">
            <a:avLst>
              <a:gd fmla="val 16667" name="adj"/>
            </a:avLst>
          </a:prstGeom>
          <a:solidFill>
            <a:schemeClr val="accent6"/>
          </a:solidFill>
          <a:ln cap="flat" cmpd="sng" w="11925">
            <a:solidFill>
              <a:schemeClr val="dk2"/>
            </a:solidFill>
            <a:prstDash val="solid"/>
            <a:round/>
            <a:headEnd len="sm" w="sm" type="none"/>
            <a:tailEnd len="sm" w="sm" type="none"/>
          </a:ln>
        </p:spPr>
        <p:txBody>
          <a:bodyPr anchorCtr="0" anchor="ctr" bIns="114400" lIns="114400" spcFirstLastPara="1" rIns="114400" wrap="square" tIns="114400">
            <a:noAutofit/>
          </a:bodyPr>
          <a:lstStyle/>
          <a:p>
            <a:pPr indent="0" lvl="0" marL="0" rtl="0" algn="ctr">
              <a:spcBef>
                <a:spcPts val="0"/>
              </a:spcBef>
              <a:spcAft>
                <a:spcPts val="0"/>
              </a:spcAft>
              <a:buNone/>
            </a:pPr>
            <a:r>
              <a:t/>
            </a:r>
            <a:endParaRPr sz="1752">
              <a:latin typeface="Red Hat Display"/>
              <a:ea typeface="Red Hat Display"/>
              <a:cs typeface="Red Hat Display"/>
              <a:sym typeface="Red Hat Display"/>
            </a:endParaRPr>
          </a:p>
        </p:txBody>
      </p:sp>
      <p:sp>
        <p:nvSpPr>
          <p:cNvPr id="673" name="Google Shape;673;p48"/>
          <p:cNvSpPr txBox="1"/>
          <p:nvPr/>
        </p:nvSpPr>
        <p:spPr>
          <a:xfrm>
            <a:off x="5049822" y="3682413"/>
            <a:ext cx="1104300" cy="1072800"/>
          </a:xfrm>
          <a:prstGeom prst="rect">
            <a:avLst/>
          </a:prstGeom>
          <a:noFill/>
          <a:ln>
            <a:noFill/>
          </a:ln>
        </p:spPr>
        <p:txBody>
          <a:bodyPr anchorCtr="0" anchor="t" bIns="114400" lIns="114400" spcFirstLastPara="1" rIns="114400" wrap="square" tIns="114400">
            <a:noAutofit/>
          </a:bodyPr>
          <a:lstStyle/>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prescription</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drug</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route</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drug_type</a:t>
            </a:r>
            <a:endParaRPr sz="1126">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126">
                <a:solidFill>
                  <a:schemeClr val="lt1"/>
                </a:solidFill>
                <a:latin typeface="Red Hat Display"/>
                <a:ea typeface="Red Hat Display"/>
                <a:cs typeface="Red Hat Display"/>
                <a:sym typeface="Red Hat Display"/>
              </a:rPr>
              <a:t>drug_val_rx </a:t>
            </a:r>
            <a:endParaRPr sz="1126">
              <a:solidFill>
                <a:schemeClr val="lt1"/>
              </a:solidFill>
              <a:latin typeface="Red Hat Display"/>
              <a:ea typeface="Red Hat Display"/>
              <a:cs typeface="Red Hat Display"/>
              <a:sym typeface="Red Hat Display"/>
            </a:endParaRPr>
          </a:p>
        </p:txBody>
      </p:sp>
      <p:cxnSp>
        <p:nvCxnSpPr>
          <p:cNvPr id="674" name="Google Shape;674;p48"/>
          <p:cNvCxnSpPr/>
          <p:nvPr/>
        </p:nvCxnSpPr>
        <p:spPr>
          <a:xfrm flipH="1" rot="10800000">
            <a:off x="5003650" y="4083946"/>
            <a:ext cx="1272900" cy="1500"/>
          </a:xfrm>
          <a:prstGeom prst="straightConnector1">
            <a:avLst/>
          </a:prstGeom>
          <a:noFill/>
          <a:ln cap="flat" cmpd="sng" w="11925">
            <a:solidFill>
              <a:schemeClr val="dk2"/>
            </a:solidFill>
            <a:prstDash val="solid"/>
            <a:round/>
            <a:headEnd len="med" w="med" type="none"/>
            <a:tailEnd len="med" w="med" type="none"/>
          </a:ln>
        </p:spPr>
      </p:cxnSp>
      <p:sp>
        <p:nvSpPr>
          <p:cNvPr id="675" name="Google Shape;675;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6" name="Google Shape;676;p48"/>
          <p:cNvSpPr txBox="1"/>
          <p:nvPr>
            <p:ph type="title"/>
          </p:nvPr>
        </p:nvSpPr>
        <p:spPr>
          <a:xfrm>
            <a:off x="6699550" y="2930300"/>
            <a:ext cx="1824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Scale &amp; Growth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9"/>
          <p:cNvSpPr/>
          <p:nvPr/>
        </p:nvSpPr>
        <p:spPr>
          <a:xfrm>
            <a:off x="291800" y="1011425"/>
            <a:ext cx="1809300" cy="6657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82" name="Google Shape;682;p49"/>
          <p:cNvSpPr/>
          <p:nvPr/>
        </p:nvSpPr>
        <p:spPr>
          <a:xfrm>
            <a:off x="2423700" y="590475"/>
            <a:ext cx="2000400" cy="8313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83" name="Google Shape;683;p49"/>
          <p:cNvSpPr/>
          <p:nvPr/>
        </p:nvSpPr>
        <p:spPr>
          <a:xfrm>
            <a:off x="4843688" y="557175"/>
            <a:ext cx="2000400" cy="7389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84" name="Google Shape;684;p49"/>
          <p:cNvSpPr/>
          <p:nvPr/>
        </p:nvSpPr>
        <p:spPr>
          <a:xfrm>
            <a:off x="7079750" y="556675"/>
            <a:ext cx="1881600" cy="7389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685" name="Google Shape;685;p49"/>
          <p:cNvSpPr txBox="1"/>
          <p:nvPr/>
        </p:nvSpPr>
        <p:spPr>
          <a:xfrm>
            <a:off x="331100" y="3681450"/>
            <a:ext cx="2146200" cy="8313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900">
                <a:solidFill>
                  <a:schemeClr val="lt2"/>
                </a:solidFill>
                <a:latin typeface="Red Hat Display"/>
                <a:ea typeface="Red Hat Display"/>
                <a:cs typeface="Red Hat Display"/>
                <a:sym typeface="Red Hat Display"/>
              </a:rPr>
              <a:t>Evolution</a:t>
            </a:r>
            <a:endParaRPr sz="9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t/>
            </a:r>
            <a:endParaRPr sz="8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rPr lang="en" sz="1000">
                <a:solidFill>
                  <a:srgbClr val="C2C0B6"/>
                </a:solidFill>
              </a:rPr>
              <a:t>Starts as ad hoc audits → becomes standing shift dashboards → expands to predictive flagging as more data sources (labs, vitals) are added. Higher adoption will require precomputed aggregates for performance.</a:t>
            </a:r>
            <a:r>
              <a:rPr lang="en" sz="1100"/>
              <a:t> </a:t>
            </a:r>
            <a:endParaRPr sz="800">
              <a:solidFill>
                <a:schemeClr val="lt2"/>
              </a:solidFill>
              <a:latin typeface="Red Hat Display"/>
              <a:ea typeface="Red Hat Display"/>
              <a:cs typeface="Red Hat Display"/>
              <a:sym typeface="Red Hat Display"/>
            </a:endParaRPr>
          </a:p>
        </p:txBody>
      </p:sp>
      <p:sp>
        <p:nvSpPr>
          <p:cNvPr id="686" name="Google Shape;686;p49"/>
          <p:cNvSpPr txBox="1"/>
          <p:nvPr>
            <p:ph type="title"/>
          </p:nvPr>
        </p:nvSpPr>
        <p:spPr>
          <a:xfrm>
            <a:off x="603150" y="496225"/>
            <a:ext cx="13437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Use Cases</a:t>
            </a:r>
            <a:endParaRPr/>
          </a:p>
        </p:txBody>
      </p:sp>
      <p:sp>
        <p:nvSpPr>
          <p:cNvPr id="687" name="Google Shape;687;p49"/>
          <p:cNvSpPr txBox="1"/>
          <p:nvPr>
            <p:ph idx="1" type="subTitle"/>
          </p:nvPr>
        </p:nvSpPr>
        <p:spPr>
          <a:xfrm>
            <a:off x="309600" y="178125"/>
            <a:ext cx="8524800" cy="264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These four use cases reuse core identifiers (`subject_id`, `hadm_id`, `stay_id`) and rely on a compact set of event, dictionary, and flow tables. This keeps the schema manageable while still enabling medication safety, ICU risk analysis, utilization planning, and flow optimization.</a:t>
            </a:r>
            <a:endParaRPr/>
          </a:p>
        </p:txBody>
      </p:sp>
      <p:sp>
        <p:nvSpPr>
          <p:cNvPr id="688" name="Google Shape;688;p49"/>
          <p:cNvSpPr txBox="1"/>
          <p:nvPr>
            <p:ph idx="2" type="subTitle"/>
          </p:nvPr>
        </p:nvSpPr>
        <p:spPr>
          <a:xfrm>
            <a:off x="446000" y="1055225"/>
            <a:ext cx="1500900" cy="578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Medication Administration Safety and Reconciliation - </a:t>
            </a:r>
            <a:r>
              <a:rPr lang="en" sz="800">
                <a:solidFill>
                  <a:schemeClr val="accent6"/>
                </a:solidFill>
              </a:rPr>
              <a:t>HIGH FREQUENCY</a:t>
            </a:r>
            <a:endParaRPr sz="800">
              <a:solidFill>
                <a:schemeClr val="accent6"/>
              </a:solidFill>
            </a:endParaRPr>
          </a:p>
        </p:txBody>
      </p:sp>
      <p:sp>
        <p:nvSpPr>
          <p:cNvPr id="689" name="Google Shape;689;p49"/>
          <p:cNvSpPr txBox="1"/>
          <p:nvPr>
            <p:ph idx="3" type="subTitle"/>
          </p:nvPr>
        </p:nvSpPr>
        <p:spPr>
          <a:xfrm>
            <a:off x="2639250" y="714150"/>
            <a:ext cx="1573500" cy="665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ICU Early Warning and Length-of-Stay Prediction - </a:t>
            </a:r>
            <a:r>
              <a:rPr lang="en" sz="800">
                <a:solidFill>
                  <a:schemeClr val="accent6"/>
                </a:solidFill>
              </a:rPr>
              <a:t>Ad hoc (research) → extreme volume if live</a:t>
            </a:r>
            <a:endParaRPr sz="800">
              <a:solidFill>
                <a:schemeClr val="accent6"/>
              </a:solidFill>
            </a:endParaRPr>
          </a:p>
          <a:p>
            <a:pPr indent="0" lvl="0" marL="0" rtl="0" algn="ctr">
              <a:spcBef>
                <a:spcPts val="0"/>
              </a:spcBef>
              <a:spcAft>
                <a:spcPts val="0"/>
              </a:spcAft>
              <a:buNone/>
            </a:pPr>
            <a:r>
              <a:t/>
            </a:r>
            <a:endParaRPr/>
          </a:p>
        </p:txBody>
      </p:sp>
      <p:sp>
        <p:nvSpPr>
          <p:cNvPr id="690" name="Google Shape;690;p49"/>
          <p:cNvSpPr txBox="1"/>
          <p:nvPr>
            <p:ph idx="4" type="subTitle"/>
          </p:nvPr>
        </p:nvSpPr>
        <p:spPr>
          <a:xfrm>
            <a:off x="5099476" y="557163"/>
            <a:ext cx="1573500" cy="7389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Utilization &amp; discharge planning by demographics   </a:t>
            </a:r>
            <a:r>
              <a:rPr lang="en" sz="800">
                <a:solidFill>
                  <a:schemeClr val="accent6"/>
                </a:solidFill>
              </a:rPr>
              <a:t>Moderate frequency — periodic reporting</a:t>
            </a:r>
            <a:endParaRPr sz="800">
              <a:solidFill>
                <a:schemeClr val="accent6"/>
              </a:solidFill>
            </a:endParaRPr>
          </a:p>
        </p:txBody>
      </p:sp>
      <p:sp>
        <p:nvSpPr>
          <p:cNvPr id="691" name="Google Shape;691;p49"/>
          <p:cNvSpPr txBox="1"/>
          <p:nvPr>
            <p:ph idx="5" type="subTitle"/>
          </p:nvPr>
        </p:nvSpPr>
        <p:spPr>
          <a:xfrm>
            <a:off x="7234100" y="624825"/>
            <a:ext cx="1422000" cy="5781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Hospital flow &amp; transfer bottlenecks - </a:t>
            </a:r>
            <a:r>
              <a:rPr lang="en" sz="800">
                <a:solidFill>
                  <a:schemeClr val="accent6"/>
                </a:solidFill>
              </a:rPr>
              <a:t>Moderate frequency — operational reviews</a:t>
            </a:r>
            <a:endParaRPr sz="800">
              <a:solidFill>
                <a:schemeClr val="accent6"/>
              </a:solidFill>
            </a:endParaRPr>
          </a:p>
        </p:txBody>
      </p:sp>
      <p:sp>
        <p:nvSpPr>
          <p:cNvPr id="692" name="Google Shape;692;p49"/>
          <p:cNvSpPr txBox="1"/>
          <p:nvPr>
            <p:ph idx="7" type="body"/>
          </p:nvPr>
        </p:nvSpPr>
        <p:spPr>
          <a:xfrm>
            <a:off x="331100" y="1734300"/>
            <a:ext cx="1730700" cy="1662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Goals</a:t>
            </a:r>
            <a:endParaRPr/>
          </a:p>
          <a:p>
            <a:pPr indent="-285750" lvl="0" marL="457200" rtl="0" algn="l">
              <a:spcBef>
                <a:spcPts val="0"/>
              </a:spcBef>
              <a:spcAft>
                <a:spcPts val="0"/>
              </a:spcAft>
              <a:buSzPts val="900"/>
              <a:buChar char="●"/>
            </a:pPr>
            <a:r>
              <a:rPr lang="en"/>
              <a:t>Catch dose mismatches, omissions, and administration delays</a:t>
            </a:r>
            <a:endParaRPr/>
          </a:p>
          <a:p>
            <a:pPr indent="0" lvl="0" marL="0" rtl="0" algn="l">
              <a:spcBef>
                <a:spcPts val="0"/>
              </a:spcBef>
              <a:spcAft>
                <a:spcPts val="0"/>
              </a:spcAft>
              <a:buNone/>
            </a:pPr>
            <a:r>
              <a:rPr lang="en"/>
              <a:t>Outputs:</a:t>
            </a:r>
            <a:endParaRPr/>
          </a:p>
          <a:p>
            <a:pPr indent="-285750" lvl="0" marL="457200" rtl="0" algn="l">
              <a:spcBef>
                <a:spcPts val="0"/>
              </a:spcBef>
              <a:spcAft>
                <a:spcPts val="0"/>
              </a:spcAft>
              <a:buSzPts val="900"/>
              <a:buChar char="●"/>
            </a:pPr>
            <a:r>
              <a:rPr lang="en"/>
              <a:t>Safety dashboard per patient; high-risk medication list</a:t>
            </a:r>
            <a:endParaRPr/>
          </a:p>
          <a:p>
            <a:pPr indent="0" lvl="0" marL="0" rtl="0" algn="l">
              <a:spcBef>
                <a:spcPts val="0"/>
              </a:spcBef>
              <a:spcAft>
                <a:spcPts val="0"/>
              </a:spcAft>
              <a:buNone/>
            </a:pPr>
            <a:r>
              <a:rPr lang="en"/>
              <a:t>Tables:</a:t>
            </a:r>
            <a:endParaRPr/>
          </a:p>
          <a:p>
            <a:pPr indent="-285750" lvl="0" marL="457200" rtl="0" algn="l">
              <a:spcBef>
                <a:spcPts val="0"/>
              </a:spcBef>
              <a:spcAft>
                <a:spcPts val="0"/>
              </a:spcAft>
              <a:buSzPts val="900"/>
              <a:buFont typeface="Roboto"/>
              <a:buChar char="●"/>
            </a:pPr>
            <a:r>
              <a:rPr lang="en">
                <a:latin typeface="Roboto"/>
                <a:ea typeface="Roboto"/>
                <a:cs typeface="Roboto"/>
                <a:sym typeface="Roboto"/>
              </a:rPr>
              <a:t>emar, emar_detail, prescriptions, admissions, patients</a:t>
            </a:r>
            <a:endParaRPr>
              <a:latin typeface="Roboto"/>
              <a:ea typeface="Roboto"/>
              <a:cs typeface="Roboto"/>
              <a:sym typeface="Roboto"/>
            </a:endParaRPr>
          </a:p>
        </p:txBody>
      </p:sp>
      <p:sp>
        <p:nvSpPr>
          <p:cNvPr id="693" name="Google Shape;693;p49"/>
          <p:cNvSpPr txBox="1"/>
          <p:nvPr>
            <p:ph idx="8" type="body"/>
          </p:nvPr>
        </p:nvSpPr>
        <p:spPr>
          <a:xfrm>
            <a:off x="2639289" y="1462375"/>
            <a:ext cx="1730700" cy="1662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Goal:</a:t>
            </a:r>
            <a:endParaRPr/>
          </a:p>
          <a:p>
            <a:pPr indent="-285750" lvl="0" marL="457200" rtl="0" algn="l">
              <a:spcBef>
                <a:spcPts val="0"/>
              </a:spcBef>
              <a:spcAft>
                <a:spcPts val="0"/>
              </a:spcAft>
              <a:buSzPts val="900"/>
              <a:buChar char="●"/>
            </a:pPr>
            <a:r>
              <a:rPr lang="en"/>
              <a:t>Use early ICU vitals and labs to flag patients at risk of prolonged stays</a:t>
            </a:r>
            <a:endParaRPr/>
          </a:p>
          <a:p>
            <a:pPr indent="0" lvl="0" marL="0" rtl="0" algn="l">
              <a:spcBef>
                <a:spcPts val="0"/>
              </a:spcBef>
              <a:spcAft>
                <a:spcPts val="0"/>
              </a:spcAft>
              <a:buNone/>
            </a:pPr>
            <a:r>
              <a:rPr lang="en"/>
              <a:t>Outputs:</a:t>
            </a:r>
            <a:endParaRPr/>
          </a:p>
          <a:p>
            <a:pPr indent="-285750" lvl="0" marL="457200" rtl="0" algn="l">
              <a:spcBef>
                <a:spcPts val="0"/>
              </a:spcBef>
              <a:spcAft>
                <a:spcPts val="0"/>
              </a:spcAft>
              <a:buSzPts val="900"/>
              <a:buChar char="●"/>
            </a:pPr>
            <a:r>
              <a:rPr lang="en"/>
              <a:t>Risk tier labels (short / medium / prolonged); early warning indicator thresholds</a:t>
            </a:r>
            <a:endParaRPr/>
          </a:p>
          <a:p>
            <a:pPr indent="0" lvl="0" marL="0" rtl="0" algn="l">
              <a:spcBef>
                <a:spcPts val="0"/>
              </a:spcBef>
              <a:spcAft>
                <a:spcPts val="0"/>
              </a:spcAft>
              <a:buNone/>
            </a:pPr>
            <a:r>
              <a:rPr lang="en"/>
              <a:t>Example Analysis:</a:t>
            </a:r>
            <a:endParaRPr/>
          </a:p>
          <a:p>
            <a:pPr indent="-285750" lvl="0" marL="457200" rtl="0" algn="l">
              <a:spcBef>
                <a:spcPts val="0"/>
              </a:spcBef>
              <a:spcAft>
                <a:spcPts val="0"/>
              </a:spcAft>
              <a:buSzPts val="900"/>
              <a:buChar char="●"/>
            </a:pPr>
            <a:r>
              <a:rPr lang="en"/>
              <a:t>ICU length of stay prediction</a:t>
            </a:r>
            <a:endParaRPr/>
          </a:p>
        </p:txBody>
      </p:sp>
      <p:sp>
        <p:nvSpPr>
          <p:cNvPr id="694" name="Google Shape;694;p49"/>
          <p:cNvSpPr txBox="1"/>
          <p:nvPr>
            <p:ph idx="9" type="body"/>
          </p:nvPr>
        </p:nvSpPr>
        <p:spPr>
          <a:xfrm>
            <a:off x="5034788" y="1375213"/>
            <a:ext cx="1809300" cy="2078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Goal:</a:t>
            </a:r>
            <a:endParaRPr/>
          </a:p>
          <a:p>
            <a:pPr indent="-285750" lvl="0" marL="457200" rtl="0" algn="l">
              <a:spcBef>
                <a:spcPts val="0"/>
              </a:spcBef>
              <a:spcAft>
                <a:spcPts val="0"/>
              </a:spcAft>
              <a:buSzPts val="900"/>
              <a:buChar char="●"/>
            </a:pPr>
            <a:r>
              <a:rPr lang="en"/>
              <a:t>Explain how demographics and admission context relate to utilization patterns and discharge outcomes</a:t>
            </a:r>
            <a:endParaRPr/>
          </a:p>
          <a:p>
            <a:pPr indent="0" lvl="0" marL="0" rtl="0" algn="l">
              <a:spcBef>
                <a:spcPts val="0"/>
              </a:spcBef>
              <a:spcAft>
                <a:spcPts val="0"/>
              </a:spcAft>
              <a:buNone/>
            </a:pPr>
            <a:r>
              <a:rPr lang="en"/>
              <a:t>Outputs:</a:t>
            </a:r>
            <a:endParaRPr/>
          </a:p>
          <a:p>
            <a:pPr indent="-285750" lvl="0" marL="457200" rtl="0" algn="l">
              <a:spcBef>
                <a:spcPts val="0"/>
              </a:spcBef>
              <a:spcAft>
                <a:spcPts val="0"/>
              </a:spcAft>
              <a:buSzPts val="900"/>
              <a:buChar char="●"/>
            </a:pPr>
            <a:r>
              <a:rPr lang="en"/>
              <a:t>Utilization report by payer and age group; discharge destination breakdown with ICU exposure</a:t>
            </a:r>
            <a:r>
              <a:rPr lang="en"/>
              <a:t> </a:t>
            </a:r>
            <a:endParaRPr/>
          </a:p>
          <a:p>
            <a:pPr indent="0" lvl="0" marL="0" rtl="0" algn="l">
              <a:spcBef>
                <a:spcPts val="0"/>
              </a:spcBef>
              <a:spcAft>
                <a:spcPts val="0"/>
              </a:spcAft>
              <a:buNone/>
            </a:pPr>
            <a:r>
              <a:rPr lang="en"/>
              <a:t>Tables: </a:t>
            </a:r>
            <a:endParaRPr/>
          </a:p>
          <a:p>
            <a:pPr indent="-285750" lvl="0" marL="457200" rtl="0" algn="l">
              <a:spcBef>
                <a:spcPts val="0"/>
              </a:spcBef>
              <a:spcAft>
                <a:spcPts val="0"/>
              </a:spcAft>
              <a:buSzPts val="900"/>
              <a:buFont typeface="Roboto"/>
              <a:buChar char="●"/>
            </a:pPr>
            <a:r>
              <a:rPr lang="en">
                <a:latin typeface="Roboto"/>
                <a:ea typeface="Roboto"/>
                <a:cs typeface="Roboto"/>
                <a:sym typeface="Roboto"/>
              </a:rPr>
              <a:t>patients, admissions, icustays, services, transfers</a:t>
            </a:r>
            <a:endParaRPr>
              <a:latin typeface="Roboto"/>
              <a:ea typeface="Roboto"/>
              <a:cs typeface="Roboto"/>
              <a:sym typeface="Roboto"/>
            </a:endParaRPr>
          </a:p>
        </p:txBody>
      </p:sp>
      <p:sp>
        <p:nvSpPr>
          <p:cNvPr id="695" name="Google Shape;695;p49"/>
          <p:cNvSpPr txBox="1"/>
          <p:nvPr>
            <p:ph idx="13" type="body"/>
          </p:nvPr>
        </p:nvSpPr>
        <p:spPr>
          <a:xfrm>
            <a:off x="7221050" y="1397775"/>
            <a:ext cx="1730700" cy="1662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Goal:</a:t>
            </a:r>
            <a:endParaRPr/>
          </a:p>
          <a:p>
            <a:pPr indent="-285750" lvl="0" marL="457200" rtl="0" algn="l">
              <a:spcBef>
                <a:spcPts val="0"/>
              </a:spcBef>
              <a:spcAft>
                <a:spcPts val="0"/>
              </a:spcAft>
              <a:buSzPts val="900"/>
              <a:buChar char="●"/>
            </a:pPr>
            <a:r>
              <a:rPr lang="en"/>
              <a:t>Identify unit-level bottlenecks and delays in patient movement</a:t>
            </a:r>
            <a:endParaRPr/>
          </a:p>
          <a:p>
            <a:pPr indent="0" lvl="0" marL="0" rtl="0" algn="l">
              <a:spcBef>
                <a:spcPts val="0"/>
              </a:spcBef>
              <a:spcAft>
                <a:spcPts val="0"/>
              </a:spcAft>
              <a:buNone/>
            </a:pPr>
            <a:r>
              <a:rPr lang="en"/>
              <a:t>Outputs:</a:t>
            </a:r>
            <a:endParaRPr/>
          </a:p>
          <a:p>
            <a:pPr indent="-285750" lvl="0" marL="457200" rtl="0" algn="l">
              <a:spcBef>
                <a:spcPts val="0"/>
              </a:spcBef>
              <a:spcAft>
                <a:spcPts val="0"/>
              </a:spcAft>
              <a:buSzPts val="900"/>
              <a:buChar char="●"/>
            </a:pPr>
            <a:r>
              <a:rPr lang="en"/>
              <a:t>Flow map of transitions (ED → ICU → floor); bottleneck report by care unit and service</a:t>
            </a:r>
            <a:endParaRPr/>
          </a:p>
          <a:p>
            <a:pPr indent="0" lvl="0" marL="0" rtl="0" algn="l">
              <a:spcBef>
                <a:spcPts val="0"/>
              </a:spcBef>
              <a:spcAft>
                <a:spcPts val="0"/>
              </a:spcAft>
              <a:buNone/>
            </a:pPr>
            <a:r>
              <a:rPr lang="en"/>
              <a:t>Tables:</a:t>
            </a:r>
            <a:endParaRPr/>
          </a:p>
          <a:p>
            <a:pPr indent="-285750" lvl="0" marL="457200" rtl="0" algn="l">
              <a:spcBef>
                <a:spcPts val="0"/>
              </a:spcBef>
              <a:spcAft>
                <a:spcPts val="0"/>
              </a:spcAft>
              <a:buSzPts val="900"/>
              <a:buFont typeface="Roboto"/>
              <a:buChar char="●"/>
            </a:pPr>
            <a:r>
              <a:rPr lang="en">
                <a:latin typeface="Roboto"/>
                <a:ea typeface="Roboto"/>
                <a:cs typeface="Roboto"/>
                <a:sym typeface="Roboto"/>
              </a:rPr>
              <a:t>admissions, transfers, services, icustays</a:t>
            </a:r>
            <a:endParaRPr>
              <a:latin typeface="Roboto"/>
              <a:ea typeface="Roboto"/>
              <a:cs typeface="Roboto"/>
              <a:sym typeface="Roboto"/>
            </a:endParaRPr>
          </a:p>
        </p:txBody>
      </p:sp>
      <p:sp>
        <p:nvSpPr>
          <p:cNvPr id="696" name="Google Shape;696;p49"/>
          <p:cNvSpPr txBox="1"/>
          <p:nvPr/>
        </p:nvSpPr>
        <p:spPr>
          <a:xfrm>
            <a:off x="2639300" y="3377500"/>
            <a:ext cx="2337900" cy="11895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900">
                <a:solidFill>
                  <a:schemeClr val="lt2"/>
                </a:solidFill>
                <a:latin typeface="Red Hat Display"/>
                <a:ea typeface="Red Hat Display"/>
                <a:cs typeface="Red Hat Display"/>
                <a:sym typeface="Red Hat Display"/>
              </a:rPr>
              <a:t>Evolution</a:t>
            </a:r>
            <a:endParaRPr sz="9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t/>
            </a:r>
            <a:endParaRPr sz="8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rPr lang="en" sz="1000">
                <a:solidFill>
                  <a:srgbClr val="C2C0B6"/>
                </a:solidFill>
              </a:rPr>
              <a:t>Currently ad hoc for research and model development. If deployed clinically, patients generate thousands of data points per hour — queries shift from batch analysis to a continuous live warning system, demanding real-time pipeline infrastructure.</a:t>
            </a:r>
            <a:r>
              <a:rPr lang="en" sz="1100"/>
              <a:t> </a:t>
            </a:r>
            <a:endParaRPr sz="800">
              <a:solidFill>
                <a:schemeClr val="lt2"/>
              </a:solidFill>
              <a:latin typeface="Red Hat Display"/>
              <a:ea typeface="Red Hat Display"/>
              <a:cs typeface="Red Hat Display"/>
              <a:sym typeface="Red Hat Display"/>
            </a:endParaRPr>
          </a:p>
        </p:txBody>
      </p:sp>
      <p:sp>
        <p:nvSpPr>
          <p:cNvPr id="697" name="Google Shape;697;p49"/>
          <p:cNvSpPr txBox="1"/>
          <p:nvPr/>
        </p:nvSpPr>
        <p:spPr>
          <a:xfrm>
            <a:off x="5034800" y="3707825"/>
            <a:ext cx="2246100" cy="8313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900">
                <a:solidFill>
                  <a:schemeClr val="lt2"/>
                </a:solidFill>
                <a:latin typeface="Red Hat Display"/>
                <a:ea typeface="Red Hat Display"/>
                <a:cs typeface="Red Hat Display"/>
                <a:sym typeface="Red Hat Display"/>
              </a:rPr>
              <a:t>Evolution</a:t>
            </a:r>
            <a:endParaRPr sz="9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t/>
            </a:r>
            <a:endParaRPr sz="8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rPr lang="en" sz="1000">
                <a:solidFill>
                  <a:srgbClr val="C2C0B6"/>
                </a:solidFill>
              </a:rPr>
              <a:t>Starts as periodic operational reports. As the application grows, demographic breakdowns may feed into equity monitoring programs or payer negotiations — increasing both the sensitivity of the data and the need for consistent, auditable query definitions.</a:t>
            </a:r>
            <a:endParaRPr sz="800">
              <a:solidFill>
                <a:schemeClr val="lt2"/>
              </a:solidFill>
              <a:latin typeface="Red Hat Display"/>
              <a:ea typeface="Red Hat Display"/>
              <a:cs typeface="Red Hat Display"/>
              <a:sym typeface="Red Hat Display"/>
            </a:endParaRPr>
          </a:p>
        </p:txBody>
      </p:sp>
      <p:sp>
        <p:nvSpPr>
          <p:cNvPr id="698" name="Google Shape;698;p49"/>
          <p:cNvSpPr txBox="1"/>
          <p:nvPr/>
        </p:nvSpPr>
        <p:spPr>
          <a:xfrm>
            <a:off x="7326850" y="3440575"/>
            <a:ext cx="1881600" cy="8313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900">
                <a:solidFill>
                  <a:schemeClr val="lt2"/>
                </a:solidFill>
                <a:latin typeface="Red Hat Display"/>
                <a:ea typeface="Red Hat Display"/>
                <a:cs typeface="Red Hat Display"/>
                <a:sym typeface="Red Hat Display"/>
              </a:rPr>
              <a:t>Evolution</a:t>
            </a:r>
            <a:endParaRPr sz="9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t/>
            </a:r>
            <a:endParaRPr sz="800">
              <a:solidFill>
                <a:schemeClr val="lt2"/>
              </a:solidFill>
              <a:latin typeface="Red Hat Display"/>
              <a:ea typeface="Red Hat Display"/>
              <a:cs typeface="Red Hat Display"/>
              <a:sym typeface="Red Hat Display"/>
            </a:endParaRPr>
          </a:p>
          <a:p>
            <a:pPr indent="0" lvl="0" marL="0" rtl="0" algn="l">
              <a:lnSpc>
                <a:spcPct val="90000"/>
              </a:lnSpc>
              <a:spcBef>
                <a:spcPts val="0"/>
              </a:spcBef>
              <a:spcAft>
                <a:spcPts val="0"/>
              </a:spcAft>
              <a:buNone/>
            </a:pPr>
            <a:r>
              <a:rPr lang="en" sz="1000">
                <a:solidFill>
                  <a:srgbClr val="C2C0B6"/>
                </a:solidFill>
              </a:rPr>
              <a:t>Begins as retrospective operational reviews. With live data, flow maps become real-time bed management tools — shifting from weekly reporting toward continuous capacity monitoring and automated bottleneck alerts.</a:t>
            </a:r>
            <a:endParaRPr sz="800">
              <a:solidFill>
                <a:schemeClr val="lt2"/>
              </a:solidFill>
              <a:latin typeface="Red Hat Display"/>
              <a:ea typeface="Red Hat Display"/>
              <a:cs typeface="Red Hat Display"/>
              <a:sym typeface="Red Hat Display"/>
            </a:endParaRPr>
          </a:p>
        </p:txBody>
      </p:sp>
      <p:sp>
        <p:nvSpPr>
          <p:cNvPr id="699" name="Google Shape;699;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50"/>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Data Governance</a:t>
            </a:r>
            <a:endParaRPr/>
          </a:p>
        </p:txBody>
      </p:sp>
      <p:sp>
        <p:nvSpPr>
          <p:cNvPr id="705" name="Google Shape;705;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9" name="Shape 709"/>
        <p:cNvGrpSpPr/>
        <p:nvPr/>
      </p:nvGrpSpPr>
      <p:grpSpPr>
        <a:xfrm>
          <a:off x="0" y="0"/>
          <a:ext cx="0" cy="0"/>
          <a:chOff x="0" y="0"/>
          <a:chExt cx="0" cy="0"/>
        </a:xfrm>
      </p:grpSpPr>
      <p:sp>
        <p:nvSpPr>
          <p:cNvPr id="710" name="Google Shape;710;p51"/>
          <p:cNvSpPr/>
          <p:nvPr/>
        </p:nvSpPr>
        <p:spPr>
          <a:xfrm>
            <a:off x="228600" y="1122289"/>
            <a:ext cx="1244400" cy="9654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ctr" bIns="56850" lIns="56850" spcFirstLastPara="1" rIns="56850" wrap="square" tIns="56850">
            <a:noAutofit/>
          </a:bodyPr>
          <a:lstStyle/>
          <a:p>
            <a:pPr indent="0" lvl="0" marL="0" rtl="0" algn="ctr">
              <a:spcBef>
                <a:spcPts val="0"/>
              </a:spcBef>
              <a:spcAft>
                <a:spcPts val="0"/>
              </a:spcAft>
              <a:buNone/>
            </a:pPr>
            <a:r>
              <a:t/>
            </a:r>
            <a:endParaRPr b="1" sz="435">
              <a:solidFill>
                <a:schemeClr val="lt1"/>
              </a:solidFill>
              <a:latin typeface="Red Hat Display"/>
              <a:ea typeface="Red Hat Display"/>
              <a:cs typeface="Red Hat Display"/>
              <a:sym typeface="Red Hat Display"/>
            </a:endParaRPr>
          </a:p>
        </p:txBody>
      </p:sp>
      <p:sp>
        <p:nvSpPr>
          <p:cNvPr id="711" name="Google Shape;711;p51"/>
          <p:cNvSpPr/>
          <p:nvPr/>
        </p:nvSpPr>
        <p:spPr>
          <a:xfrm>
            <a:off x="182400" y="2383680"/>
            <a:ext cx="4294800" cy="330900"/>
          </a:xfrm>
          <a:prstGeom prst="snip2DiagRect">
            <a:avLst>
              <a:gd fmla="val 0" name="adj1"/>
              <a:gd fmla="val 29553" name="adj2"/>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712" name="Google Shape;712;p51"/>
          <p:cNvSpPr/>
          <p:nvPr/>
        </p:nvSpPr>
        <p:spPr>
          <a:xfrm>
            <a:off x="5408075" y="412200"/>
            <a:ext cx="3041700" cy="1324200"/>
          </a:xfrm>
          <a:prstGeom prst="snip2DiagRect">
            <a:avLst>
              <a:gd fmla="val 0" name="adj1"/>
              <a:gd fmla="val 30292" name="adj2"/>
            </a:avLst>
          </a:prstGeom>
          <a:solidFill>
            <a:schemeClr val="accent5"/>
          </a:solidFill>
          <a:ln cap="flat" cmpd="sng" w="9525">
            <a:solidFill>
              <a:schemeClr val="accent5"/>
            </a:solidFill>
            <a:prstDash val="solid"/>
            <a:round/>
            <a:headEnd len="sm" w="sm" type="none"/>
            <a:tailEnd len="sm" w="sm" type="none"/>
          </a:ln>
        </p:spPr>
        <p:txBody>
          <a:bodyPr anchorCtr="0" anchor="ctr" bIns="64725" lIns="64725" spcFirstLastPara="1" rIns="64725" wrap="square" tIns="64725">
            <a:noAutofit/>
          </a:bodyPr>
          <a:lstStyle/>
          <a:p>
            <a:pPr indent="0" lvl="0" marL="0" rtl="0" algn="ctr">
              <a:spcBef>
                <a:spcPts val="0"/>
              </a:spcBef>
              <a:spcAft>
                <a:spcPts val="0"/>
              </a:spcAft>
              <a:buNone/>
            </a:pPr>
            <a:r>
              <a:t/>
            </a:r>
            <a:endParaRPr b="1" sz="496">
              <a:solidFill>
                <a:schemeClr val="lt1"/>
              </a:solidFill>
              <a:latin typeface="Red Hat Display"/>
              <a:ea typeface="Red Hat Display"/>
              <a:cs typeface="Red Hat Display"/>
              <a:sym typeface="Red Hat Display"/>
            </a:endParaRPr>
          </a:p>
        </p:txBody>
      </p:sp>
      <p:cxnSp>
        <p:nvCxnSpPr>
          <p:cNvPr id="713" name="Google Shape;713;p51"/>
          <p:cNvCxnSpPr/>
          <p:nvPr/>
        </p:nvCxnSpPr>
        <p:spPr>
          <a:xfrm flipH="1">
            <a:off x="3556850" y="2086574"/>
            <a:ext cx="228600" cy="263700"/>
          </a:xfrm>
          <a:prstGeom prst="straightConnector1">
            <a:avLst/>
          </a:prstGeom>
          <a:noFill/>
          <a:ln cap="flat" cmpd="sng" w="9525">
            <a:solidFill>
              <a:schemeClr val="accent5"/>
            </a:solidFill>
            <a:prstDash val="solid"/>
            <a:round/>
            <a:headEnd len="med" w="med" type="none"/>
            <a:tailEnd len="med" w="med" type="none"/>
          </a:ln>
        </p:spPr>
      </p:cxnSp>
      <p:cxnSp>
        <p:nvCxnSpPr>
          <p:cNvPr id="714" name="Google Shape;714;p51"/>
          <p:cNvCxnSpPr/>
          <p:nvPr/>
        </p:nvCxnSpPr>
        <p:spPr>
          <a:xfrm flipH="1">
            <a:off x="2101200" y="2094840"/>
            <a:ext cx="228600" cy="263700"/>
          </a:xfrm>
          <a:prstGeom prst="straightConnector1">
            <a:avLst/>
          </a:prstGeom>
          <a:noFill/>
          <a:ln cap="flat" cmpd="sng" w="9525">
            <a:solidFill>
              <a:schemeClr val="accent5"/>
            </a:solidFill>
            <a:prstDash val="solid"/>
            <a:round/>
            <a:headEnd len="med" w="med" type="none"/>
            <a:tailEnd len="med" w="med" type="none"/>
          </a:ln>
        </p:spPr>
      </p:cxnSp>
      <p:cxnSp>
        <p:nvCxnSpPr>
          <p:cNvPr id="715" name="Google Shape;715;p51"/>
          <p:cNvCxnSpPr/>
          <p:nvPr/>
        </p:nvCxnSpPr>
        <p:spPr>
          <a:xfrm>
            <a:off x="645550" y="2094840"/>
            <a:ext cx="228600" cy="263700"/>
          </a:xfrm>
          <a:prstGeom prst="straightConnector1">
            <a:avLst/>
          </a:prstGeom>
          <a:noFill/>
          <a:ln cap="flat" cmpd="sng" w="9525">
            <a:solidFill>
              <a:schemeClr val="accent5"/>
            </a:solidFill>
            <a:prstDash val="solid"/>
            <a:round/>
            <a:headEnd len="med" w="med" type="none"/>
            <a:tailEnd len="med" w="med" type="none"/>
          </a:ln>
        </p:spPr>
      </p:cxnSp>
      <p:sp>
        <p:nvSpPr>
          <p:cNvPr id="716" name="Google Shape;716;p51"/>
          <p:cNvSpPr txBox="1"/>
          <p:nvPr>
            <p:ph idx="1" type="subTitle"/>
          </p:nvPr>
        </p:nvSpPr>
        <p:spPr>
          <a:xfrm>
            <a:off x="314675" y="1264504"/>
            <a:ext cx="1090800" cy="249600"/>
          </a:xfrm>
          <a:prstGeom prst="rect">
            <a:avLst/>
          </a:prstGeom>
        </p:spPr>
        <p:txBody>
          <a:bodyPr anchorCtr="0" anchor="b" bIns="56850" lIns="56850" spcFirstLastPara="1" rIns="56850" wrap="square" tIns="56850">
            <a:noAutofit/>
          </a:bodyPr>
          <a:lstStyle/>
          <a:p>
            <a:pPr indent="0" lvl="0" marL="0" rtl="0" algn="l">
              <a:spcBef>
                <a:spcPts val="0"/>
              </a:spcBef>
              <a:spcAft>
                <a:spcPts val="0"/>
              </a:spcAft>
              <a:buNone/>
            </a:pPr>
            <a:r>
              <a:rPr lang="en" sz="1246"/>
              <a:t>Patients</a:t>
            </a:r>
            <a:endParaRPr sz="1246"/>
          </a:p>
        </p:txBody>
      </p:sp>
      <p:sp>
        <p:nvSpPr>
          <p:cNvPr id="717" name="Google Shape;717;p51"/>
          <p:cNvSpPr txBox="1"/>
          <p:nvPr>
            <p:ph idx="2" type="body"/>
          </p:nvPr>
        </p:nvSpPr>
        <p:spPr>
          <a:xfrm>
            <a:off x="309450" y="1412212"/>
            <a:ext cx="1082700" cy="441000"/>
          </a:xfrm>
          <a:prstGeom prst="rect">
            <a:avLst/>
          </a:prstGeom>
        </p:spPr>
        <p:txBody>
          <a:bodyPr anchorCtr="0" anchor="t" bIns="56850" lIns="56850" spcFirstLastPara="1" rIns="56850" wrap="square" tIns="56850">
            <a:spAutoFit/>
          </a:bodyPr>
          <a:lstStyle/>
          <a:p>
            <a:pPr indent="0" lvl="0" marL="0" rtl="0" algn="l">
              <a:spcBef>
                <a:spcPts val="0"/>
              </a:spcBef>
              <a:spcAft>
                <a:spcPts val="0"/>
              </a:spcAft>
              <a:buNone/>
            </a:pPr>
            <a:r>
              <a:rPr lang="en" sz="1060"/>
              <a:t>Age</a:t>
            </a:r>
            <a:endParaRPr sz="1060"/>
          </a:p>
          <a:p>
            <a:pPr indent="0" lvl="0" marL="0" rtl="0" algn="l">
              <a:spcBef>
                <a:spcPts val="0"/>
              </a:spcBef>
              <a:spcAft>
                <a:spcPts val="0"/>
              </a:spcAft>
              <a:buNone/>
            </a:pPr>
            <a:r>
              <a:rPr lang="en" sz="1060"/>
              <a:t>Biological Sex</a:t>
            </a:r>
            <a:endParaRPr sz="1060"/>
          </a:p>
        </p:txBody>
      </p:sp>
      <p:sp>
        <p:nvSpPr>
          <p:cNvPr id="718" name="Google Shape;718;p51"/>
          <p:cNvSpPr txBox="1"/>
          <p:nvPr>
            <p:ph type="title"/>
          </p:nvPr>
        </p:nvSpPr>
        <p:spPr>
          <a:xfrm>
            <a:off x="228600" y="420025"/>
            <a:ext cx="48177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Governance Issues</a:t>
            </a:r>
            <a:endParaRPr/>
          </a:p>
        </p:txBody>
      </p:sp>
      <p:sp>
        <p:nvSpPr>
          <p:cNvPr id="719" name="Google Shape;719;p51"/>
          <p:cNvSpPr txBox="1"/>
          <p:nvPr>
            <p:ph idx="8" type="body"/>
          </p:nvPr>
        </p:nvSpPr>
        <p:spPr>
          <a:xfrm>
            <a:off x="378225" y="2449138"/>
            <a:ext cx="4024200" cy="4617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sz="1000"/>
              <a:t>Age + Sex + Race + Insurance + Admit Date + Clinical Services = </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spcBef>
                <a:spcPts val="0"/>
              </a:spcBef>
              <a:spcAft>
                <a:spcPts val="0"/>
              </a:spcAft>
              <a:buNone/>
            </a:pPr>
            <a:r>
              <a:rPr lang="en" sz="1000"/>
              <a:t> </a:t>
            </a:r>
            <a:endParaRPr sz="1000"/>
          </a:p>
        </p:txBody>
      </p:sp>
      <p:sp>
        <p:nvSpPr>
          <p:cNvPr id="720" name="Google Shape;720;p51"/>
          <p:cNvSpPr txBox="1"/>
          <p:nvPr>
            <p:ph idx="9" type="subTitle"/>
          </p:nvPr>
        </p:nvSpPr>
        <p:spPr>
          <a:xfrm>
            <a:off x="5547250" y="508900"/>
            <a:ext cx="2416800" cy="249600"/>
          </a:xfrm>
          <a:prstGeom prst="rect">
            <a:avLst/>
          </a:prstGeom>
        </p:spPr>
        <p:txBody>
          <a:bodyPr anchorCtr="0" anchor="b" bIns="64725" lIns="64725" spcFirstLastPara="1" rIns="64725" wrap="square" tIns="64725">
            <a:noAutofit/>
          </a:bodyPr>
          <a:lstStyle/>
          <a:p>
            <a:pPr indent="0" lvl="0" marL="0" rtl="0" algn="l">
              <a:spcBef>
                <a:spcPts val="0"/>
              </a:spcBef>
              <a:spcAft>
                <a:spcPts val="0"/>
              </a:spcAft>
              <a:buNone/>
            </a:pPr>
            <a:r>
              <a:rPr lang="en" sz="1350"/>
              <a:t>Other Potential Issues</a:t>
            </a:r>
            <a:endParaRPr sz="1350"/>
          </a:p>
        </p:txBody>
      </p:sp>
      <p:sp>
        <p:nvSpPr>
          <p:cNvPr id="721" name="Google Shape;721;p51"/>
          <p:cNvSpPr txBox="1"/>
          <p:nvPr>
            <p:ph idx="13" type="body"/>
          </p:nvPr>
        </p:nvSpPr>
        <p:spPr>
          <a:xfrm>
            <a:off x="5682059" y="710796"/>
            <a:ext cx="2632800" cy="702000"/>
          </a:xfrm>
          <a:prstGeom prst="rect">
            <a:avLst/>
          </a:prstGeom>
        </p:spPr>
        <p:txBody>
          <a:bodyPr anchorCtr="0" anchor="t" bIns="64725" lIns="64725" spcFirstLastPara="1" rIns="64725" wrap="square" tIns="64725">
            <a:spAutoFit/>
          </a:bodyPr>
          <a:lstStyle/>
          <a:p>
            <a:pPr indent="0" lvl="0" marL="0" rtl="0" algn="l">
              <a:spcBef>
                <a:spcPts val="0"/>
              </a:spcBef>
              <a:spcAft>
                <a:spcPts val="0"/>
              </a:spcAft>
              <a:buNone/>
            </a:pPr>
            <a:r>
              <a:rPr b="1" lang="en" sz="1237"/>
              <a:t>Drug prescriptions</a:t>
            </a:r>
            <a:endParaRPr b="1" sz="1237"/>
          </a:p>
          <a:p>
            <a:pPr indent="0" lvl="0" marL="0" rtl="0" algn="l">
              <a:spcBef>
                <a:spcPts val="0"/>
              </a:spcBef>
              <a:spcAft>
                <a:spcPts val="0"/>
              </a:spcAft>
              <a:buNone/>
            </a:pPr>
            <a:r>
              <a:rPr b="1" lang="en" sz="1237"/>
              <a:t>Lab values</a:t>
            </a:r>
            <a:endParaRPr b="1" sz="1237"/>
          </a:p>
          <a:p>
            <a:pPr indent="0" lvl="0" marL="0" rtl="0" algn="l">
              <a:spcBef>
                <a:spcPts val="0"/>
              </a:spcBef>
              <a:spcAft>
                <a:spcPts val="0"/>
              </a:spcAft>
              <a:buNone/>
            </a:pPr>
            <a:r>
              <a:t/>
            </a:r>
            <a:endParaRPr sz="1237"/>
          </a:p>
        </p:txBody>
      </p:sp>
      <p:sp>
        <p:nvSpPr>
          <p:cNvPr id="722" name="Google Shape;722;p51"/>
          <p:cNvSpPr/>
          <p:nvPr/>
        </p:nvSpPr>
        <p:spPr>
          <a:xfrm>
            <a:off x="1693325" y="1104075"/>
            <a:ext cx="1244400" cy="9654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ctr" bIns="56850" lIns="56850" spcFirstLastPara="1" rIns="56850" wrap="square" tIns="56850">
            <a:noAutofit/>
          </a:bodyPr>
          <a:lstStyle/>
          <a:p>
            <a:pPr indent="0" lvl="0" marL="0" rtl="0" algn="ctr">
              <a:spcBef>
                <a:spcPts val="0"/>
              </a:spcBef>
              <a:spcAft>
                <a:spcPts val="0"/>
              </a:spcAft>
              <a:buNone/>
            </a:pPr>
            <a:r>
              <a:t/>
            </a:r>
            <a:endParaRPr b="1" sz="435">
              <a:solidFill>
                <a:schemeClr val="lt1"/>
              </a:solidFill>
              <a:latin typeface="Red Hat Display"/>
              <a:ea typeface="Red Hat Display"/>
              <a:cs typeface="Red Hat Display"/>
              <a:sym typeface="Red Hat Display"/>
            </a:endParaRPr>
          </a:p>
        </p:txBody>
      </p:sp>
      <p:sp>
        <p:nvSpPr>
          <p:cNvPr id="723" name="Google Shape;723;p51"/>
          <p:cNvSpPr txBox="1"/>
          <p:nvPr>
            <p:ph idx="1" type="subTitle"/>
          </p:nvPr>
        </p:nvSpPr>
        <p:spPr>
          <a:xfrm>
            <a:off x="1774819" y="1262765"/>
            <a:ext cx="1090800" cy="249600"/>
          </a:xfrm>
          <a:prstGeom prst="rect">
            <a:avLst/>
          </a:prstGeom>
        </p:spPr>
        <p:txBody>
          <a:bodyPr anchorCtr="0" anchor="b" bIns="56850" lIns="56850" spcFirstLastPara="1" rIns="56850" wrap="square" tIns="56850">
            <a:noAutofit/>
          </a:bodyPr>
          <a:lstStyle/>
          <a:p>
            <a:pPr indent="0" lvl="0" marL="0" rtl="0" algn="l">
              <a:spcBef>
                <a:spcPts val="0"/>
              </a:spcBef>
              <a:spcAft>
                <a:spcPts val="0"/>
              </a:spcAft>
              <a:buNone/>
            </a:pPr>
            <a:r>
              <a:rPr lang="en" sz="1246"/>
              <a:t>Admissions</a:t>
            </a:r>
            <a:endParaRPr sz="1246"/>
          </a:p>
        </p:txBody>
      </p:sp>
      <p:sp>
        <p:nvSpPr>
          <p:cNvPr id="724" name="Google Shape;724;p51"/>
          <p:cNvSpPr txBox="1"/>
          <p:nvPr>
            <p:ph idx="2" type="body"/>
          </p:nvPr>
        </p:nvSpPr>
        <p:spPr>
          <a:xfrm>
            <a:off x="1807925" y="1417793"/>
            <a:ext cx="1082700" cy="767400"/>
          </a:xfrm>
          <a:prstGeom prst="rect">
            <a:avLst/>
          </a:prstGeom>
        </p:spPr>
        <p:txBody>
          <a:bodyPr anchorCtr="0" anchor="t" bIns="56850" lIns="56850" spcFirstLastPara="1" rIns="56850" wrap="square" tIns="56850">
            <a:spAutoFit/>
          </a:bodyPr>
          <a:lstStyle/>
          <a:p>
            <a:pPr indent="0" lvl="0" marL="0" rtl="0" algn="l">
              <a:spcBef>
                <a:spcPts val="0"/>
              </a:spcBef>
              <a:spcAft>
                <a:spcPts val="0"/>
              </a:spcAft>
              <a:buNone/>
            </a:pPr>
            <a:r>
              <a:rPr lang="en" sz="1060"/>
              <a:t>Insurance</a:t>
            </a:r>
            <a:endParaRPr sz="1060"/>
          </a:p>
          <a:p>
            <a:pPr indent="0" lvl="0" marL="0" rtl="0" algn="l">
              <a:spcBef>
                <a:spcPts val="0"/>
              </a:spcBef>
              <a:spcAft>
                <a:spcPts val="0"/>
              </a:spcAft>
              <a:buNone/>
            </a:pPr>
            <a:r>
              <a:rPr lang="en" sz="1060"/>
              <a:t>Race</a:t>
            </a:r>
            <a:endParaRPr sz="1060"/>
          </a:p>
          <a:p>
            <a:pPr indent="0" lvl="0" marL="0" rtl="0" algn="l">
              <a:spcBef>
                <a:spcPts val="0"/>
              </a:spcBef>
              <a:spcAft>
                <a:spcPts val="0"/>
              </a:spcAft>
              <a:buNone/>
            </a:pPr>
            <a:r>
              <a:rPr lang="en" sz="1060"/>
              <a:t>Admit Date</a:t>
            </a:r>
            <a:endParaRPr sz="1060"/>
          </a:p>
          <a:p>
            <a:pPr indent="0" lvl="0" marL="0" rtl="0" algn="l">
              <a:spcBef>
                <a:spcPts val="0"/>
              </a:spcBef>
              <a:spcAft>
                <a:spcPts val="0"/>
              </a:spcAft>
              <a:buNone/>
            </a:pPr>
            <a:r>
              <a:t/>
            </a:r>
            <a:endParaRPr sz="1060"/>
          </a:p>
        </p:txBody>
      </p:sp>
      <p:sp>
        <p:nvSpPr>
          <p:cNvPr id="725" name="Google Shape;725;p51"/>
          <p:cNvSpPr/>
          <p:nvPr/>
        </p:nvSpPr>
        <p:spPr>
          <a:xfrm>
            <a:off x="3158050" y="1104075"/>
            <a:ext cx="1244400" cy="9654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ctr" bIns="56850" lIns="56850" spcFirstLastPara="1" rIns="56850" wrap="square" tIns="56850">
            <a:noAutofit/>
          </a:bodyPr>
          <a:lstStyle/>
          <a:p>
            <a:pPr indent="0" lvl="0" marL="0" rtl="0" algn="ctr">
              <a:spcBef>
                <a:spcPts val="0"/>
              </a:spcBef>
              <a:spcAft>
                <a:spcPts val="0"/>
              </a:spcAft>
              <a:buNone/>
            </a:pPr>
            <a:r>
              <a:t/>
            </a:r>
            <a:endParaRPr b="1" sz="435">
              <a:solidFill>
                <a:schemeClr val="lt1"/>
              </a:solidFill>
              <a:latin typeface="Red Hat Display"/>
              <a:ea typeface="Red Hat Display"/>
              <a:cs typeface="Red Hat Display"/>
              <a:sym typeface="Red Hat Display"/>
            </a:endParaRPr>
          </a:p>
        </p:txBody>
      </p:sp>
      <p:sp>
        <p:nvSpPr>
          <p:cNvPr id="726" name="Google Shape;726;p51"/>
          <p:cNvSpPr txBox="1"/>
          <p:nvPr>
            <p:ph idx="1" type="subTitle"/>
          </p:nvPr>
        </p:nvSpPr>
        <p:spPr>
          <a:xfrm>
            <a:off x="3225575" y="1264504"/>
            <a:ext cx="1090800" cy="249600"/>
          </a:xfrm>
          <a:prstGeom prst="rect">
            <a:avLst/>
          </a:prstGeom>
        </p:spPr>
        <p:txBody>
          <a:bodyPr anchorCtr="0" anchor="b" bIns="56850" lIns="56850" spcFirstLastPara="1" rIns="56850" wrap="square" tIns="56850">
            <a:noAutofit/>
          </a:bodyPr>
          <a:lstStyle/>
          <a:p>
            <a:pPr indent="0" lvl="0" marL="0" rtl="0" algn="l">
              <a:spcBef>
                <a:spcPts val="0"/>
              </a:spcBef>
              <a:spcAft>
                <a:spcPts val="0"/>
              </a:spcAft>
              <a:buNone/>
            </a:pPr>
            <a:r>
              <a:rPr lang="en" sz="1246"/>
              <a:t>Services</a:t>
            </a:r>
            <a:endParaRPr sz="1246"/>
          </a:p>
        </p:txBody>
      </p:sp>
      <p:sp>
        <p:nvSpPr>
          <p:cNvPr id="727" name="Google Shape;727;p51"/>
          <p:cNvSpPr txBox="1"/>
          <p:nvPr>
            <p:ph idx="2" type="body"/>
          </p:nvPr>
        </p:nvSpPr>
        <p:spPr>
          <a:xfrm>
            <a:off x="3225575" y="1422375"/>
            <a:ext cx="1082700" cy="278100"/>
          </a:xfrm>
          <a:prstGeom prst="rect">
            <a:avLst/>
          </a:prstGeom>
        </p:spPr>
        <p:txBody>
          <a:bodyPr anchorCtr="0" anchor="t" bIns="56850" lIns="56850" spcFirstLastPara="1" rIns="56850" wrap="square" tIns="56850">
            <a:spAutoFit/>
          </a:bodyPr>
          <a:lstStyle/>
          <a:p>
            <a:pPr indent="0" lvl="0" marL="0" rtl="0" algn="l">
              <a:spcBef>
                <a:spcPts val="0"/>
              </a:spcBef>
              <a:spcAft>
                <a:spcPts val="0"/>
              </a:spcAft>
              <a:buNone/>
            </a:pPr>
            <a:r>
              <a:rPr lang="en" sz="1060"/>
              <a:t>Clinical Services</a:t>
            </a:r>
            <a:endParaRPr sz="1060"/>
          </a:p>
        </p:txBody>
      </p:sp>
      <p:pic>
        <p:nvPicPr>
          <p:cNvPr id="728" name="Google Shape;728;p51"/>
          <p:cNvPicPr preferRelativeResize="0"/>
          <p:nvPr/>
        </p:nvPicPr>
        <p:blipFill rotWithShape="1">
          <a:blip r:embed="rId4">
            <a:alphaModFix/>
          </a:blip>
          <a:srcRect b="6662" l="0" r="0" t="16938"/>
          <a:stretch/>
        </p:blipFill>
        <p:spPr>
          <a:xfrm>
            <a:off x="1187800" y="2796300"/>
            <a:ext cx="2055400" cy="1083000"/>
          </a:xfrm>
          <a:prstGeom prst="rect">
            <a:avLst/>
          </a:prstGeom>
          <a:noFill/>
          <a:ln>
            <a:noFill/>
          </a:ln>
        </p:spPr>
      </p:pic>
      <p:sp>
        <p:nvSpPr>
          <p:cNvPr id="729" name="Google Shape;729;p51"/>
          <p:cNvSpPr/>
          <p:nvPr/>
        </p:nvSpPr>
        <p:spPr>
          <a:xfrm>
            <a:off x="5408075" y="1964250"/>
            <a:ext cx="3041700" cy="1737900"/>
          </a:xfrm>
          <a:prstGeom prst="snip2DiagRect">
            <a:avLst>
              <a:gd fmla="val 0" name="adj1"/>
              <a:gd fmla="val 30292" name="adj2"/>
            </a:avLst>
          </a:prstGeom>
          <a:solidFill>
            <a:schemeClr val="accent5"/>
          </a:solidFill>
          <a:ln cap="flat" cmpd="sng" w="9525">
            <a:solidFill>
              <a:schemeClr val="accent5"/>
            </a:solidFill>
            <a:prstDash val="solid"/>
            <a:round/>
            <a:headEnd len="sm" w="sm" type="none"/>
            <a:tailEnd len="sm" w="sm" type="none"/>
          </a:ln>
        </p:spPr>
        <p:txBody>
          <a:bodyPr anchorCtr="0" anchor="ctr" bIns="64725" lIns="64725" spcFirstLastPara="1" rIns="64725" wrap="square" tIns="64725">
            <a:noAutofit/>
          </a:bodyPr>
          <a:lstStyle/>
          <a:p>
            <a:pPr indent="0" lvl="0" marL="0" rtl="0" algn="ctr">
              <a:spcBef>
                <a:spcPts val="0"/>
              </a:spcBef>
              <a:spcAft>
                <a:spcPts val="0"/>
              </a:spcAft>
              <a:buNone/>
            </a:pPr>
            <a:r>
              <a:t/>
            </a:r>
            <a:endParaRPr b="1" sz="496">
              <a:solidFill>
                <a:schemeClr val="lt1"/>
              </a:solidFill>
              <a:latin typeface="Red Hat Display"/>
              <a:ea typeface="Red Hat Display"/>
              <a:cs typeface="Red Hat Display"/>
              <a:sym typeface="Red Hat Display"/>
            </a:endParaRPr>
          </a:p>
        </p:txBody>
      </p:sp>
      <p:sp>
        <p:nvSpPr>
          <p:cNvPr id="730" name="Google Shape;730;p51"/>
          <p:cNvSpPr txBox="1"/>
          <p:nvPr>
            <p:ph idx="9" type="subTitle"/>
          </p:nvPr>
        </p:nvSpPr>
        <p:spPr>
          <a:xfrm>
            <a:off x="5547250" y="2060950"/>
            <a:ext cx="2416800" cy="249600"/>
          </a:xfrm>
          <a:prstGeom prst="rect">
            <a:avLst/>
          </a:prstGeom>
        </p:spPr>
        <p:txBody>
          <a:bodyPr anchorCtr="0" anchor="b" bIns="64725" lIns="64725" spcFirstLastPara="1" rIns="64725" wrap="square" tIns="64725">
            <a:noAutofit/>
          </a:bodyPr>
          <a:lstStyle/>
          <a:p>
            <a:pPr indent="0" lvl="0" marL="0" rtl="0" algn="l">
              <a:spcBef>
                <a:spcPts val="0"/>
              </a:spcBef>
              <a:spcAft>
                <a:spcPts val="0"/>
              </a:spcAft>
              <a:buNone/>
            </a:pPr>
            <a:r>
              <a:rPr lang="en" sz="1350"/>
              <a:t>How To Protect?</a:t>
            </a:r>
            <a:endParaRPr sz="1350"/>
          </a:p>
        </p:txBody>
      </p:sp>
      <p:sp>
        <p:nvSpPr>
          <p:cNvPr id="731" name="Google Shape;731;p51"/>
          <p:cNvSpPr txBox="1"/>
          <p:nvPr>
            <p:ph idx="13" type="body"/>
          </p:nvPr>
        </p:nvSpPr>
        <p:spPr>
          <a:xfrm>
            <a:off x="5682059" y="2262846"/>
            <a:ext cx="2632800" cy="1273200"/>
          </a:xfrm>
          <a:prstGeom prst="rect">
            <a:avLst/>
          </a:prstGeom>
        </p:spPr>
        <p:txBody>
          <a:bodyPr anchorCtr="0" anchor="t" bIns="64725" lIns="64725" spcFirstLastPara="1" rIns="64725" wrap="square" tIns="64725">
            <a:spAutoFit/>
          </a:bodyPr>
          <a:lstStyle/>
          <a:p>
            <a:pPr indent="0" lvl="0" marL="0" rtl="0" algn="l">
              <a:lnSpc>
                <a:spcPct val="100000"/>
              </a:lnSpc>
              <a:spcBef>
                <a:spcPts val="0"/>
              </a:spcBef>
              <a:spcAft>
                <a:spcPts val="0"/>
              </a:spcAft>
              <a:buNone/>
            </a:pPr>
            <a:r>
              <a:rPr lang="en" sz="1237"/>
              <a:t>Patient IDs →  Random Integers</a:t>
            </a:r>
            <a:endParaRPr sz="1237"/>
          </a:p>
          <a:p>
            <a:pPr indent="0" lvl="0" marL="0" rtl="0" algn="l">
              <a:lnSpc>
                <a:spcPct val="100000"/>
              </a:lnSpc>
              <a:spcBef>
                <a:spcPts val="0"/>
              </a:spcBef>
              <a:spcAft>
                <a:spcPts val="0"/>
              </a:spcAft>
              <a:buNone/>
            </a:pPr>
            <a:r>
              <a:rPr lang="en" sz="1237"/>
              <a:t>Dates → Random offsets</a:t>
            </a:r>
            <a:endParaRPr sz="1237"/>
          </a:p>
          <a:p>
            <a:pPr indent="0" lvl="0" marL="0" rtl="0" algn="l">
              <a:lnSpc>
                <a:spcPct val="100000"/>
              </a:lnSpc>
              <a:spcBef>
                <a:spcPts val="0"/>
              </a:spcBef>
              <a:spcAft>
                <a:spcPts val="0"/>
              </a:spcAft>
              <a:buNone/>
            </a:pPr>
            <a:r>
              <a:rPr lang="en" sz="1237"/>
              <a:t>Remove Specific Identifiers</a:t>
            </a:r>
            <a:endParaRPr sz="1237"/>
          </a:p>
          <a:p>
            <a:pPr indent="0" lvl="0" marL="0" rtl="0" algn="l">
              <a:lnSpc>
                <a:spcPct val="100000"/>
              </a:lnSpc>
              <a:spcBef>
                <a:spcPts val="0"/>
              </a:spcBef>
              <a:spcAft>
                <a:spcPts val="0"/>
              </a:spcAft>
              <a:buNone/>
            </a:pPr>
            <a:r>
              <a:rPr lang="en" sz="1237"/>
              <a:t>Restrict Data Access</a:t>
            </a:r>
            <a:endParaRPr sz="1237"/>
          </a:p>
          <a:p>
            <a:pPr indent="0" lvl="0" marL="0" rtl="0" algn="l">
              <a:lnSpc>
                <a:spcPct val="100000"/>
              </a:lnSpc>
              <a:spcBef>
                <a:spcPts val="0"/>
              </a:spcBef>
              <a:spcAft>
                <a:spcPts val="0"/>
              </a:spcAft>
              <a:buNone/>
            </a:pPr>
            <a:r>
              <a:rPr lang="en" sz="1237"/>
              <a:t>Data User Agreement</a:t>
            </a:r>
            <a:endParaRPr sz="1237"/>
          </a:p>
          <a:p>
            <a:pPr indent="0" lvl="0" marL="0" rtl="0" algn="l">
              <a:lnSpc>
                <a:spcPct val="100000"/>
              </a:lnSpc>
              <a:spcBef>
                <a:spcPts val="0"/>
              </a:spcBef>
              <a:spcAft>
                <a:spcPts val="0"/>
              </a:spcAft>
              <a:buNone/>
            </a:pPr>
            <a:r>
              <a:rPr lang="en" sz="1237"/>
              <a:t>Log User Data</a:t>
            </a:r>
            <a:endParaRPr sz="1237"/>
          </a:p>
        </p:txBody>
      </p:sp>
      <p:sp>
        <p:nvSpPr>
          <p:cNvPr id="732" name="Google Shape;732;p51"/>
          <p:cNvSpPr/>
          <p:nvPr/>
        </p:nvSpPr>
        <p:spPr>
          <a:xfrm>
            <a:off x="378225" y="4015000"/>
            <a:ext cx="8177100" cy="965400"/>
          </a:xfrm>
          <a:prstGeom prst="snip2DiagRect">
            <a:avLst>
              <a:gd fmla="val 0" name="adj1"/>
              <a:gd fmla="val 30292" name="adj2"/>
            </a:avLst>
          </a:prstGeom>
          <a:solidFill>
            <a:schemeClr val="accent5"/>
          </a:solidFill>
          <a:ln cap="flat" cmpd="sng" w="9525">
            <a:solidFill>
              <a:schemeClr val="accent5"/>
            </a:solidFill>
            <a:prstDash val="solid"/>
            <a:round/>
            <a:headEnd len="sm" w="sm" type="none"/>
            <a:tailEnd len="sm" w="sm" type="none"/>
          </a:ln>
        </p:spPr>
        <p:txBody>
          <a:bodyPr anchorCtr="0" anchor="ctr" bIns="64725" lIns="64725" spcFirstLastPara="1" rIns="64725" wrap="square" tIns="64725">
            <a:noAutofit/>
          </a:bodyPr>
          <a:lstStyle/>
          <a:p>
            <a:pPr indent="0" lvl="0" marL="0" rtl="0" algn="ctr">
              <a:spcBef>
                <a:spcPts val="0"/>
              </a:spcBef>
              <a:spcAft>
                <a:spcPts val="0"/>
              </a:spcAft>
              <a:buNone/>
            </a:pPr>
            <a:r>
              <a:t/>
            </a:r>
            <a:endParaRPr b="1" sz="496">
              <a:solidFill>
                <a:schemeClr val="lt1"/>
              </a:solidFill>
              <a:latin typeface="Red Hat Display"/>
              <a:ea typeface="Red Hat Display"/>
              <a:cs typeface="Red Hat Display"/>
              <a:sym typeface="Red Hat Display"/>
            </a:endParaRPr>
          </a:p>
        </p:txBody>
      </p:sp>
      <p:sp>
        <p:nvSpPr>
          <p:cNvPr id="733" name="Google Shape;733;p51"/>
          <p:cNvSpPr txBox="1"/>
          <p:nvPr>
            <p:ph idx="9" type="subTitle"/>
          </p:nvPr>
        </p:nvSpPr>
        <p:spPr>
          <a:xfrm>
            <a:off x="531550" y="4039743"/>
            <a:ext cx="6497400" cy="278100"/>
          </a:xfrm>
          <a:prstGeom prst="rect">
            <a:avLst/>
          </a:prstGeom>
        </p:spPr>
        <p:txBody>
          <a:bodyPr anchorCtr="0" anchor="b" bIns="64725" lIns="64725" spcFirstLastPara="1" rIns="64725" wrap="square" tIns="64725">
            <a:noAutofit/>
          </a:bodyPr>
          <a:lstStyle/>
          <a:p>
            <a:pPr indent="0" lvl="0" marL="0" rtl="0" algn="l">
              <a:spcBef>
                <a:spcPts val="0"/>
              </a:spcBef>
              <a:spcAft>
                <a:spcPts val="0"/>
              </a:spcAft>
              <a:buNone/>
            </a:pPr>
            <a:r>
              <a:rPr lang="en" sz="1350"/>
              <a:t>Re-use Issues</a:t>
            </a:r>
            <a:endParaRPr sz="1350"/>
          </a:p>
        </p:txBody>
      </p:sp>
      <p:sp>
        <p:nvSpPr>
          <p:cNvPr id="734" name="Google Shape;734;p51"/>
          <p:cNvSpPr txBox="1"/>
          <p:nvPr>
            <p:ph idx="13" type="body"/>
          </p:nvPr>
        </p:nvSpPr>
        <p:spPr>
          <a:xfrm>
            <a:off x="531549" y="4226400"/>
            <a:ext cx="7961400" cy="606900"/>
          </a:xfrm>
          <a:prstGeom prst="rect">
            <a:avLst/>
          </a:prstGeom>
        </p:spPr>
        <p:txBody>
          <a:bodyPr anchorCtr="0" anchor="t" bIns="64725" lIns="64725" spcFirstLastPara="1" rIns="64725" wrap="square" tIns="64725">
            <a:spAutoFit/>
          </a:bodyPr>
          <a:lstStyle/>
          <a:p>
            <a:pPr indent="0" lvl="0" marL="0" rtl="0" algn="l">
              <a:lnSpc>
                <a:spcPct val="115000"/>
              </a:lnSpc>
              <a:spcBef>
                <a:spcPts val="0"/>
              </a:spcBef>
              <a:spcAft>
                <a:spcPts val="0"/>
              </a:spcAft>
              <a:buNone/>
            </a:pPr>
            <a:r>
              <a:rPr lang="en" sz="937"/>
              <a:t>Re-identification: People can re-identify individuals combining data</a:t>
            </a:r>
            <a:endParaRPr sz="937"/>
          </a:p>
          <a:p>
            <a:pPr indent="0" lvl="0" marL="0" rtl="0" algn="l">
              <a:lnSpc>
                <a:spcPct val="115000"/>
              </a:lnSpc>
              <a:spcBef>
                <a:spcPts val="0"/>
              </a:spcBef>
              <a:spcAft>
                <a:spcPts val="0"/>
              </a:spcAft>
              <a:buNone/>
            </a:pPr>
            <a:r>
              <a:rPr lang="en" sz="937"/>
              <a:t>Time Validity: Medical practices change over time, this data from 2011-16 may not accurately model today’s patients or even ICU practices</a:t>
            </a:r>
            <a:endParaRPr sz="937"/>
          </a:p>
          <a:p>
            <a:pPr indent="0" lvl="0" marL="0" rtl="0" algn="l">
              <a:lnSpc>
                <a:spcPct val="115000"/>
              </a:lnSpc>
              <a:spcBef>
                <a:spcPts val="0"/>
              </a:spcBef>
              <a:spcAft>
                <a:spcPts val="0"/>
              </a:spcAft>
              <a:buNone/>
            </a:pPr>
            <a:r>
              <a:rPr lang="en" sz="937"/>
              <a:t>Scope Expansion: Data was approved for research purposes only</a:t>
            </a:r>
            <a:endParaRPr sz="937"/>
          </a:p>
        </p:txBody>
      </p:sp>
      <p:sp>
        <p:nvSpPr>
          <p:cNvPr id="735" name="Google Shape;735;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52"/>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Schema Design </a:t>
            </a:r>
            <a:endParaRPr/>
          </a:p>
        </p:txBody>
      </p:sp>
      <p:sp>
        <p:nvSpPr>
          <p:cNvPr id="741" name="Google Shape;741;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53"/>
          <p:cNvSpPr txBox="1"/>
          <p:nvPr>
            <p:ph type="title"/>
          </p:nvPr>
        </p:nvSpPr>
        <p:spPr>
          <a:xfrm>
            <a:off x="228600" y="420025"/>
            <a:ext cx="39231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Relational Model: ER Diagram</a:t>
            </a:r>
            <a:endParaRPr/>
          </a:p>
        </p:txBody>
      </p:sp>
      <p:pic>
        <p:nvPicPr>
          <p:cNvPr id="747" name="Google Shape;747;p53" title="ER diagram.png"/>
          <p:cNvPicPr preferRelativeResize="0"/>
          <p:nvPr/>
        </p:nvPicPr>
        <p:blipFill>
          <a:blip r:embed="rId3">
            <a:alphaModFix/>
          </a:blip>
          <a:stretch>
            <a:fillRect/>
          </a:stretch>
        </p:blipFill>
        <p:spPr>
          <a:xfrm>
            <a:off x="3640075" y="457200"/>
            <a:ext cx="5335100" cy="4351151"/>
          </a:xfrm>
          <a:prstGeom prst="rect">
            <a:avLst/>
          </a:prstGeom>
          <a:noFill/>
          <a:ln cap="flat" cmpd="sng" w="19050">
            <a:solidFill>
              <a:schemeClr val="dk2"/>
            </a:solidFill>
            <a:prstDash val="solid"/>
            <a:round/>
            <a:headEnd len="sm" w="sm" type="none"/>
            <a:tailEnd len="sm" w="sm" type="none"/>
          </a:ln>
        </p:spPr>
      </p:pic>
      <p:sp>
        <p:nvSpPr>
          <p:cNvPr id="748" name="Google Shape;748;p53"/>
          <p:cNvSpPr/>
          <p:nvPr/>
        </p:nvSpPr>
        <p:spPr>
          <a:xfrm>
            <a:off x="228600" y="1053138"/>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749" name="Google Shape;749;p53"/>
          <p:cNvSpPr txBox="1"/>
          <p:nvPr>
            <p:ph idx="2" type="subTitle"/>
          </p:nvPr>
        </p:nvSpPr>
        <p:spPr>
          <a:xfrm>
            <a:off x="301850" y="1069588"/>
            <a:ext cx="1500900" cy="264600"/>
          </a:xfrm>
          <a:prstGeom prst="rect">
            <a:avLst/>
          </a:prstGeom>
        </p:spPr>
        <p:txBody>
          <a:bodyPr anchorCtr="0" anchor="ctr" bIns="91425" lIns="0" spcFirstLastPara="1" rIns="91425" wrap="square" tIns="0">
            <a:noAutofit/>
          </a:bodyPr>
          <a:lstStyle/>
          <a:p>
            <a:pPr indent="0" lvl="0" marL="0" rtl="0" algn="l">
              <a:lnSpc>
                <a:spcPct val="90000"/>
              </a:lnSpc>
              <a:spcBef>
                <a:spcPts val="0"/>
              </a:spcBef>
              <a:spcAft>
                <a:spcPts val="0"/>
              </a:spcAft>
              <a:buNone/>
            </a:pPr>
            <a:r>
              <a:rPr lang="en"/>
              <a:t>Partitioning</a:t>
            </a:r>
            <a:endParaRPr/>
          </a:p>
        </p:txBody>
      </p:sp>
      <p:sp>
        <p:nvSpPr>
          <p:cNvPr id="750" name="Google Shape;750;p53"/>
          <p:cNvSpPr txBox="1"/>
          <p:nvPr>
            <p:ph idx="4294967295" type="body"/>
          </p:nvPr>
        </p:nvSpPr>
        <p:spPr>
          <a:xfrm>
            <a:off x="228600" y="1506375"/>
            <a:ext cx="3265500" cy="323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285750" lvl="0" marL="457200" rtl="0" algn="l">
              <a:spcBef>
                <a:spcPts val="0"/>
              </a:spcBef>
              <a:spcAft>
                <a:spcPts val="0"/>
              </a:spcAft>
              <a:buSzPts val="900"/>
              <a:buChar char="➔"/>
            </a:pPr>
            <a:r>
              <a:rPr lang="en"/>
              <a:t>The dataset can exceed 2TB</a:t>
            </a:r>
            <a:endParaRPr/>
          </a:p>
          <a:p>
            <a:pPr indent="-285750" lvl="1" marL="914400" rtl="0" algn="l">
              <a:spcBef>
                <a:spcPts val="0"/>
              </a:spcBef>
              <a:spcAft>
                <a:spcPts val="0"/>
              </a:spcAft>
              <a:buSzPts val="900"/>
              <a:buChar char="◆"/>
            </a:pPr>
            <a:r>
              <a:rPr lang="en"/>
              <a:t>Justification: MMIC-IV’s full dataset can generate hundreds of </a:t>
            </a:r>
            <a:r>
              <a:rPr lang="en"/>
              <a:t>thousands</a:t>
            </a:r>
            <a:r>
              <a:rPr lang="en"/>
              <a:t> or rows</a:t>
            </a:r>
            <a:endParaRPr/>
          </a:p>
          <a:p>
            <a:pPr indent="-285750" lvl="1" marL="914400" rtl="0" algn="l">
              <a:spcBef>
                <a:spcPts val="0"/>
              </a:spcBef>
              <a:spcAft>
                <a:spcPts val="0"/>
              </a:spcAft>
              <a:buSzPts val="900"/>
              <a:buChar char="◆"/>
            </a:pPr>
            <a:r>
              <a:rPr lang="en"/>
              <a:t>ex: ICU patient generating vitals</a:t>
            </a:r>
            <a:endParaRPr/>
          </a:p>
          <a:p>
            <a:pPr indent="-285750" lvl="0" marL="457200" rtl="0" algn="l">
              <a:spcBef>
                <a:spcPts val="0"/>
              </a:spcBef>
              <a:spcAft>
                <a:spcPts val="0"/>
              </a:spcAft>
              <a:buSzPts val="900"/>
              <a:buChar char="➔"/>
            </a:pPr>
            <a:r>
              <a:rPr lang="en"/>
              <a:t>Consistency trumps availability, RDBMS</a:t>
            </a:r>
            <a:endParaRPr/>
          </a:p>
          <a:p>
            <a:pPr indent="-285750" lvl="1" marL="914400" rtl="0" algn="l">
              <a:spcBef>
                <a:spcPts val="0"/>
              </a:spcBef>
              <a:spcAft>
                <a:spcPts val="0"/>
              </a:spcAft>
              <a:buSzPts val="900"/>
              <a:buChar char="◆"/>
            </a:pPr>
            <a:r>
              <a:rPr lang="en"/>
              <a:t>Data needs to be as accurate as possible when dealing with medications and health data</a:t>
            </a:r>
            <a:endParaRPr/>
          </a:p>
          <a:p>
            <a:pPr indent="-285750" lvl="1" marL="914400" rtl="0" algn="l">
              <a:spcBef>
                <a:spcPts val="0"/>
              </a:spcBef>
              <a:spcAft>
                <a:spcPts val="0"/>
              </a:spcAft>
              <a:buSzPts val="900"/>
              <a:buChar char="◆"/>
            </a:pPr>
            <a:r>
              <a:rPr lang="en"/>
              <a:t>Partitioned</a:t>
            </a:r>
            <a:r>
              <a:rPr lang="en"/>
              <a:t> RDBMS preservers full ACID within each shard (medication administration is either full written or not at all)</a:t>
            </a:r>
            <a:endParaRPr/>
          </a:p>
          <a:p>
            <a:pPr indent="-285750" lvl="1" marL="914400" rtl="0" algn="l">
              <a:spcBef>
                <a:spcPts val="0"/>
              </a:spcBef>
              <a:spcAft>
                <a:spcPts val="0"/>
              </a:spcAft>
              <a:buSzPts val="900"/>
              <a:buChar char="◆"/>
            </a:pPr>
            <a:r>
              <a:rPr lang="en"/>
              <a:t>NoSQL systems are eventually consistent, which for an early warning system is a safety risk</a:t>
            </a:r>
            <a:endParaRPr/>
          </a:p>
          <a:p>
            <a:pPr indent="-102870" lvl="0" marL="274320" rtl="0" algn="l">
              <a:spcBef>
                <a:spcPts val="0"/>
              </a:spcBef>
              <a:spcAft>
                <a:spcPts val="0"/>
              </a:spcAft>
              <a:buSzPts val="900"/>
              <a:buChar char="➔"/>
            </a:pPr>
            <a:r>
              <a:rPr lang="en"/>
              <a:t>Partition</a:t>
            </a:r>
            <a:r>
              <a:rPr lang="en"/>
              <a:t> key: subject_id and patient’s records live on same node</a:t>
            </a:r>
            <a:endParaRPr/>
          </a:p>
          <a:p>
            <a:pPr indent="-285750" lvl="1" marL="914400" rtl="0" algn="l">
              <a:spcBef>
                <a:spcPts val="0"/>
              </a:spcBef>
              <a:spcAft>
                <a:spcPts val="0"/>
              </a:spcAft>
              <a:buSzPts val="900"/>
              <a:buChar char="◆"/>
            </a:pPr>
            <a:r>
              <a:rPr lang="en"/>
              <a:t>Joins across network have huge cost, but not very applicable with our use cases (medication safety and ICU warning, both high frequency)</a:t>
            </a:r>
            <a:endParaRPr/>
          </a:p>
          <a:p>
            <a:pPr indent="-102870" lvl="0" marL="274320" rtl="0" algn="l">
              <a:spcBef>
                <a:spcPts val="0"/>
              </a:spcBef>
              <a:spcAft>
                <a:spcPts val="0"/>
              </a:spcAft>
              <a:buSzPts val="900"/>
              <a:buChar char="➔"/>
            </a:pPr>
            <a:r>
              <a:rPr lang="en"/>
              <a:t>Long stay patients can become hot spots </a:t>
            </a:r>
            <a:endParaRPr/>
          </a:p>
        </p:txBody>
      </p:sp>
      <p:sp>
        <p:nvSpPr>
          <p:cNvPr id="751" name="Google Shape;751;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4"/>
          <p:cNvSpPr txBox="1"/>
          <p:nvPr/>
        </p:nvSpPr>
        <p:spPr>
          <a:xfrm>
            <a:off x="249600" y="1237750"/>
            <a:ext cx="2316600" cy="153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000">
                <a:solidFill>
                  <a:schemeClr val="lt1"/>
                </a:solidFill>
                <a:latin typeface="Red Hat Display SemiBold"/>
                <a:ea typeface="Red Hat Display SemiBold"/>
                <a:cs typeface="Red Hat Display SemiBold"/>
                <a:sym typeface="Red Hat Display SemiBold"/>
              </a:rPr>
              <a:t>Core Patient &amp; Hospital Flow</a:t>
            </a:r>
            <a:endParaRPr sz="1000">
              <a:solidFill>
                <a:schemeClr val="lt1"/>
              </a:solidFill>
              <a:latin typeface="Red Hat Display SemiBold"/>
              <a:ea typeface="Red Hat Display SemiBold"/>
              <a:cs typeface="Red Hat Display SemiBold"/>
              <a:sym typeface="Red Hat Display SemiBold"/>
            </a:endParaRPr>
          </a:p>
        </p:txBody>
      </p:sp>
      <p:sp>
        <p:nvSpPr>
          <p:cNvPr id="757" name="Google Shape;757;p54"/>
          <p:cNvSpPr txBox="1"/>
          <p:nvPr>
            <p:ph type="title"/>
          </p:nvPr>
        </p:nvSpPr>
        <p:spPr>
          <a:xfrm>
            <a:off x="228600" y="420025"/>
            <a:ext cx="28347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NoSQL Model:</a:t>
            </a:r>
            <a:br>
              <a:rPr lang="en"/>
            </a:br>
            <a:r>
              <a:rPr lang="en"/>
              <a:t>Document Database</a:t>
            </a:r>
            <a:endParaRPr/>
          </a:p>
        </p:txBody>
      </p:sp>
      <p:pic>
        <p:nvPicPr>
          <p:cNvPr id="758" name="Google Shape;758;p54"/>
          <p:cNvPicPr preferRelativeResize="0"/>
          <p:nvPr/>
        </p:nvPicPr>
        <p:blipFill>
          <a:blip r:embed="rId3">
            <a:alphaModFix/>
          </a:blip>
          <a:stretch>
            <a:fillRect/>
          </a:stretch>
        </p:blipFill>
        <p:spPr>
          <a:xfrm>
            <a:off x="228602" y="1512975"/>
            <a:ext cx="1937551" cy="859904"/>
          </a:xfrm>
          <a:prstGeom prst="rect">
            <a:avLst/>
          </a:prstGeom>
          <a:noFill/>
          <a:ln>
            <a:noFill/>
          </a:ln>
        </p:spPr>
      </p:pic>
      <p:pic>
        <p:nvPicPr>
          <p:cNvPr id="759" name="Google Shape;759;p54"/>
          <p:cNvPicPr preferRelativeResize="0"/>
          <p:nvPr/>
        </p:nvPicPr>
        <p:blipFill>
          <a:blip r:embed="rId4">
            <a:alphaModFix/>
          </a:blip>
          <a:stretch>
            <a:fillRect/>
          </a:stretch>
        </p:blipFill>
        <p:spPr>
          <a:xfrm>
            <a:off x="228599" y="2605786"/>
            <a:ext cx="1767575" cy="1276225"/>
          </a:xfrm>
          <a:prstGeom prst="rect">
            <a:avLst/>
          </a:prstGeom>
          <a:noFill/>
          <a:ln>
            <a:noFill/>
          </a:ln>
        </p:spPr>
      </p:pic>
      <p:pic>
        <p:nvPicPr>
          <p:cNvPr id="760" name="Google Shape;760;p54"/>
          <p:cNvPicPr preferRelativeResize="0"/>
          <p:nvPr/>
        </p:nvPicPr>
        <p:blipFill>
          <a:blip r:embed="rId5">
            <a:alphaModFix/>
          </a:blip>
          <a:stretch>
            <a:fillRect/>
          </a:stretch>
        </p:blipFill>
        <p:spPr>
          <a:xfrm>
            <a:off x="2697750" y="1537725"/>
            <a:ext cx="1767574" cy="810389"/>
          </a:xfrm>
          <a:prstGeom prst="rect">
            <a:avLst/>
          </a:prstGeom>
          <a:noFill/>
          <a:ln>
            <a:noFill/>
          </a:ln>
        </p:spPr>
      </p:pic>
      <p:cxnSp>
        <p:nvCxnSpPr>
          <p:cNvPr id="761" name="Google Shape;761;p54"/>
          <p:cNvCxnSpPr/>
          <p:nvPr/>
        </p:nvCxnSpPr>
        <p:spPr>
          <a:xfrm flipH="1" rot="10800000">
            <a:off x="2166153" y="1942626"/>
            <a:ext cx="338400" cy="300"/>
          </a:xfrm>
          <a:prstGeom prst="straightConnector1">
            <a:avLst/>
          </a:prstGeom>
          <a:noFill/>
          <a:ln cap="flat" cmpd="sng" w="9525">
            <a:solidFill>
              <a:schemeClr val="dk2"/>
            </a:solidFill>
            <a:prstDash val="solid"/>
            <a:round/>
            <a:headEnd len="med" w="med" type="none"/>
            <a:tailEnd len="med" w="med" type="triangle"/>
          </a:ln>
        </p:spPr>
      </p:cxnSp>
      <p:pic>
        <p:nvPicPr>
          <p:cNvPr id="762" name="Google Shape;762;p54"/>
          <p:cNvPicPr preferRelativeResize="0"/>
          <p:nvPr/>
        </p:nvPicPr>
        <p:blipFill>
          <a:blip r:embed="rId6">
            <a:alphaModFix/>
          </a:blip>
          <a:stretch>
            <a:fillRect/>
          </a:stretch>
        </p:blipFill>
        <p:spPr>
          <a:xfrm>
            <a:off x="2697750" y="2649501"/>
            <a:ext cx="2122350" cy="1185247"/>
          </a:xfrm>
          <a:prstGeom prst="rect">
            <a:avLst/>
          </a:prstGeom>
          <a:noFill/>
          <a:ln>
            <a:noFill/>
          </a:ln>
        </p:spPr>
      </p:pic>
      <p:cxnSp>
        <p:nvCxnSpPr>
          <p:cNvPr id="763" name="Google Shape;763;p54"/>
          <p:cNvCxnSpPr/>
          <p:nvPr/>
        </p:nvCxnSpPr>
        <p:spPr>
          <a:xfrm>
            <a:off x="2199125" y="3176500"/>
            <a:ext cx="268800" cy="0"/>
          </a:xfrm>
          <a:prstGeom prst="straightConnector1">
            <a:avLst/>
          </a:prstGeom>
          <a:noFill/>
          <a:ln cap="flat" cmpd="sng" w="9525">
            <a:solidFill>
              <a:schemeClr val="dk2"/>
            </a:solidFill>
            <a:prstDash val="solid"/>
            <a:round/>
            <a:headEnd len="med" w="med" type="none"/>
            <a:tailEnd len="med" w="med" type="triangle"/>
          </a:ln>
        </p:spPr>
      </p:cxnSp>
      <p:pic>
        <p:nvPicPr>
          <p:cNvPr id="764" name="Google Shape;764;p54"/>
          <p:cNvPicPr preferRelativeResize="0"/>
          <p:nvPr/>
        </p:nvPicPr>
        <p:blipFill>
          <a:blip r:embed="rId7">
            <a:alphaModFix/>
          </a:blip>
          <a:stretch>
            <a:fillRect/>
          </a:stretch>
        </p:blipFill>
        <p:spPr>
          <a:xfrm>
            <a:off x="4820100" y="164625"/>
            <a:ext cx="1563776" cy="1947775"/>
          </a:xfrm>
          <a:prstGeom prst="rect">
            <a:avLst/>
          </a:prstGeom>
          <a:noFill/>
          <a:ln>
            <a:noFill/>
          </a:ln>
        </p:spPr>
      </p:pic>
      <p:pic>
        <p:nvPicPr>
          <p:cNvPr id="765" name="Google Shape;765;p54"/>
          <p:cNvPicPr preferRelativeResize="0"/>
          <p:nvPr/>
        </p:nvPicPr>
        <p:blipFill>
          <a:blip r:embed="rId8">
            <a:alphaModFix/>
          </a:blip>
          <a:stretch>
            <a:fillRect/>
          </a:stretch>
        </p:blipFill>
        <p:spPr>
          <a:xfrm>
            <a:off x="6878425" y="164625"/>
            <a:ext cx="1624690" cy="1073000"/>
          </a:xfrm>
          <a:prstGeom prst="rect">
            <a:avLst/>
          </a:prstGeom>
          <a:noFill/>
          <a:ln>
            <a:noFill/>
          </a:ln>
        </p:spPr>
      </p:pic>
      <p:pic>
        <p:nvPicPr>
          <p:cNvPr id="766" name="Google Shape;766;p54"/>
          <p:cNvPicPr preferRelativeResize="0"/>
          <p:nvPr/>
        </p:nvPicPr>
        <p:blipFill>
          <a:blip r:embed="rId9">
            <a:alphaModFix/>
          </a:blip>
          <a:stretch>
            <a:fillRect/>
          </a:stretch>
        </p:blipFill>
        <p:spPr>
          <a:xfrm>
            <a:off x="6939350" y="1463325"/>
            <a:ext cx="1563775" cy="1999648"/>
          </a:xfrm>
          <a:prstGeom prst="rect">
            <a:avLst/>
          </a:prstGeom>
          <a:noFill/>
          <a:ln>
            <a:noFill/>
          </a:ln>
        </p:spPr>
      </p:pic>
      <p:pic>
        <p:nvPicPr>
          <p:cNvPr id="767" name="Google Shape;767;p54"/>
          <p:cNvPicPr preferRelativeResize="0"/>
          <p:nvPr/>
        </p:nvPicPr>
        <p:blipFill>
          <a:blip r:embed="rId10">
            <a:alphaModFix/>
          </a:blip>
          <a:stretch>
            <a:fillRect/>
          </a:stretch>
        </p:blipFill>
        <p:spPr>
          <a:xfrm>
            <a:off x="5241275" y="2277000"/>
            <a:ext cx="1383694" cy="1276224"/>
          </a:xfrm>
          <a:prstGeom prst="rect">
            <a:avLst/>
          </a:prstGeom>
          <a:noFill/>
          <a:ln>
            <a:noFill/>
          </a:ln>
        </p:spPr>
      </p:pic>
      <p:pic>
        <p:nvPicPr>
          <p:cNvPr id="768" name="Google Shape;768;p54"/>
          <p:cNvPicPr preferRelativeResize="0"/>
          <p:nvPr/>
        </p:nvPicPr>
        <p:blipFill>
          <a:blip r:embed="rId11">
            <a:alphaModFix/>
          </a:blip>
          <a:stretch>
            <a:fillRect/>
          </a:stretch>
        </p:blipFill>
        <p:spPr>
          <a:xfrm>
            <a:off x="4941325" y="3972500"/>
            <a:ext cx="1767574" cy="711213"/>
          </a:xfrm>
          <a:prstGeom prst="rect">
            <a:avLst/>
          </a:prstGeom>
          <a:noFill/>
          <a:ln>
            <a:noFill/>
          </a:ln>
        </p:spPr>
      </p:pic>
      <p:pic>
        <p:nvPicPr>
          <p:cNvPr id="769" name="Google Shape;769;p54"/>
          <p:cNvPicPr preferRelativeResize="0"/>
          <p:nvPr/>
        </p:nvPicPr>
        <p:blipFill>
          <a:blip r:embed="rId12">
            <a:alphaModFix/>
          </a:blip>
          <a:stretch>
            <a:fillRect/>
          </a:stretch>
        </p:blipFill>
        <p:spPr>
          <a:xfrm>
            <a:off x="6939350" y="3688675"/>
            <a:ext cx="2015436" cy="1276225"/>
          </a:xfrm>
          <a:prstGeom prst="rect">
            <a:avLst/>
          </a:prstGeom>
          <a:noFill/>
          <a:ln>
            <a:noFill/>
          </a:ln>
        </p:spPr>
      </p:pic>
      <p:sp>
        <p:nvSpPr>
          <p:cNvPr id="770" name="Google Shape;770;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5"/>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Queries</a:t>
            </a:r>
            <a:endParaRPr/>
          </a:p>
        </p:txBody>
      </p:sp>
      <p:sp>
        <p:nvSpPr>
          <p:cNvPr id="776" name="Google Shape;776;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56"/>
          <p:cNvSpPr/>
          <p:nvPr/>
        </p:nvSpPr>
        <p:spPr>
          <a:xfrm>
            <a:off x="250263" y="2356713"/>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782" name="Google Shape;782;p56"/>
          <p:cNvSpPr/>
          <p:nvPr/>
        </p:nvSpPr>
        <p:spPr>
          <a:xfrm>
            <a:off x="4538638" y="2362713"/>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783" name="Google Shape;783;p56"/>
          <p:cNvSpPr txBox="1"/>
          <p:nvPr>
            <p:ph idx="2" type="subTitle"/>
          </p:nvPr>
        </p:nvSpPr>
        <p:spPr>
          <a:xfrm>
            <a:off x="250263" y="2362725"/>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Relational Schema</a:t>
            </a:r>
            <a:endParaRPr/>
          </a:p>
        </p:txBody>
      </p:sp>
      <p:sp>
        <p:nvSpPr>
          <p:cNvPr id="784" name="Google Shape;784;p56"/>
          <p:cNvSpPr txBox="1"/>
          <p:nvPr>
            <p:ph idx="3" type="subTitle"/>
          </p:nvPr>
        </p:nvSpPr>
        <p:spPr>
          <a:xfrm>
            <a:off x="4538638" y="2368725"/>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NoSQL Schema</a:t>
            </a:r>
            <a:endParaRPr/>
          </a:p>
        </p:txBody>
      </p:sp>
      <p:sp>
        <p:nvSpPr>
          <p:cNvPr id="785" name="Google Shape;785;p56"/>
          <p:cNvSpPr txBox="1"/>
          <p:nvPr>
            <p:ph idx="5" type="body"/>
          </p:nvPr>
        </p:nvSpPr>
        <p:spPr>
          <a:xfrm>
            <a:off x="4538638" y="2815950"/>
            <a:ext cx="4355100" cy="1532400"/>
          </a:xfrm>
          <a:prstGeom prst="rect">
            <a:avLst/>
          </a:prstGeom>
        </p:spPr>
        <p:txBody>
          <a:bodyPr anchorCtr="0" anchor="t" bIns="0" lIns="0" spcFirstLastPara="1" rIns="0" wrap="square" tIns="0">
            <a:spAutoFit/>
          </a:bodyPr>
          <a:lstStyle/>
          <a:p>
            <a:pPr indent="-115570" lvl="0" marL="274320" rtl="0" algn="l">
              <a:spcBef>
                <a:spcPts val="0"/>
              </a:spcBef>
              <a:spcAft>
                <a:spcPts val="0"/>
              </a:spcAft>
              <a:buSzPts val="1100"/>
              <a:buChar char="➔"/>
            </a:pPr>
            <a:r>
              <a:rPr lang="en" sz="1100"/>
              <a:t>The NoSQL traversal from our schema would iterate the </a:t>
            </a:r>
            <a:r>
              <a:rPr lang="en" sz="1100">
                <a:solidFill>
                  <a:srgbClr val="188038"/>
                </a:solidFill>
              </a:rPr>
              <a:t>admissions</a:t>
            </a:r>
            <a:r>
              <a:rPr lang="en" sz="1100">
                <a:solidFill>
                  <a:srgbClr val="000000"/>
                </a:solidFill>
              </a:rPr>
              <a:t> </a:t>
            </a:r>
            <a:r>
              <a:rPr lang="en" sz="1100"/>
              <a:t>array within each file, looking for pairs of </a:t>
            </a:r>
            <a:r>
              <a:rPr lang="en" sz="1100">
                <a:solidFill>
                  <a:srgbClr val="188038"/>
                </a:solidFill>
              </a:rPr>
              <a:t>prescription.drug = emar.medication</a:t>
            </a:r>
            <a:r>
              <a:rPr lang="en" sz="1100">
                <a:solidFill>
                  <a:srgbClr val="000000"/>
                </a:solidFill>
              </a:rPr>
              <a:t> </a:t>
            </a:r>
            <a:r>
              <a:rPr lang="en" sz="1100"/>
              <a:t>and</a:t>
            </a:r>
            <a:r>
              <a:rPr lang="en" sz="1100">
                <a:solidFill>
                  <a:srgbClr val="000000"/>
                </a:solidFill>
              </a:rPr>
              <a:t> </a:t>
            </a:r>
            <a:r>
              <a:rPr lang="en" sz="1100">
                <a:solidFill>
                  <a:srgbClr val="188038"/>
                </a:solidFill>
              </a:rPr>
              <a:t>emar.hamd_id = prescription.hamd_id</a:t>
            </a:r>
            <a:r>
              <a:rPr lang="en" sz="1100">
                <a:solidFill>
                  <a:srgbClr val="000000"/>
                </a:solidFill>
              </a:rPr>
              <a:t> </a:t>
            </a:r>
            <a:r>
              <a:rPr lang="en" sz="1100"/>
              <a:t>for each</a:t>
            </a:r>
            <a:r>
              <a:rPr lang="en" sz="1100">
                <a:solidFill>
                  <a:srgbClr val="000000"/>
                </a:solidFill>
              </a:rPr>
              <a:t> </a:t>
            </a:r>
            <a:r>
              <a:rPr lang="en" sz="1100">
                <a:solidFill>
                  <a:srgbClr val="188038"/>
                </a:solidFill>
              </a:rPr>
              <a:t>hamd_id</a:t>
            </a:r>
            <a:r>
              <a:rPr lang="en" sz="1100">
                <a:solidFill>
                  <a:srgbClr val="000000"/>
                </a:solidFill>
              </a:rPr>
              <a:t>. </a:t>
            </a:r>
            <a:endParaRPr sz="1100">
              <a:solidFill>
                <a:srgbClr val="000000"/>
              </a:solidFill>
            </a:endParaRPr>
          </a:p>
          <a:p>
            <a:pPr indent="-115570" lvl="0" marL="274320" rtl="0" algn="l">
              <a:spcBef>
                <a:spcPts val="0"/>
              </a:spcBef>
              <a:spcAft>
                <a:spcPts val="0"/>
              </a:spcAft>
              <a:buSzPts val="1100"/>
              <a:buChar char="➔"/>
            </a:pPr>
            <a:r>
              <a:rPr lang="en" sz="1100"/>
              <a:t>From there, for each match it would check the</a:t>
            </a:r>
            <a:r>
              <a:rPr lang="en" sz="1100">
                <a:solidFill>
                  <a:srgbClr val="000000"/>
                </a:solidFill>
              </a:rPr>
              <a:t> </a:t>
            </a:r>
            <a:r>
              <a:rPr lang="en" sz="1100">
                <a:solidFill>
                  <a:srgbClr val="188038"/>
                </a:solidFill>
              </a:rPr>
              <a:t>emar</a:t>
            </a:r>
            <a:r>
              <a:rPr lang="en" sz="1100">
                <a:solidFill>
                  <a:srgbClr val="000000"/>
                </a:solidFill>
              </a:rPr>
              <a:t> </a:t>
            </a:r>
            <a:r>
              <a:rPr lang="en" sz="1100"/>
              <a:t>entries and checks </a:t>
            </a:r>
            <a:r>
              <a:rPr lang="en" sz="1100">
                <a:solidFill>
                  <a:srgbClr val="188038"/>
                </a:solidFill>
              </a:rPr>
              <a:t>emar_detail.dose_given</a:t>
            </a:r>
            <a:r>
              <a:rPr lang="en" sz="1100">
                <a:solidFill>
                  <a:srgbClr val="000000"/>
                </a:solidFill>
              </a:rPr>
              <a:t> </a:t>
            </a:r>
            <a:r>
              <a:rPr lang="en" sz="1100"/>
              <a:t>and</a:t>
            </a:r>
            <a:r>
              <a:rPr lang="en" sz="1100">
                <a:solidFill>
                  <a:srgbClr val="000000"/>
                </a:solidFill>
              </a:rPr>
              <a:t> </a:t>
            </a:r>
            <a:r>
              <a:rPr lang="en" sz="1100">
                <a:solidFill>
                  <a:srgbClr val="188038"/>
                </a:solidFill>
              </a:rPr>
              <a:t>prescription.dose_val_rx</a:t>
            </a:r>
            <a:r>
              <a:rPr lang="en" sz="1100">
                <a:solidFill>
                  <a:srgbClr val="000000"/>
                </a:solidFill>
              </a:rPr>
              <a:t> </a:t>
            </a:r>
            <a:r>
              <a:rPr lang="en" sz="1100"/>
              <a:t>being not null and if all conditions are fulfilled, spits out all the values that it checked along with </a:t>
            </a:r>
            <a:r>
              <a:rPr lang="en" sz="1100">
                <a:solidFill>
                  <a:srgbClr val="188038"/>
                </a:solidFill>
              </a:rPr>
              <a:t>dose_given_unit</a:t>
            </a:r>
            <a:r>
              <a:rPr lang="en" sz="1100">
                <a:solidFill>
                  <a:srgbClr val="000000"/>
                </a:solidFill>
              </a:rPr>
              <a:t> </a:t>
            </a:r>
            <a:r>
              <a:rPr lang="en" sz="1100"/>
              <a:t>and</a:t>
            </a:r>
            <a:r>
              <a:rPr lang="en" sz="1100">
                <a:solidFill>
                  <a:srgbClr val="000000"/>
                </a:solidFill>
              </a:rPr>
              <a:t> </a:t>
            </a:r>
            <a:r>
              <a:rPr lang="en" sz="1100">
                <a:solidFill>
                  <a:srgbClr val="188038"/>
                </a:solidFill>
              </a:rPr>
              <a:t>charttime</a:t>
            </a:r>
            <a:r>
              <a:rPr lang="en" sz="1100"/>
              <a:t>.</a:t>
            </a:r>
            <a:endParaRPr sz="1100"/>
          </a:p>
        </p:txBody>
      </p:sp>
      <p:sp>
        <p:nvSpPr>
          <p:cNvPr id="786" name="Google Shape;786;p56"/>
          <p:cNvSpPr txBox="1"/>
          <p:nvPr>
            <p:ph type="title"/>
          </p:nvPr>
        </p:nvSpPr>
        <p:spPr>
          <a:xfrm>
            <a:off x="594150" y="457200"/>
            <a:ext cx="51210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Dose Deviation Deduction</a:t>
            </a:r>
            <a:endParaRPr/>
          </a:p>
        </p:txBody>
      </p:sp>
      <p:pic>
        <p:nvPicPr>
          <p:cNvPr id="787" name="Google Shape;787;p56" title="Screenshot 2026-06-02 at 5.25.40 PM.png"/>
          <p:cNvPicPr preferRelativeResize="0"/>
          <p:nvPr/>
        </p:nvPicPr>
        <p:blipFill>
          <a:blip r:embed="rId3">
            <a:alphaModFix/>
          </a:blip>
          <a:stretch>
            <a:fillRect/>
          </a:stretch>
        </p:blipFill>
        <p:spPr>
          <a:xfrm>
            <a:off x="250263" y="2790250"/>
            <a:ext cx="4234976" cy="1893479"/>
          </a:xfrm>
          <a:prstGeom prst="rect">
            <a:avLst/>
          </a:prstGeom>
          <a:noFill/>
          <a:ln>
            <a:noFill/>
          </a:ln>
        </p:spPr>
      </p:pic>
      <p:sp>
        <p:nvSpPr>
          <p:cNvPr id="788" name="Google Shape;788;p56"/>
          <p:cNvSpPr txBox="1"/>
          <p:nvPr/>
        </p:nvSpPr>
        <p:spPr>
          <a:xfrm>
            <a:off x="361400" y="854850"/>
            <a:ext cx="6541500" cy="1522200"/>
          </a:xfrm>
          <a:prstGeom prst="rect">
            <a:avLst/>
          </a:prstGeom>
          <a:noFill/>
          <a:ln>
            <a:noFill/>
          </a:ln>
        </p:spPr>
        <p:txBody>
          <a:bodyPr anchorCtr="0" anchor="t" bIns="91425" lIns="91425" spcFirstLastPara="1" rIns="91425" wrap="square" tIns="91425">
            <a:spAutoFit/>
          </a:bodyPr>
          <a:lstStyle/>
          <a:p>
            <a:pPr indent="-115570" lvl="0" marL="27432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Use Case: Identify and rectify issues with under/over dosing</a:t>
            </a:r>
            <a:endParaRPr sz="1100">
              <a:solidFill>
                <a:schemeClr val="lt1"/>
              </a:solidFill>
              <a:latin typeface="Red Hat Display"/>
              <a:ea typeface="Red Hat Display"/>
              <a:cs typeface="Red Hat Display"/>
              <a:sym typeface="Red Hat Display"/>
            </a:endParaRPr>
          </a:p>
          <a:p>
            <a:pPr indent="-298450" lvl="1" marL="91440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Or c</a:t>
            </a:r>
            <a:r>
              <a:rPr lang="en" sz="1100">
                <a:solidFill>
                  <a:schemeClr val="lt1"/>
                </a:solidFill>
                <a:latin typeface="Red Hat Display"/>
                <a:ea typeface="Red Hat Display"/>
                <a:cs typeface="Red Hat Display"/>
                <a:sym typeface="Red Hat Display"/>
              </a:rPr>
              <a:t>heck for issues even before EOD procedures</a:t>
            </a:r>
            <a:endParaRPr sz="1100">
              <a:solidFill>
                <a:schemeClr val="lt1"/>
              </a:solidFill>
              <a:latin typeface="Red Hat Display"/>
              <a:ea typeface="Red Hat Display"/>
              <a:cs typeface="Red Hat Display"/>
              <a:sym typeface="Red Hat Display"/>
            </a:endParaRPr>
          </a:p>
          <a:p>
            <a:pPr indent="-115570" lvl="0" marL="27432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Frequency: Runs automated daily for operational analysis procedures</a:t>
            </a:r>
            <a:endParaRPr sz="1100">
              <a:solidFill>
                <a:schemeClr val="lt1"/>
              </a:solidFill>
              <a:latin typeface="Red Hat Display"/>
              <a:ea typeface="Red Hat Display"/>
              <a:cs typeface="Red Hat Display"/>
              <a:sym typeface="Red Hat Display"/>
            </a:endParaRPr>
          </a:p>
          <a:p>
            <a:pPr indent="-298450" lvl="1" marL="91440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Can also be  requested on-demand by staff</a:t>
            </a:r>
            <a:endParaRPr sz="1100">
              <a:solidFill>
                <a:schemeClr val="lt1"/>
              </a:solidFill>
              <a:latin typeface="Red Hat Display"/>
              <a:ea typeface="Red Hat Display"/>
              <a:cs typeface="Red Hat Display"/>
              <a:sym typeface="Red Hat Display"/>
            </a:endParaRPr>
          </a:p>
          <a:p>
            <a:pPr indent="-115570" lvl="0" marL="27432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Output: </a:t>
            </a:r>
            <a:endParaRPr sz="1100">
              <a:solidFill>
                <a:schemeClr val="lt1"/>
              </a:solidFill>
              <a:latin typeface="Red Hat Display"/>
              <a:ea typeface="Red Hat Display"/>
              <a:cs typeface="Red Hat Display"/>
              <a:sym typeface="Red Hat Display"/>
            </a:endParaRPr>
          </a:p>
          <a:p>
            <a:pPr indent="-298450" lvl="1" marL="91440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List of all anomalies between ordered and administered medications that are charted.</a:t>
            </a:r>
            <a:endParaRPr sz="1100">
              <a:solidFill>
                <a:schemeClr val="lt1"/>
              </a:solidFill>
              <a:latin typeface="Red Hat Display"/>
              <a:ea typeface="Red Hat Display"/>
              <a:cs typeface="Red Hat Display"/>
              <a:sym typeface="Red Hat Display"/>
            </a:endParaRPr>
          </a:p>
          <a:p>
            <a:pPr indent="0" lvl="0" marL="274320" rtl="0" algn="l">
              <a:lnSpc>
                <a:spcPct val="115000"/>
              </a:lnSpc>
              <a:spcBef>
                <a:spcPts val="0"/>
              </a:spcBef>
              <a:spcAft>
                <a:spcPts val="0"/>
              </a:spcAft>
              <a:buNone/>
            </a:pPr>
            <a:r>
              <a:t/>
            </a:r>
            <a:endParaRPr sz="1100">
              <a:solidFill>
                <a:schemeClr val="lt1"/>
              </a:solidFill>
              <a:latin typeface="Red Hat Display"/>
              <a:ea typeface="Red Hat Display"/>
              <a:cs typeface="Red Hat Display"/>
              <a:sym typeface="Red Hat Display"/>
            </a:endParaRPr>
          </a:p>
        </p:txBody>
      </p:sp>
      <p:sp>
        <p:nvSpPr>
          <p:cNvPr id="789" name="Google Shape;789;p56"/>
          <p:cNvSpPr txBox="1"/>
          <p:nvPr>
            <p:ph idx="1" type="subTitle"/>
          </p:nvPr>
        </p:nvSpPr>
        <p:spPr>
          <a:xfrm>
            <a:off x="594150" y="228600"/>
            <a:ext cx="4015800" cy="264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Example Query 1</a:t>
            </a:r>
            <a:endParaRPr/>
          </a:p>
        </p:txBody>
      </p:sp>
      <p:sp>
        <p:nvSpPr>
          <p:cNvPr id="790" name="Google Shape;790;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57"/>
          <p:cNvSpPr/>
          <p:nvPr/>
        </p:nvSpPr>
        <p:spPr>
          <a:xfrm>
            <a:off x="250263" y="2356713"/>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796" name="Google Shape;796;p57"/>
          <p:cNvSpPr/>
          <p:nvPr/>
        </p:nvSpPr>
        <p:spPr>
          <a:xfrm>
            <a:off x="4538638" y="2362713"/>
            <a:ext cx="1500900" cy="276600"/>
          </a:xfrm>
          <a:prstGeom prst="snip2DiagRect">
            <a:avLst>
              <a:gd fmla="val 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0">
              <a:solidFill>
                <a:schemeClr val="dk2"/>
              </a:solidFill>
              <a:latin typeface="Red Hat Display SemiBold"/>
              <a:ea typeface="Red Hat Display SemiBold"/>
              <a:cs typeface="Red Hat Display SemiBold"/>
              <a:sym typeface="Red Hat Display SemiBold"/>
            </a:endParaRPr>
          </a:p>
        </p:txBody>
      </p:sp>
      <p:sp>
        <p:nvSpPr>
          <p:cNvPr id="797" name="Google Shape;797;p57"/>
          <p:cNvSpPr txBox="1"/>
          <p:nvPr>
            <p:ph idx="2" type="subTitle"/>
          </p:nvPr>
        </p:nvSpPr>
        <p:spPr>
          <a:xfrm>
            <a:off x="250263" y="2362725"/>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Relational Schema</a:t>
            </a:r>
            <a:endParaRPr/>
          </a:p>
        </p:txBody>
      </p:sp>
      <p:sp>
        <p:nvSpPr>
          <p:cNvPr id="798" name="Google Shape;798;p57"/>
          <p:cNvSpPr txBox="1"/>
          <p:nvPr>
            <p:ph idx="3" type="subTitle"/>
          </p:nvPr>
        </p:nvSpPr>
        <p:spPr>
          <a:xfrm>
            <a:off x="4538638" y="2368725"/>
            <a:ext cx="1500900" cy="264600"/>
          </a:xfrm>
          <a:prstGeom prst="rect">
            <a:avLst/>
          </a:prstGeom>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a:t>NoSQL Schema</a:t>
            </a:r>
            <a:endParaRPr/>
          </a:p>
        </p:txBody>
      </p:sp>
      <p:sp>
        <p:nvSpPr>
          <p:cNvPr id="799" name="Google Shape;799;p57"/>
          <p:cNvSpPr txBox="1"/>
          <p:nvPr>
            <p:ph idx="5" type="body"/>
          </p:nvPr>
        </p:nvSpPr>
        <p:spPr>
          <a:xfrm>
            <a:off x="4538638" y="2815950"/>
            <a:ext cx="4355100" cy="1532400"/>
          </a:xfrm>
          <a:prstGeom prst="rect">
            <a:avLst/>
          </a:prstGeom>
        </p:spPr>
        <p:txBody>
          <a:bodyPr anchorCtr="0" anchor="t" bIns="0" lIns="0" spcFirstLastPara="1" rIns="0" wrap="square" tIns="0">
            <a:spAutoFit/>
          </a:bodyPr>
          <a:lstStyle/>
          <a:p>
            <a:pPr indent="-115570" lvl="0" marL="274320" rtl="0" algn="l">
              <a:spcBef>
                <a:spcPts val="0"/>
              </a:spcBef>
              <a:spcAft>
                <a:spcPts val="0"/>
              </a:spcAft>
              <a:buSzPts val="1100"/>
              <a:buChar char="➔"/>
            </a:pPr>
            <a:r>
              <a:rPr lang="en" sz="1100"/>
              <a:t>Within each document it would again iterate on </a:t>
            </a:r>
            <a:r>
              <a:rPr lang="en" sz="1100">
                <a:solidFill>
                  <a:srgbClr val="188038"/>
                </a:solidFill>
              </a:rPr>
              <a:t>admissions</a:t>
            </a:r>
            <a:r>
              <a:rPr lang="en" sz="1100">
                <a:solidFill>
                  <a:srgbClr val="000000"/>
                </a:solidFill>
              </a:rPr>
              <a:t>, </a:t>
            </a:r>
            <a:r>
              <a:rPr lang="en" sz="1100"/>
              <a:t>reading</a:t>
            </a:r>
            <a:r>
              <a:rPr lang="en" sz="1100">
                <a:solidFill>
                  <a:srgbClr val="000000"/>
                </a:solidFill>
              </a:rPr>
              <a:t> </a:t>
            </a:r>
            <a:r>
              <a:rPr lang="en" sz="1100">
                <a:solidFill>
                  <a:srgbClr val="188038"/>
                </a:solidFill>
              </a:rPr>
              <a:t>admission_type</a:t>
            </a:r>
            <a:r>
              <a:rPr lang="en" sz="1100">
                <a:solidFill>
                  <a:srgbClr val="000000"/>
                </a:solidFill>
              </a:rPr>
              <a:t> </a:t>
            </a:r>
            <a:r>
              <a:rPr lang="en" sz="1100"/>
              <a:t>and</a:t>
            </a:r>
            <a:r>
              <a:rPr lang="en" sz="1100">
                <a:solidFill>
                  <a:srgbClr val="000000"/>
                </a:solidFill>
              </a:rPr>
              <a:t> </a:t>
            </a:r>
            <a:r>
              <a:rPr lang="en" sz="1100">
                <a:solidFill>
                  <a:srgbClr val="188038"/>
                </a:solidFill>
              </a:rPr>
              <a:t>hadm_id</a:t>
            </a:r>
            <a:r>
              <a:rPr lang="en" sz="1100">
                <a:solidFill>
                  <a:srgbClr val="000000"/>
                </a:solidFill>
              </a:rPr>
              <a:t> </a:t>
            </a:r>
            <a:r>
              <a:rPr lang="en" sz="1100"/>
              <a:t>and then iterate through the</a:t>
            </a:r>
            <a:r>
              <a:rPr lang="en" sz="1100">
                <a:solidFill>
                  <a:srgbClr val="000000"/>
                </a:solidFill>
              </a:rPr>
              <a:t> </a:t>
            </a:r>
            <a:r>
              <a:rPr lang="en" sz="1100">
                <a:solidFill>
                  <a:srgbClr val="188038"/>
                </a:solidFill>
              </a:rPr>
              <a:t>emar</a:t>
            </a:r>
            <a:r>
              <a:rPr lang="en" sz="1100">
                <a:solidFill>
                  <a:srgbClr val="000000"/>
                </a:solidFill>
              </a:rPr>
              <a:t> </a:t>
            </a:r>
            <a:r>
              <a:rPr lang="en" sz="1100"/>
              <a:t>arrays. </a:t>
            </a:r>
            <a:endParaRPr sz="1100"/>
          </a:p>
          <a:p>
            <a:pPr indent="-115570" lvl="0" marL="274320" rtl="0" algn="l">
              <a:spcBef>
                <a:spcPts val="0"/>
              </a:spcBef>
              <a:spcAft>
                <a:spcPts val="0"/>
              </a:spcAft>
              <a:buSzPts val="1100"/>
              <a:buChar char="➔"/>
            </a:pPr>
            <a:r>
              <a:rPr lang="en" sz="1100"/>
              <a:t>It checks the equivalent of the SQL </a:t>
            </a:r>
            <a:r>
              <a:rPr lang="en" sz="1100">
                <a:solidFill>
                  <a:srgbClr val="188038"/>
                </a:solidFill>
              </a:rPr>
              <a:t>WHERE</a:t>
            </a:r>
            <a:r>
              <a:rPr lang="en" sz="1100">
                <a:solidFill>
                  <a:srgbClr val="000000"/>
                </a:solidFill>
              </a:rPr>
              <a:t> </a:t>
            </a:r>
            <a:r>
              <a:rPr lang="en" sz="1100"/>
              <a:t>clause and if it meets the criteria (</a:t>
            </a:r>
            <a:r>
              <a:rPr lang="en" sz="1100">
                <a:solidFill>
                  <a:srgbClr val="188038"/>
                </a:solidFill>
              </a:rPr>
              <a:t>event_txt</a:t>
            </a:r>
            <a:r>
              <a:rPr lang="en" sz="1100"/>
              <a:t> is ‘not given’, </a:t>
            </a:r>
            <a:r>
              <a:rPr lang="en" sz="1100">
                <a:solidFill>
                  <a:srgbClr val="188038"/>
                </a:solidFill>
              </a:rPr>
              <a:t>charttime </a:t>
            </a:r>
            <a:r>
              <a:rPr lang="en" sz="1100"/>
              <a:t>- </a:t>
            </a:r>
            <a:r>
              <a:rPr lang="en" sz="1100">
                <a:solidFill>
                  <a:srgbClr val="188038"/>
                </a:solidFill>
              </a:rPr>
              <a:t>scheduletime</a:t>
            </a:r>
            <a:r>
              <a:rPr lang="en" sz="1100"/>
              <a:t> is greater than 30 min), it would emit the occurrences of corresponding tuples in descending order.</a:t>
            </a:r>
            <a:endParaRPr sz="1100"/>
          </a:p>
          <a:p>
            <a:pPr indent="0" lvl="0" marL="0" rtl="0" algn="l">
              <a:spcBef>
                <a:spcPts val="0"/>
              </a:spcBef>
              <a:spcAft>
                <a:spcPts val="0"/>
              </a:spcAft>
              <a:buNone/>
            </a:pPr>
            <a:r>
              <a:t/>
            </a:r>
            <a:endParaRPr sz="1100"/>
          </a:p>
        </p:txBody>
      </p:sp>
      <p:sp>
        <p:nvSpPr>
          <p:cNvPr id="800" name="Google Shape;800;p57"/>
          <p:cNvSpPr txBox="1"/>
          <p:nvPr>
            <p:ph type="title"/>
          </p:nvPr>
        </p:nvSpPr>
        <p:spPr>
          <a:xfrm>
            <a:off x="594150" y="457200"/>
            <a:ext cx="51210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Omitted &amp; Delayed Doses</a:t>
            </a:r>
            <a:endParaRPr/>
          </a:p>
        </p:txBody>
      </p:sp>
      <p:sp>
        <p:nvSpPr>
          <p:cNvPr id="801" name="Google Shape;801;p57"/>
          <p:cNvSpPr txBox="1"/>
          <p:nvPr/>
        </p:nvSpPr>
        <p:spPr>
          <a:xfrm>
            <a:off x="361400" y="854850"/>
            <a:ext cx="6541500" cy="1327500"/>
          </a:xfrm>
          <a:prstGeom prst="rect">
            <a:avLst/>
          </a:prstGeom>
          <a:noFill/>
          <a:ln>
            <a:noFill/>
          </a:ln>
        </p:spPr>
        <p:txBody>
          <a:bodyPr anchorCtr="0" anchor="t" bIns="91425" lIns="91425" spcFirstLastPara="1" rIns="91425" wrap="square" tIns="91425">
            <a:spAutoFit/>
          </a:bodyPr>
          <a:lstStyle/>
          <a:p>
            <a:pPr indent="-115570" lvl="0" marL="27432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Use Case: Identify </a:t>
            </a:r>
            <a:r>
              <a:rPr lang="en" sz="1100">
                <a:solidFill>
                  <a:schemeClr val="lt1"/>
                </a:solidFill>
                <a:latin typeface="Red Hat Display"/>
                <a:ea typeface="Red Hat Display"/>
                <a:cs typeface="Red Hat Display"/>
                <a:sym typeface="Red Hat Display"/>
              </a:rPr>
              <a:t>delays and omitted doses of medications, grouped by medications</a:t>
            </a:r>
            <a:endParaRPr sz="1100">
              <a:solidFill>
                <a:schemeClr val="lt1"/>
              </a:solidFill>
              <a:latin typeface="Red Hat Display"/>
              <a:ea typeface="Red Hat Display"/>
              <a:cs typeface="Red Hat Display"/>
              <a:sym typeface="Red Hat Display"/>
            </a:endParaRPr>
          </a:p>
          <a:p>
            <a:pPr indent="-115570" lvl="0" marL="27432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Frequency: Daily or on-demand</a:t>
            </a:r>
            <a:endParaRPr sz="1100">
              <a:solidFill>
                <a:schemeClr val="lt1"/>
              </a:solidFill>
              <a:latin typeface="Red Hat Display"/>
              <a:ea typeface="Red Hat Display"/>
              <a:cs typeface="Red Hat Display"/>
              <a:sym typeface="Red Hat Display"/>
            </a:endParaRPr>
          </a:p>
          <a:p>
            <a:pPr indent="-115570" lvl="0" marL="27432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Output: </a:t>
            </a:r>
            <a:endParaRPr sz="1100">
              <a:solidFill>
                <a:schemeClr val="lt1"/>
              </a:solidFill>
              <a:latin typeface="Red Hat Display"/>
              <a:ea typeface="Red Hat Display"/>
              <a:cs typeface="Red Hat Display"/>
              <a:sym typeface="Red Hat Display"/>
            </a:endParaRPr>
          </a:p>
          <a:p>
            <a:pPr indent="-298450" lvl="1" marL="91440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Lists counts of all delayed &amp; omitted doses between ordered and administered medications that are charted, grouped by medication.</a:t>
            </a:r>
            <a:endParaRPr sz="1100">
              <a:solidFill>
                <a:schemeClr val="lt1"/>
              </a:solidFill>
              <a:latin typeface="Red Hat Display"/>
              <a:ea typeface="Red Hat Display"/>
              <a:cs typeface="Red Hat Display"/>
              <a:sym typeface="Red Hat Display"/>
            </a:endParaRPr>
          </a:p>
          <a:p>
            <a:pPr indent="0" lvl="0" marL="274320" rtl="0" algn="l">
              <a:lnSpc>
                <a:spcPct val="115000"/>
              </a:lnSpc>
              <a:spcBef>
                <a:spcPts val="0"/>
              </a:spcBef>
              <a:spcAft>
                <a:spcPts val="0"/>
              </a:spcAft>
              <a:buNone/>
            </a:pPr>
            <a:r>
              <a:t/>
            </a:r>
            <a:endParaRPr sz="1100">
              <a:solidFill>
                <a:schemeClr val="lt1"/>
              </a:solidFill>
              <a:latin typeface="Red Hat Display"/>
              <a:ea typeface="Red Hat Display"/>
              <a:cs typeface="Red Hat Display"/>
              <a:sym typeface="Red Hat Display"/>
            </a:endParaRPr>
          </a:p>
        </p:txBody>
      </p:sp>
      <p:pic>
        <p:nvPicPr>
          <p:cNvPr id="802" name="Google Shape;802;p57" title="Screenshot 2026-06-02 at 5.39.32 PM.png"/>
          <p:cNvPicPr preferRelativeResize="0"/>
          <p:nvPr/>
        </p:nvPicPr>
        <p:blipFill>
          <a:blip r:embed="rId3">
            <a:alphaModFix/>
          </a:blip>
          <a:stretch>
            <a:fillRect/>
          </a:stretch>
        </p:blipFill>
        <p:spPr>
          <a:xfrm>
            <a:off x="215100" y="2807700"/>
            <a:ext cx="4229401" cy="1532400"/>
          </a:xfrm>
          <a:prstGeom prst="rect">
            <a:avLst/>
          </a:prstGeom>
          <a:noFill/>
          <a:ln>
            <a:noFill/>
          </a:ln>
        </p:spPr>
      </p:pic>
      <p:sp>
        <p:nvSpPr>
          <p:cNvPr id="803" name="Google Shape;803;p57"/>
          <p:cNvSpPr txBox="1"/>
          <p:nvPr>
            <p:ph idx="1" type="subTitle"/>
          </p:nvPr>
        </p:nvSpPr>
        <p:spPr>
          <a:xfrm>
            <a:off x="594150" y="228600"/>
            <a:ext cx="4015800" cy="264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Example Query 2</a:t>
            </a:r>
            <a:endParaRPr/>
          </a:p>
        </p:txBody>
      </p:sp>
      <p:sp>
        <p:nvSpPr>
          <p:cNvPr id="804" name="Google Shape;804;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58"/>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Logical Plan</a:t>
            </a:r>
            <a:endParaRPr/>
          </a:p>
        </p:txBody>
      </p:sp>
      <p:sp>
        <p:nvSpPr>
          <p:cNvPr id="810" name="Google Shape;810;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59"/>
          <p:cNvSpPr txBox="1"/>
          <p:nvPr/>
        </p:nvSpPr>
        <p:spPr>
          <a:xfrm>
            <a:off x="228600" y="236398"/>
            <a:ext cx="29475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1000">
                <a:solidFill>
                  <a:schemeClr val="lt1"/>
                </a:solidFill>
                <a:latin typeface="Red Hat Display"/>
                <a:ea typeface="Red Hat Display"/>
                <a:cs typeface="Red Hat Display"/>
                <a:sym typeface="Red Hat Display"/>
              </a:rPr>
              <a:t>Logo</a:t>
            </a:r>
            <a:endParaRPr sz="1000">
              <a:solidFill>
                <a:schemeClr val="lt1"/>
              </a:solidFill>
              <a:latin typeface="Red Hat Display"/>
              <a:ea typeface="Red Hat Display"/>
              <a:cs typeface="Red Hat Display"/>
              <a:sym typeface="Red Hat Display"/>
            </a:endParaRPr>
          </a:p>
        </p:txBody>
      </p:sp>
      <p:grpSp>
        <p:nvGrpSpPr>
          <p:cNvPr id="816" name="Google Shape;816;p59"/>
          <p:cNvGrpSpPr/>
          <p:nvPr/>
        </p:nvGrpSpPr>
        <p:grpSpPr>
          <a:xfrm flipH="1">
            <a:off x="7231564" y="79814"/>
            <a:ext cx="1831025" cy="1512212"/>
            <a:chOff x="7084364" y="227014"/>
            <a:chExt cx="1831025" cy="1512212"/>
          </a:xfrm>
        </p:grpSpPr>
        <p:sp>
          <p:nvSpPr>
            <p:cNvPr id="817" name="Google Shape;817;p59"/>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8" name="Google Shape;818;p59"/>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9" name="Google Shape;819;p59"/>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0" name="Google Shape;820;p59"/>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1" name="Google Shape;821;p59"/>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2" name="Google Shape;822;p59"/>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3" name="Google Shape;823;p59"/>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4" name="Google Shape;824;p59"/>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5" name="Google Shape;825;p59"/>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6" name="Google Shape;826;p59"/>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7" name="Google Shape;827;p59"/>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8" name="Google Shape;828;p59"/>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9" name="Google Shape;829;p59"/>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0" name="Google Shape;830;p59"/>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1" name="Google Shape;831;p59"/>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2" name="Google Shape;832;p59"/>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3" name="Google Shape;833;p59"/>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4" name="Google Shape;834;p59"/>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5" name="Google Shape;835;p59"/>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6" name="Google Shape;836;p59"/>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7" name="Google Shape;837;p59"/>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8" name="Google Shape;838;p59"/>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9" name="Google Shape;839;p59"/>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40" name="Google Shape;840;p59"/>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841" name="Google Shape;841;p59"/>
          <p:cNvSpPr txBox="1"/>
          <p:nvPr>
            <p:ph type="title"/>
          </p:nvPr>
        </p:nvSpPr>
        <p:spPr>
          <a:xfrm>
            <a:off x="228600" y="420025"/>
            <a:ext cx="52986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Logical Plan: Omitted &amp; Delayed Doses</a:t>
            </a:r>
            <a:endParaRPr/>
          </a:p>
        </p:txBody>
      </p:sp>
      <p:pic>
        <p:nvPicPr>
          <p:cNvPr id="842" name="Google Shape;842;p59" title="Naive RA Tree.png"/>
          <p:cNvPicPr preferRelativeResize="0"/>
          <p:nvPr/>
        </p:nvPicPr>
        <p:blipFill rotWithShape="1">
          <a:blip r:embed="rId3">
            <a:alphaModFix/>
          </a:blip>
          <a:srcRect b="22587" l="18810" r="19416" t="23877"/>
          <a:stretch/>
        </p:blipFill>
        <p:spPr>
          <a:xfrm>
            <a:off x="228599" y="1339200"/>
            <a:ext cx="3597924" cy="1753974"/>
          </a:xfrm>
          <a:prstGeom prst="rect">
            <a:avLst/>
          </a:prstGeom>
          <a:noFill/>
          <a:ln>
            <a:noFill/>
          </a:ln>
        </p:spPr>
      </p:pic>
      <p:pic>
        <p:nvPicPr>
          <p:cNvPr id="843" name="Google Shape;843;p59" title="Updated RA Tree.png"/>
          <p:cNvPicPr preferRelativeResize="0"/>
          <p:nvPr/>
        </p:nvPicPr>
        <p:blipFill rotWithShape="1">
          <a:blip r:embed="rId4">
            <a:alphaModFix/>
          </a:blip>
          <a:srcRect b="21474" l="6010" r="8256" t="22778"/>
          <a:stretch/>
        </p:blipFill>
        <p:spPr>
          <a:xfrm>
            <a:off x="3902475" y="2571750"/>
            <a:ext cx="5075152" cy="1856225"/>
          </a:xfrm>
          <a:prstGeom prst="rect">
            <a:avLst/>
          </a:prstGeom>
          <a:noFill/>
          <a:ln>
            <a:noFill/>
          </a:ln>
        </p:spPr>
      </p:pic>
      <p:sp>
        <p:nvSpPr>
          <p:cNvPr id="844" name="Google Shape;844;p59"/>
          <p:cNvSpPr/>
          <p:nvPr/>
        </p:nvSpPr>
        <p:spPr>
          <a:xfrm>
            <a:off x="1416163" y="989650"/>
            <a:ext cx="1222800" cy="2520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000">
                <a:solidFill>
                  <a:schemeClr val="lt1"/>
                </a:solidFill>
                <a:latin typeface="Red Hat Display Medium"/>
                <a:ea typeface="Red Hat Display Medium"/>
                <a:cs typeface="Red Hat Display Medium"/>
                <a:sym typeface="Red Hat Display Medium"/>
              </a:rPr>
              <a:t>Naive RA Tree</a:t>
            </a:r>
            <a:endParaRPr sz="1000">
              <a:solidFill>
                <a:schemeClr val="lt1"/>
              </a:solidFill>
              <a:latin typeface="Red Hat Display Medium"/>
              <a:ea typeface="Red Hat Display Medium"/>
              <a:cs typeface="Red Hat Display Medium"/>
              <a:sym typeface="Red Hat Display Medium"/>
            </a:endParaRPr>
          </a:p>
        </p:txBody>
      </p:sp>
      <p:sp>
        <p:nvSpPr>
          <p:cNvPr id="845" name="Google Shape;845;p59"/>
          <p:cNvSpPr/>
          <p:nvPr/>
        </p:nvSpPr>
        <p:spPr>
          <a:xfrm>
            <a:off x="6343745" y="2204250"/>
            <a:ext cx="1537500" cy="2520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1000">
                <a:solidFill>
                  <a:schemeClr val="lt1"/>
                </a:solidFill>
                <a:latin typeface="Red Hat Display Medium"/>
                <a:ea typeface="Red Hat Display Medium"/>
                <a:cs typeface="Red Hat Display Medium"/>
                <a:sym typeface="Red Hat Display Medium"/>
              </a:rPr>
              <a:t>Updated </a:t>
            </a:r>
            <a:r>
              <a:rPr lang="en" sz="1000">
                <a:solidFill>
                  <a:schemeClr val="lt1"/>
                </a:solidFill>
                <a:latin typeface="Red Hat Display Medium"/>
                <a:ea typeface="Red Hat Display Medium"/>
                <a:cs typeface="Red Hat Display Medium"/>
                <a:sym typeface="Red Hat Display Medium"/>
              </a:rPr>
              <a:t> RA Tree</a:t>
            </a:r>
            <a:endParaRPr sz="1000">
              <a:solidFill>
                <a:schemeClr val="lt1"/>
              </a:solidFill>
              <a:latin typeface="Red Hat Display Medium"/>
              <a:ea typeface="Red Hat Display Medium"/>
              <a:cs typeface="Red Hat Display Medium"/>
              <a:sym typeface="Red Hat Display Medium"/>
            </a:endParaRPr>
          </a:p>
        </p:txBody>
      </p:sp>
      <p:sp>
        <p:nvSpPr>
          <p:cNvPr id="846" name="Google Shape;846;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7" name="Google Shape;847;p59"/>
          <p:cNvSpPr txBox="1"/>
          <p:nvPr/>
        </p:nvSpPr>
        <p:spPr>
          <a:xfrm>
            <a:off x="180925" y="3337800"/>
            <a:ext cx="3645600" cy="938100"/>
          </a:xfrm>
          <a:prstGeom prst="rect">
            <a:avLst/>
          </a:prstGeom>
          <a:noFill/>
          <a:ln>
            <a:noFill/>
          </a:ln>
        </p:spPr>
        <p:txBody>
          <a:bodyPr anchorCtr="0" anchor="t" bIns="91425" lIns="91425" spcFirstLastPara="1" rIns="91425" wrap="square" tIns="91425">
            <a:spAutoFit/>
          </a:bodyPr>
          <a:lstStyle/>
          <a:p>
            <a:pPr indent="-115570" lvl="0" marL="274320" rtl="0" algn="l">
              <a:lnSpc>
                <a:spcPct val="115000"/>
              </a:lnSpc>
              <a:spcBef>
                <a:spcPts val="0"/>
              </a:spcBef>
              <a:spcAft>
                <a:spcPts val="0"/>
              </a:spcAft>
              <a:buClr>
                <a:schemeClr val="lt1"/>
              </a:buClr>
              <a:buSzPts val="1100"/>
              <a:buFont typeface="Red Hat Display"/>
              <a:buChar char="➔"/>
            </a:pPr>
            <a:r>
              <a:rPr lang="en" sz="1100">
                <a:solidFill>
                  <a:schemeClr val="lt1"/>
                </a:solidFill>
                <a:latin typeface="Red Hat Display"/>
                <a:ea typeface="Red Hat Display"/>
                <a:cs typeface="Red Hat Display"/>
                <a:sym typeface="Red Hat Display"/>
              </a:rPr>
              <a:t>The updated RA tree that is presented offers processing benefits as it pushes the `</a:t>
            </a:r>
            <a:r>
              <a:rPr lang="en" sz="1100">
                <a:solidFill>
                  <a:srgbClr val="188038"/>
                </a:solidFill>
                <a:latin typeface="Red Hat Display"/>
                <a:ea typeface="Red Hat Display"/>
                <a:cs typeface="Red Hat Display"/>
                <a:sym typeface="Red Hat Display"/>
              </a:rPr>
              <a:t>WHERE</a:t>
            </a:r>
            <a:r>
              <a:rPr lang="en" sz="1100">
                <a:solidFill>
                  <a:schemeClr val="lt1"/>
                </a:solidFill>
                <a:latin typeface="Red Hat Display"/>
                <a:ea typeface="Red Hat Display"/>
                <a:cs typeface="Red Hat Display"/>
                <a:sym typeface="Red Hat Display"/>
              </a:rPr>
              <a:t>` clause before the `</a:t>
            </a:r>
            <a:r>
              <a:rPr lang="en" sz="1100">
                <a:solidFill>
                  <a:srgbClr val="188038"/>
                </a:solidFill>
                <a:latin typeface="Red Hat Display"/>
                <a:ea typeface="Red Hat Display"/>
                <a:cs typeface="Red Hat Display"/>
                <a:sym typeface="Red Hat Display"/>
              </a:rPr>
              <a:t>JOIN</a:t>
            </a:r>
            <a:r>
              <a:rPr lang="en" sz="1100">
                <a:solidFill>
                  <a:schemeClr val="lt1"/>
                </a:solidFill>
                <a:latin typeface="Red Hat Display"/>
                <a:ea typeface="Red Hat Display"/>
                <a:cs typeface="Red Hat Display"/>
                <a:sym typeface="Red Hat Display"/>
              </a:rPr>
              <a:t>`, eliminating the unnecessary rows before going into the join.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60"/>
          <p:cNvSpPr txBox="1"/>
          <p:nvPr/>
        </p:nvSpPr>
        <p:spPr>
          <a:xfrm>
            <a:off x="228600" y="236398"/>
            <a:ext cx="2947500" cy="175800"/>
          </a:xfrm>
          <a:prstGeom prst="rect">
            <a:avLst/>
          </a:prstGeom>
          <a:noFill/>
          <a:ln>
            <a:noFill/>
          </a:ln>
        </p:spPr>
        <p:txBody>
          <a:bodyPr anchorCtr="0" anchor="ctr" bIns="0" lIns="0" spcFirstLastPara="1" rIns="91425" wrap="square" tIns="0">
            <a:noAutofit/>
          </a:bodyPr>
          <a:lstStyle/>
          <a:p>
            <a:pPr indent="0" lvl="0" marL="0" rtl="0" algn="l">
              <a:lnSpc>
                <a:spcPct val="90000"/>
              </a:lnSpc>
              <a:spcBef>
                <a:spcPts val="0"/>
              </a:spcBef>
              <a:spcAft>
                <a:spcPts val="0"/>
              </a:spcAft>
              <a:buNone/>
            </a:pPr>
            <a:r>
              <a:rPr lang="en" sz="1000">
                <a:solidFill>
                  <a:schemeClr val="lt1"/>
                </a:solidFill>
                <a:latin typeface="Red Hat Display"/>
                <a:ea typeface="Red Hat Display"/>
                <a:cs typeface="Red Hat Display"/>
                <a:sym typeface="Red Hat Display"/>
              </a:rPr>
              <a:t>Logo</a:t>
            </a:r>
            <a:endParaRPr sz="1000">
              <a:solidFill>
                <a:schemeClr val="lt1"/>
              </a:solidFill>
              <a:latin typeface="Red Hat Display"/>
              <a:ea typeface="Red Hat Display"/>
              <a:cs typeface="Red Hat Display"/>
              <a:sym typeface="Red Hat Display"/>
            </a:endParaRPr>
          </a:p>
        </p:txBody>
      </p:sp>
      <p:grpSp>
        <p:nvGrpSpPr>
          <p:cNvPr id="853" name="Google Shape;853;p60"/>
          <p:cNvGrpSpPr/>
          <p:nvPr/>
        </p:nvGrpSpPr>
        <p:grpSpPr>
          <a:xfrm flipH="1">
            <a:off x="7231564" y="79814"/>
            <a:ext cx="1831025" cy="1512212"/>
            <a:chOff x="7084364" y="227014"/>
            <a:chExt cx="1831025" cy="1512212"/>
          </a:xfrm>
        </p:grpSpPr>
        <p:sp>
          <p:nvSpPr>
            <p:cNvPr id="854" name="Google Shape;854;p60"/>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5" name="Google Shape;855;p60"/>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6" name="Google Shape;856;p60"/>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7" name="Google Shape;857;p60"/>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8" name="Google Shape;858;p60"/>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9" name="Google Shape;859;p60"/>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0" name="Google Shape;860;p60"/>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1" name="Google Shape;861;p60"/>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2" name="Google Shape;862;p60"/>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3" name="Google Shape;863;p60"/>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4" name="Google Shape;864;p60"/>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5" name="Google Shape;865;p60"/>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6" name="Google Shape;866;p60"/>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7" name="Google Shape;867;p60"/>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8" name="Google Shape;868;p60"/>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9" name="Google Shape;869;p60"/>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0" name="Google Shape;870;p60"/>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1" name="Google Shape;871;p60"/>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2" name="Google Shape;872;p60"/>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3" name="Google Shape;873;p60"/>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4" name="Google Shape;874;p60"/>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5" name="Google Shape;875;p60"/>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6" name="Google Shape;876;p60"/>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7" name="Google Shape;877;p60"/>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878" name="Google Shape;878;p60"/>
          <p:cNvSpPr txBox="1"/>
          <p:nvPr>
            <p:ph type="title"/>
          </p:nvPr>
        </p:nvSpPr>
        <p:spPr>
          <a:xfrm>
            <a:off x="228600" y="420025"/>
            <a:ext cx="6387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Logical Plan: Omitted &amp; Delayed Doses (NoSQL)</a:t>
            </a:r>
            <a:endParaRPr/>
          </a:p>
        </p:txBody>
      </p:sp>
      <p:sp>
        <p:nvSpPr>
          <p:cNvPr id="879" name="Google Shape;879;p60"/>
          <p:cNvSpPr txBox="1"/>
          <p:nvPr>
            <p:ph idx="4294967295" type="body"/>
          </p:nvPr>
        </p:nvSpPr>
        <p:spPr>
          <a:xfrm>
            <a:off x="228600" y="1086600"/>
            <a:ext cx="6729600" cy="2987700"/>
          </a:xfrm>
          <a:prstGeom prst="rect">
            <a:avLst/>
          </a:prstGeom>
        </p:spPr>
        <p:txBody>
          <a:bodyPr anchorCtr="0" anchor="t" bIns="91425" lIns="0" spcFirstLastPara="1" rIns="91425" wrap="square" tIns="0">
            <a:spAutoFit/>
          </a:bodyPr>
          <a:lstStyle/>
          <a:p>
            <a:pPr indent="0" lvl="0" marL="274320" rtl="0" algn="l">
              <a:spcBef>
                <a:spcPts val="0"/>
              </a:spcBef>
              <a:spcAft>
                <a:spcPts val="0"/>
              </a:spcAft>
              <a:buNone/>
            </a:pPr>
            <a:r>
              <a:t/>
            </a:r>
            <a:endParaRPr sz="1100"/>
          </a:p>
          <a:p>
            <a:pPr indent="0" lvl="0" marL="274320" rtl="0" algn="l">
              <a:spcBef>
                <a:spcPts val="0"/>
              </a:spcBef>
              <a:spcAft>
                <a:spcPts val="0"/>
              </a:spcAft>
              <a:buNone/>
            </a:pPr>
            <a:r>
              <a:t/>
            </a:r>
            <a:endParaRPr sz="1100"/>
          </a:p>
          <a:p>
            <a:pPr indent="0" lvl="0" marL="274320" rtl="0" algn="l">
              <a:spcBef>
                <a:spcPts val="0"/>
              </a:spcBef>
              <a:spcAft>
                <a:spcPts val="0"/>
              </a:spcAft>
              <a:buNone/>
            </a:pPr>
            <a:r>
              <a:t/>
            </a:r>
            <a:endParaRPr sz="1100"/>
          </a:p>
          <a:p>
            <a:pPr indent="-115570" lvl="0" marL="274320" rtl="0" algn="l">
              <a:spcBef>
                <a:spcPts val="0"/>
              </a:spcBef>
              <a:spcAft>
                <a:spcPts val="0"/>
              </a:spcAft>
              <a:buSzPts val="1100"/>
              <a:buChar char="➔"/>
            </a:pPr>
            <a:r>
              <a:rPr lang="en" sz="1100"/>
              <a:t>Reads: </a:t>
            </a:r>
            <a:r>
              <a:rPr i="1" lang="en" sz="1100"/>
              <a:t>emar </a:t>
            </a:r>
            <a:r>
              <a:rPr lang="en" sz="1100"/>
              <a:t>and </a:t>
            </a:r>
            <a:r>
              <a:rPr i="1" lang="en" sz="1100"/>
              <a:t>admissions</a:t>
            </a:r>
            <a:r>
              <a:rPr lang="en" sz="1100"/>
              <a:t> parts of each patient document</a:t>
            </a:r>
            <a:endParaRPr sz="1100"/>
          </a:p>
          <a:p>
            <a:pPr indent="-115570" lvl="0" marL="274320" rtl="0" algn="l">
              <a:spcBef>
                <a:spcPts val="0"/>
              </a:spcBef>
              <a:spcAft>
                <a:spcPts val="0"/>
              </a:spcAft>
              <a:buSzPts val="1100"/>
              <a:buChar char="➔"/>
            </a:pPr>
            <a:r>
              <a:rPr lang="en" sz="1100"/>
              <a:t>Writes: None</a:t>
            </a:r>
            <a:endParaRPr sz="1100"/>
          </a:p>
          <a:p>
            <a:pPr indent="0" lvl="0" marL="0" rtl="0" algn="l">
              <a:spcBef>
                <a:spcPts val="0"/>
              </a:spcBef>
              <a:spcAft>
                <a:spcPts val="0"/>
              </a:spcAft>
              <a:buNone/>
            </a:pPr>
            <a:r>
              <a:t/>
            </a:r>
            <a:endParaRPr sz="1100"/>
          </a:p>
          <a:p>
            <a:pPr indent="-115570" lvl="0" marL="274320" rtl="0" algn="l">
              <a:spcBef>
                <a:spcPts val="0"/>
              </a:spcBef>
              <a:spcAft>
                <a:spcPts val="0"/>
              </a:spcAft>
              <a:buSzPts val="1100"/>
              <a:buChar char="➔"/>
            </a:pPr>
            <a:r>
              <a:rPr lang="en" sz="1100"/>
              <a:t>Concurrency Issue: If the query runs while a patient record is being updated, it could fail to appear in the aggregation depending on if the document scan has reached the specific document or not.</a:t>
            </a:r>
            <a:endParaRPr sz="1100"/>
          </a:p>
          <a:p>
            <a:pPr indent="-298450" lvl="1" marL="914400" rtl="0" algn="l">
              <a:spcBef>
                <a:spcPts val="0"/>
              </a:spcBef>
              <a:spcAft>
                <a:spcPts val="0"/>
              </a:spcAft>
              <a:buSzPts val="1100"/>
              <a:buChar char="◆"/>
            </a:pPr>
            <a:r>
              <a:rPr lang="en" sz="1100"/>
              <a:t>Not an issue for this  use case since for analytics, a few missing values in the total aggregations shouldn’t skew the conclusions in a meaningful way.</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880" name="Google Shape;880;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61"/>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Indices / Caching Structure</a:t>
            </a:r>
            <a:endParaRPr/>
          </a:p>
        </p:txBody>
      </p:sp>
      <p:sp>
        <p:nvSpPr>
          <p:cNvPr id="886" name="Google Shape;886;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cxnSp>
        <p:nvCxnSpPr>
          <p:cNvPr id="891" name="Google Shape;891;p62"/>
          <p:cNvCxnSpPr/>
          <p:nvPr/>
        </p:nvCxnSpPr>
        <p:spPr>
          <a:xfrm>
            <a:off x="328700" y="1984728"/>
            <a:ext cx="8589300" cy="0"/>
          </a:xfrm>
          <a:prstGeom prst="straightConnector1">
            <a:avLst/>
          </a:prstGeom>
          <a:noFill/>
          <a:ln cap="flat" cmpd="sng" w="9525">
            <a:solidFill>
              <a:schemeClr val="accent6"/>
            </a:solidFill>
            <a:prstDash val="solid"/>
            <a:round/>
            <a:headEnd len="med" w="med" type="none"/>
            <a:tailEnd len="med" w="med" type="triangle"/>
          </a:ln>
        </p:spPr>
      </p:cxnSp>
      <p:sp>
        <p:nvSpPr>
          <p:cNvPr id="892" name="Google Shape;892;p62"/>
          <p:cNvSpPr txBox="1"/>
          <p:nvPr/>
        </p:nvSpPr>
        <p:spPr>
          <a:xfrm>
            <a:off x="226000" y="2678267"/>
            <a:ext cx="1508700" cy="13392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Catching missing doses</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Emar</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a:t>
            </a:r>
            <a:r>
              <a:rPr b="1" lang="en" sz="1100">
                <a:solidFill>
                  <a:schemeClr val="dk2"/>
                </a:solidFill>
                <a:latin typeface="Red Hat Display"/>
                <a:ea typeface="Red Hat Display"/>
                <a:cs typeface="Red Hat Display"/>
                <a:sym typeface="Red Hat Display"/>
              </a:rPr>
              <a:t>hadm_id</a:t>
            </a:r>
            <a:r>
              <a:rPr b="1" lang="en" sz="1100">
                <a:solidFill>
                  <a:schemeClr val="lt1"/>
                </a:solidFill>
                <a:latin typeface="Red Hat Display"/>
                <a:ea typeface="Red Hat Display"/>
                <a:cs typeface="Red Hat Display"/>
                <a:sym typeface="Red Hat Display"/>
              </a:rPr>
              <a:t>,</a:t>
            </a:r>
            <a:r>
              <a:rPr b="1" lang="en" sz="1100">
                <a:solidFill>
                  <a:schemeClr val="dk2"/>
                </a:solidFill>
                <a:latin typeface="Red Hat Display"/>
                <a:ea typeface="Red Hat Display"/>
                <a:cs typeface="Red Hat Display"/>
                <a:sym typeface="Red Hat Display"/>
              </a:rPr>
              <a:t> event_txt</a:t>
            </a:r>
            <a:r>
              <a:rPr b="1" lang="en" sz="1100">
                <a:solidFill>
                  <a:schemeClr val="lt1"/>
                </a:solidFill>
                <a:latin typeface="Red Hat Display"/>
                <a:ea typeface="Red Hat Display"/>
                <a:cs typeface="Red Hat Display"/>
                <a:sym typeface="Red Hat Display"/>
              </a:rPr>
              <a:t>)</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893" name="Google Shape;893;p62"/>
          <p:cNvSpPr txBox="1"/>
          <p:nvPr/>
        </p:nvSpPr>
        <p:spPr>
          <a:xfrm>
            <a:off x="229700" y="2295117"/>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Use Case 1</a:t>
            </a:r>
            <a:endParaRPr sz="1100">
              <a:solidFill>
                <a:schemeClr val="dk2"/>
              </a:solidFill>
              <a:latin typeface="Red Hat Display SemiBold"/>
              <a:ea typeface="Red Hat Display SemiBold"/>
              <a:cs typeface="Red Hat Display SemiBold"/>
              <a:sym typeface="Red Hat Display SemiBold"/>
            </a:endParaRPr>
          </a:p>
        </p:txBody>
      </p:sp>
      <p:sp>
        <p:nvSpPr>
          <p:cNvPr id="894" name="Google Shape;894;p62"/>
          <p:cNvSpPr txBox="1"/>
          <p:nvPr/>
        </p:nvSpPr>
        <p:spPr>
          <a:xfrm>
            <a:off x="2023299" y="2295117"/>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Rationale</a:t>
            </a:r>
            <a:endParaRPr sz="1100">
              <a:solidFill>
                <a:schemeClr val="dk2"/>
              </a:solidFill>
              <a:latin typeface="Red Hat Display SemiBold"/>
              <a:ea typeface="Red Hat Display SemiBold"/>
              <a:cs typeface="Red Hat Display SemiBold"/>
              <a:sym typeface="Red Hat Display SemiBold"/>
            </a:endParaRPr>
          </a:p>
        </p:txBody>
      </p:sp>
      <p:sp>
        <p:nvSpPr>
          <p:cNvPr id="895" name="Google Shape;895;p62"/>
          <p:cNvSpPr txBox="1"/>
          <p:nvPr/>
        </p:nvSpPr>
        <p:spPr>
          <a:xfrm>
            <a:off x="2020524" y="2678267"/>
            <a:ext cx="1508700" cy="13698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None/>
            </a:pPr>
            <a:r>
              <a:rPr b="1" lang="en" sz="1100">
                <a:solidFill>
                  <a:schemeClr val="lt1"/>
                </a:solidFill>
                <a:latin typeface="Red Hat Display"/>
                <a:ea typeface="Red Hat Display"/>
                <a:cs typeface="Red Hat Display"/>
                <a:sym typeface="Red Hat Display"/>
              </a:rPr>
              <a:t>Query f</a:t>
            </a:r>
            <a:r>
              <a:rPr b="1" lang="en" sz="1100">
                <a:solidFill>
                  <a:schemeClr val="lt1"/>
                </a:solidFill>
                <a:latin typeface="Red Hat Display"/>
                <a:ea typeface="Red Hat Display"/>
                <a:cs typeface="Red Hat Display"/>
                <a:sym typeface="Red Hat Display"/>
              </a:rPr>
              <a:t>ilters on </a:t>
            </a:r>
            <a:r>
              <a:rPr b="1" lang="en" sz="1100">
                <a:solidFill>
                  <a:schemeClr val="dk2"/>
                </a:solidFill>
                <a:latin typeface="Red Hat Display"/>
                <a:ea typeface="Red Hat Display"/>
                <a:cs typeface="Red Hat Display"/>
                <a:sym typeface="Red Hat Display"/>
              </a:rPr>
              <a:t>event_txt</a:t>
            </a:r>
            <a:r>
              <a:rPr b="1" lang="en" sz="1100">
                <a:solidFill>
                  <a:schemeClr val="lt1"/>
                </a:solidFill>
                <a:latin typeface="Red Hat Display"/>
                <a:ea typeface="Red Hat Display"/>
                <a:cs typeface="Red Hat Display"/>
                <a:sym typeface="Red Hat Display"/>
              </a:rPr>
              <a:t> and groups on </a:t>
            </a:r>
            <a:r>
              <a:rPr b="1" lang="en" sz="1100">
                <a:solidFill>
                  <a:schemeClr val="dk2"/>
                </a:solidFill>
                <a:latin typeface="Red Hat Display"/>
                <a:ea typeface="Red Hat Display"/>
                <a:cs typeface="Red Hat Display"/>
                <a:sym typeface="Red Hat Display"/>
              </a:rPr>
              <a:t>hadm_id</a:t>
            </a:r>
            <a:r>
              <a:rPr b="1" lang="en" sz="1100">
                <a:solidFill>
                  <a:schemeClr val="lt1"/>
                </a:solidFill>
                <a:latin typeface="Red Hat Display"/>
                <a:ea typeface="Red Hat Display"/>
                <a:cs typeface="Red Hat Display"/>
                <a:sym typeface="Red Hat Display"/>
              </a:rPr>
              <a:t>. </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br>
              <a:rPr b="1" lang="en" sz="1100">
                <a:solidFill>
                  <a:schemeClr val="dk2"/>
                </a:solidFill>
                <a:latin typeface="Red Hat Display"/>
                <a:ea typeface="Red Hat Display"/>
                <a:cs typeface="Red Hat Display"/>
                <a:sym typeface="Red Hat Display"/>
              </a:rPr>
            </a:br>
            <a:r>
              <a:rPr b="1" lang="en" sz="1100">
                <a:solidFill>
                  <a:schemeClr val="lt1"/>
                </a:solidFill>
                <a:latin typeface="Red Hat Display"/>
                <a:ea typeface="Red Hat Display"/>
                <a:cs typeface="Red Hat Display"/>
                <a:sym typeface="Red Hat Display"/>
              </a:rPr>
              <a:t>This means a full scan of</a:t>
            </a:r>
            <a:r>
              <a:rPr b="1" lang="en" sz="1100">
                <a:solidFill>
                  <a:schemeClr val="lt1"/>
                </a:solidFill>
                <a:latin typeface="Red Hat Display"/>
                <a:ea typeface="Red Hat Display"/>
                <a:cs typeface="Red Hat Display"/>
                <a:sym typeface="Red Hat Display"/>
              </a:rPr>
              <a:t> </a:t>
            </a:r>
            <a:r>
              <a:rPr b="1" lang="en" sz="1100">
                <a:solidFill>
                  <a:schemeClr val="dk2"/>
                </a:solidFill>
                <a:latin typeface="Red Hat Display"/>
                <a:ea typeface="Red Hat Display"/>
                <a:cs typeface="Red Hat Display"/>
                <a:sym typeface="Red Hat Display"/>
              </a:rPr>
              <a:t>emar</a:t>
            </a:r>
            <a:r>
              <a:rPr b="1" lang="en" sz="1100">
                <a:solidFill>
                  <a:schemeClr val="lt1"/>
                </a:solidFill>
                <a:latin typeface="Red Hat Display"/>
                <a:ea typeface="Red Hat Display"/>
                <a:cs typeface="Red Hat Display"/>
                <a:sym typeface="Red Hat Display"/>
              </a:rPr>
              <a:t> when no index exists</a:t>
            </a:r>
            <a:endParaRPr b="1" sz="900">
              <a:solidFill>
                <a:schemeClr val="lt1"/>
              </a:solidFill>
              <a:latin typeface="Red Hat Display"/>
              <a:ea typeface="Red Hat Display"/>
              <a:cs typeface="Red Hat Display"/>
              <a:sym typeface="Red Hat Display"/>
            </a:endParaRPr>
          </a:p>
        </p:txBody>
      </p:sp>
      <p:sp>
        <p:nvSpPr>
          <p:cNvPr id="896" name="Google Shape;896;p62"/>
          <p:cNvSpPr txBox="1"/>
          <p:nvPr/>
        </p:nvSpPr>
        <p:spPr>
          <a:xfrm>
            <a:off x="3816899" y="2295117"/>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Proposed new index</a:t>
            </a:r>
            <a:endParaRPr sz="1100">
              <a:solidFill>
                <a:schemeClr val="dk2"/>
              </a:solidFill>
              <a:latin typeface="Red Hat Display SemiBold"/>
              <a:ea typeface="Red Hat Display SemiBold"/>
              <a:cs typeface="Red Hat Display SemiBold"/>
              <a:sym typeface="Red Hat Display SemiBold"/>
            </a:endParaRPr>
          </a:p>
        </p:txBody>
      </p:sp>
      <p:sp>
        <p:nvSpPr>
          <p:cNvPr id="897" name="Google Shape;897;p62"/>
          <p:cNvSpPr txBox="1"/>
          <p:nvPr/>
        </p:nvSpPr>
        <p:spPr>
          <a:xfrm>
            <a:off x="3815049" y="2678267"/>
            <a:ext cx="1508700" cy="1770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New Index:</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a:t>
            </a:r>
            <a:r>
              <a:rPr b="1" lang="en" sz="1100">
                <a:solidFill>
                  <a:schemeClr val="dk2"/>
                </a:solidFill>
                <a:latin typeface="Red Hat Display"/>
                <a:ea typeface="Red Hat Display"/>
                <a:cs typeface="Red Hat Display"/>
                <a:sym typeface="Red Hat Display"/>
              </a:rPr>
              <a:t>hadm_id</a:t>
            </a:r>
            <a:r>
              <a:rPr b="1" lang="en" sz="1100">
                <a:solidFill>
                  <a:schemeClr val="lt1"/>
                </a:solidFill>
                <a:latin typeface="Red Hat Display"/>
                <a:ea typeface="Red Hat Display"/>
                <a:cs typeface="Red Hat Display"/>
                <a:sym typeface="Red Hat Display"/>
              </a:rPr>
              <a:t>, </a:t>
            </a:r>
            <a:r>
              <a:rPr b="1" lang="en" sz="1100">
                <a:solidFill>
                  <a:schemeClr val="dk2"/>
                </a:solidFill>
                <a:latin typeface="Red Hat Display"/>
                <a:ea typeface="Red Hat Display"/>
                <a:cs typeface="Red Hat Display"/>
                <a:sym typeface="Red Hat Display"/>
              </a:rPr>
              <a:t>event_txt</a:t>
            </a:r>
            <a:r>
              <a:rPr b="1" lang="en" sz="1100">
                <a:solidFill>
                  <a:schemeClr val="lt1"/>
                </a:solidFill>
                <a:latin typeface="Red Hat Display"/>
                <a:ea typeface="Red Hat Display"/>
                <a:cs typeface="Red Hat Display"/>
                <a:sym typeface="Red Hat Display"/>
              </a:rPr>
              <a:t>)</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400"/>
              </a:spcAft>
              <a:buNone/>
            </a:pPr>
            <a:r>
              <a:rPr lang="en" sz="1000">
                <a:solidFill>
                  <a:schemeClr val="lt1"/>
                </a:solidFill>
                <a:latin typeface="Red Hat Display"/>
                <a:ea typeface="Red Hat Display"/>
                <a:cs typeface="Red Hat Display"/>
                <a:sym typeface="Red Hat Display"/>
              </a:rPr>
              <a:t>A composite index on (</a:t>
            </a:r>
            <a:r>
              <a:rPr lang="en" sz="1000">
                <a:solidFill>
                  <a:schemeClr val="dk2"/>
                </a:solidFill>
                <a:latin typeface="Red Hat Display"/>
                <a:ea typeface="Red Hat Display"/>
                <a:cs typeface="Red Hat Display"/>
                <a:sym typeface="Red Hat Display"/>
              </a:rPr>
              <a:t>hadm_id</a:t>
            </a:r>
            <a:r>
              <a:rPr lang="en" sz="1000">
                <a:solidFill>
                  <a:schemeClr val="lt1"/>
                </a:solidFill>
                <a:latin typeface="Red Hat Display"/>
                <a:ea typeface="Red Hat Display"/>
                <a:cs typeface="Red Hat Display"/>
                <a:sym typeface="Red Hat Display"/>
              </a:rPr>
              <a:t>, </a:t>
            </a:r>
            <a:r>
              <a:rPr lang="en" sz="1000">
                <a:solidFill>
                  <a:schemeClr val="dk2"/>
                </a:solidFill>
                <a:latin typeface="Red Hat Display"/>
                <a:ea typeface="Red Hat Display"/>
                <a:cs typeface="Red Hat Display"/>
                <a:sym typeface="Red Hat Display"/>
              </a:rPr>
              <a:t>event_txt</a:t>
            </a:r>
            <a:r>
              <a:rPr lang="en" sz="1000">
                <a:solidFill>
                  <a:schemeClr val="lt1"/>
                </a:solidFill>
                <a:latin typeface="Red Hat Display"/>
                <a:ea typeface="Red Hat Display"/>
                <a:cs typeface="Red Hat Display"/>
                <a:sym typeface="Red Hat Display"/>
              </a:rPr>
              <a:t>) allows planner to seek specific records and immediately filter on status, avoiding full scan and improving runtime</a:t>
            </a:r>
            <a:endParaRPr sz="1000">
              <a:solidFill>
                <a:schemeClr val="lt1"/>
              </a:solidFill>
              <a:latin typeface="Red Hat Display"/>
              <a:ea typeface="Red Hat Display"/>
              <a:cs typeface="Red Hat Display"/>
              <a:sym typeface="Red Hat Display"/>
            </a:endParaRPr>
          </a:p>
        </p:txBody>
      </p:sp>
      <p:sp>
        <p:nvSpPr>
          <p:cNvPr id="898" name="Google Shape;898;p62"/>
          <p:cNvSpPr txBox="1"/>
          <p:nvPr/>
        </p:nvSpPr>
        <p:spPr>
          <a:xfrm>
            <a:off x="5610498" y="2295117"/>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Performance Impact</a:t>
            </a:r>
            <a:endParaRPr sz="1100">
              <a:solidFill>
                <a:schemeClr val="dk2"/>
              </a:solidFill>
              <a:latin typeface="Red Hat Display SemiBold"/>
              <a:ea typeface="Red Hat Display SemiBold"/>
              <a:cs typeface="Red Hat Display SemiBold"/>
              <a:sym typeface="Red Hat Display SemiBold"/>
            </a:endParaRPr>
          </a:p>
        </p:txBody>
      </p:sp>
      <p:sp>
        <p:nvSpPr>
          <p:cNvPr id="899" name="Google Shape;899;p62"/>
          <p:cNvSpPr txBox="1"/>
          <p:nvPr/>
        </p:nvSpPr>
        <p:spPr>
          <a:xfrm>
            <a:off x="5609573" y="2678267"/>
            <a:ext cx="1508700" cy="2462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Heavy improvement on efficiency of read </a:t>
            </a:r>
            <a:br>
              <a:rPr lang="en" sz="900">
                <a:solidFill>
                  <a:schemeClr val="lt1"/>
                </a:solidFill>
                <a:latin typeface="Red Hat Display"/>
                <a:ea typeface="Red Hat Display"/>
                <a:cs typeface="Red Hat Display"/>
                <a:sym typeface="Red Hat Display"/>
              </a:rPr>
            </a:br>
            <a:endParaRPr sz="9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900">
                <a:solidFill>
                  <a:schemeClr val="lt1"/>
                </a:solidFill>
                <a:latin typeface="Red Hat Display"/>
                <a:ea typeface="Red Hat Display"/>
                <a:cs typeface="Red Hat Display"/>
                <a:sym typeface="Red Hat Display"/>
              </a:rPr>
              <a:t>Use Cases 2-4 → neutral</a:t>
            </a:r>
            <a:endParaRPr sz="9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rPr lang="en" sz="900">
                <a:solidFill>
                  <a:schemeClr val="lt1"/>
                </a:solidFill>
                <a:latin typeface="Red Hat Display"/>
                <a:ea typeface="Red Hat Display"/>
                <a:cs typeface="Red Hat Display"/>
                <a:sym typeface="Red Hat Display"/>
              </a:rPr>
              <a:t>Use Case 1:</a:t>
            </a:r>
            <a:endParaRPr sz="900">
              <a:solidFill>
                <a:schemeClr val="lt1"/>
              </a:solidFill>
              <a:latin typeface="Red Hat Display"/>
              <a:ea typeface="Red Hat Display"/>
              <a:cs typeface="Red Hat Display"/>
              <a:sym typeface="Red Hat Display"/>
            </a:endParaRPr>
          </a:p>
          <a:p>
            <a:pPr indent="-114300" lvl="0" marL="285750" rtl="0" algn="l">
              <a:lnSpc>
                <a:spcPct val="150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Emar write frequency quite high but bound</a:t>
            </a:r>
            <a:endParaRPr sz="900">
              <a:solidFill>
                <a:schemeClr val="lt1"/>
              </a:solidFill>
              <a:latin typeface="Red Hat Display"/>
              <a:ea typeface="Red Hat Display"/>
              <a:cs typeface="Red Hat Display"/>
              <a:sym typeface="Red Hat Display"/>
            </a:endParaRPr>
          </a:p>
          <a:p>
            <a:pPr indent="-114300" lvl="0" marL="285750" rtl="0" algn="l">
              <a:lnSpc>
                <a:spcPct val="150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Emar read </a:t>
            </a:r>
            <a:r>
              <a:rPr lang="en" sz="900">
                <a:solidFill>
                  <a:schemeClr val="lt1"/>
                </a:solidFill>
                <a:latin typeface="Red Hat Display"/>
                <a:ea typeface="Red Hat Display"/>
                <a:cs typeface="Red Hat Display"/>
                <a:sym typeface="Red Hat Display"/>
              </a:rPr>
              <a:t>frequency</a:t>
            </a:r>
            <a:r>
              <a:rPr lang="en" sz="900">
                <a:solidFill>
                  <a:schemeClr val="lt1"/>
                </a:solidFill>
                <a:latin typeface="Red Hat Display"/>
                <a:ea typeface="Red Hat Display"/>
                <a:cs typeface="Red Hat Display"/>
                <a:sym typeface="Red Hat Display"/>
              </a:rPr>
              <a:t> is comparably high because used actively by nurses and doctors</a:t>
            </a:r>
            <a:endParaRPr sz="900">
              <a:solidFill>
                <a:schemeClr val="lt1"/>
              </a:solidFill>
              <a:latin typeface="Red Hat Display"/>
              <a:ea typeface="Red Hat Display"/>
              <a:cs typeface="Red Hat Display"/>
              <a:sym typeface="Red Hat Display"/>
            </a:endParaRPr>
          </a:p>
          <a:p>
            <a:pPr indent="-114300" lvl="0" marL="285750" rtl="0" algn="l">
              <a:lnSpc>
                <a:spcPct val="150000"/>
              </a:lnSpc>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Safety critical query</a:t>
            </a:r>
            <a:endParaRPr sz="900">
              <a:solidFill>
                <a:schemeClr val="lt1"/>
              </a:solidFill>
              <a:latin typeface="Red Hat Display"/>
              <a:ea typeface="Red Hat Display"/>
              <a:cs typeface="Red Hat Display"/>
              <a:sym typeface="Red Hat Display"/>
            </a:endParaRPr>
          </a:p>
        </p:txBody>
      </p:sp>
      <p:sp>
        <p:nvSpPr>
          <p:cNvPr id="900" name="Google Shape;900;p62"/>
          <p:cNvSpPr txBox="1"/>
          <p:nvPr/>
        </p:nvSpPr>
        <p:spPr>
          <a:xfrm>
            <a:off x="7404098" y="2678267"/>
            <a:ext cx="1508700" cy="2478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For Use Cases 3 &amp; 4</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900">
                <a:solidFill>
                  <a:schemeClr val="lt1"/>
                </a:solidFill>
                <a:latin typeface="Red Hat Display"/>
                <a:ea typeface="Red Hat Display"/>
                <a:cs typeface="Red Hat Display"/>
                <a:sym typeface="Red Hat Display"/>
              </a:rPr>
              <a:t>Joins are primarily FK→PK</a:t>
            </a:r>
            <a:endParaRPr sz="900">
              <a:solidFill>
                <a:schemeClr val="lt1"/>
              </a:solidFill>
              <a:latin typeface="Red Hat Display"/>
              <a:ea typeface="Red Hat Display"/>
              <a:cs typeface="Red Hat Display"/>
              <a:sym typeface="Red Hat Display"/>
            </a:endParaRPr>
          </a:p>
          <a:p>
            <a:pPr indent="0" lvl="0" marL="0" rtl="0" algn="l">
              <a:spcBef>
                <a:spcPts val="400"/>
              </a:spcBef>
              <a:spcAft>
                <a:spcPts val="0"/>
              </a:spcAft>
              <a:buNone/>
            </a:pPr>
            <a:r>
              <a:rPr lang="en" sz="900">
                <a:solidFill>
                  <a:schemeClr val="dk2"/>
                </a:solidFill>
                <a:latin typeface="Red Hat Display"/>
                <a:ea typeface="Red Hat Display"/>
                <a:cs typeface="Red Hat Display"/>
                <a:sym typeface="Red Hat Display"/>
              </a:rPr>
              <a:t>patients.id </a:t>
            </a:r>
            <a:r>
              <a:rPr lang="en" sz="900">
                <a:solidFill>
                  <a:schemeClr val="lt1"/>
                </a:solidFill>
                <a:latin typeface="Red Hat Display"/>
                <a:ea typeface="Red Hat Display"/>
                <a:cs typeface="Red Hat Display"/>
                <a:sym typeface="Red Hat Display"/>
              </a:rPr>
              <a:t>→ </a:t>
            </a:r>
            <a:r>
              <a:rPr lang="en" sz="900">
                <a:solidFill>
                  <a:schemeClr val="dk2"/>
                </a:solidFill>
                <a:latin typeface="Red Hat Display"/>
                <a:ea typeface="Red Hat Display"/>
                <a:cs typeface="Red Hat Display"/>
                <a:sym typeface="Red Hat Display"/>
              </a:rPr>
              <a:t>admissions.subject_id </a:t>
            </a:r>
            <a:endParaRPr sz="900">
              <a:solidFill>
                <a:schemeClr val="lt1"/>
              </a:solidFill>
              <a:latin typeface="Red Hat Display"/>
              <a:ea typeface="Red Hat Display"/>
              <a:cs typeface="Red Hat Display"/>
              <a:sym typeface="Red Hat Display"/>
            </a:endParaRPr>
          </a:p>
          <a:p>
            <a:pPr indent="0" lvl="0" marL="0" rtl="0" algn="l">
              <a:spcBef>
                <a:spcPts val="400"/>
              </a:spcBef>
              <a:spcAft>
                <a:spcPts val="0"/>
              </a:spcAft>
              <a:buNone/>
            </a:pPr>
            <a:r>
              <a:rPr lang="en" sz="900">
                <a:solidFill>
                  <a:schemeClr val="dk2"/>
                </a:solidFill>
                <a:latin typeface="Red Hat Display"/>
                <a:ea typeface="Red Hat Display"/>
                <a:cs typeface="Red Hat Display"/>
                <a:sym typeface="Red Hat Display"/>
              </a:rPr>
              <a:t>a</a:t>
            </a:r>
            <a:r>
              <a:rPr lang="en" sz="900">
                <a:solidFill>
                  <a:schemeClr val="dk2"/>
                </a:solidFill>
                <a:latin typeface="Red Hat Display"/>
                <a:ea typeface="Red Hat Display"/>
                <a:cs typeface="Red Hat Display"/>
                <a:sym typeface="Red Hat Display"/>
              </a:rPr>
              <a:t>dmissions </a:t>
            </a:r>
            <a:r>
              <a:rPr lang="en" sz="900">
                <a:solidFill>
                  <a:schemeClr val="lt1"/>
                </a:solidFill>
                <a:latin typeface="Red Hat Display"/>
                <a:ea typeface="Red Hat Display"/>
                <a:cs typeface="Red Hat Display"/>
                <a:sym typeface="Red Hat Display"/>
              </a:rPr>
              <a:t>→ 		</a:t>
            </a:r>
            <a:r>
              <a:rPr lang="en" sz="900">
                <a:solidFill>
                  <a:schemeClr val="dk2"/>
                </a:solidFill>
                <a:latin typeface="Red Hat Display"/>
                <a:ea typeface="Red Hat Display"/>
                <a:cs typeface="Red Hat Display"/>
                <a:sym typeface="Red Hat Display"/>
              </a:rPr>
              <a:t>icustays</a:t>
            </a:r>
            <a:r>
              <a:rPr lang="en" sz="900">
                <a:solidFill>
                  <a:schemeClr val="lt1"/>
                </a:solidFill>
                <a:latin typeface="Red Hat Display"/>
                <a:ea typeface="Red Hat Display"/>
                <a:cs typeface="Red Hat Display"/>
                <a:sym typeface="Red Hat Display"/>
              </a:rPr>
              <a:t>, </a:t>
            </a:r>
            <a:r>
              <a:rPr lang="en" sz="900">
                <a:solidFill>
                  <a:schemeClr val="dk2"/>
                </a:solidFill>
                <a:latin typeface="Red Hat Display"/>
                <a:ea typeface="Red Hat Display"/>
                <a:cs typeface="Red Hat Display"/>
                <a:sym typeface="Red Hat Display"/>
              </a:rPr>
              <a:t>transfers</a:t>
            </a:r>
            <a:r>
              <a:rPr lang="en" sz="900">
                <a:solidFill>
                  <a:schemeClr val="lt1"/>
                </a:solidFill>
                <a:latin typeface="Red Hat Display"/>
                <a:ea typeface="Red Hat Display"/>
                <a:cs typeface="Red Hat Display"/>
                <a:sym typeface="Red Hat Display"/>
              </a:rPr>
              <a:t>,</a:t>
            </a:r>
            <a:r>
              <a:rPr lang="en" sz="900">
                <a:solidFill>
                  <a:schemeClr val="dk2"/>
                </a:solidFill>
                <a:latin typeface="Red Hat Display"/>
                <a:ea typeface="Red Hat Display"/>
                <a:cs typeface="Red Hat Display"/>
                <a:sym typeface="Red Hat Display"/>
              </a:rPr>
              <a:t> services </a:t>
            </a:r>
            <a:r>
              <a:rPr lang="en" sz="900">
                <a:solidFill>
                  <a:schemeClr val="lt1"/>
                </a:solidFill>
                <a:latin typeface="Red Hat Display"/>
                <a:ea typeface="Red Hat Display"/>
                <a:cs typeface="Red Hat Display"/>
                <a:sym typeface="Red Hat Display"/>
              </a:rPr>
              <a:t>	(on</a:t>
            </a:r>
            <a:r>
              <a:rPr lang="en" sz="900">
                <a:solidFill>
                  <a:schemeClr val="dk2"/>
                </a:solidFill>
                <a:latin typeface="Red Hat Display"/>
                <a:ea typeface="Red Hat Display"/>
                <a:cs typeface="Red Hat Display"/>
                <a:sym typeface="Red Hat Display"/>
              </a:rPr>
              <a:t> hadm_id</a:t>
            </a:r>
            <a:r>
              <a:rPr lang="en" sz="900">
                <a:solidFill>
                  <a:schemeClr val="lt1"/>
                </a:solidFill>
                <a:latin typeface="Red Hat Display"/>
                <a:ea typeface="Red Hat Display"/>
                <a:cs typeface="Red Hat Display"/>
                <a:sym typeface="Red Hat Display"/>
              </a:rPr>
              <a:t>)</a:t>
            </a:r>
            <a:endParaRPr sz="900">
              <a:solidFill>
                <a:schemeClr val="lt1"/>
              </a:solidFill>
              <a:latin typeface="Red Hat Display"/>
              <a:ea typeface="Red Hat Display"/>
              <a:cs typeface="Red Hat Display"/>
              <a:sym typeface="Red Hat Display"/>
            </a:endParaRPr>
          </a:p>
          <a:p>
            <a:pPr indent="-114300" lvl="0" marL="285750" rtl="0" algn="l">
              <a:spcBef>
                <a:spcPts val="40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Direct key lookups</a:t>
            </a:r>
            <a:endParaRPr sz="900">
              <a:solidFill>
                <a:schemeClr val="lt1"/>
              </a:solidFill>
              <a:latin typeface="Red Hat Display"/>
              <a:ea typeface="Red Hat Display"/>
              <a:cs typeface="Red Hat Display"/>
              <a:sym typeface="Red Hat Display"/>
            </a:endParaRPr>
          </a:p>
          <a:p>
            <a:pPr indent="-114300" lvl="0" marL="28575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Small/Medium tables</a:t>
            </a:r>
            <a:endParaRPr sz="900">
              <a:solidFill>
                <a:schemeClr val="lt1"/>
              </a:solidFill>
              <a:latin typeface="Red Hat Display"/>
              <a:ea typeface="Red Hat Display"/>
              <a:cs typeface="Red Hat Display"/>
              <a:sym typeface="Red Hat Display"/>
            </a:endParaRPr>
          </a:p>
          <a:p>
            <a:pPr indent="-114300" lvl="0" marL="28575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Default PK joins should suffice</a:t>
            </a:r>
            <a:endParaRPr sz="900">
              <a:solidFill>
                <a:schemeClr val="lt1"/>
              </a:solidFill>
              <a:latin typeface="Red Hat Display"/>
              <a:ea typeface="Red Hat Display"/>
              <a:cs typeface="Red Hat Display"/>
              <a:sym typeface="Red Hat Display"/>
            </a:endParaRPr>
          </a:p>
          <a:p>
            <a:pPr indent="-114300" lvl="0" marL="285750" rtl="0" algn="l">
              <a:spcBef>
                <a:spcPts val="0"/>
              </a:spcBef>
              <a:spcAft>
                <a:spcPts val="0"/>
              </a:spcAft>
              <a:buClr>
                <a:schemeClr val="lt1"/>
              </a:buClr>
              <a:buSzPts val="900"/>
              <a:buFont typeface="Red Hat Display"/>
              <a:buChar char="➔"/>
            </a:pPr>
            <a:r>
              <a:rPr lang="en" sz="900">
                <a:solidFill>
                  <a:schemeClr val="lt1"/>
                </a:solidFill>
                <a:latin typeface="Red Hat Display"/>
                <a:ea typeface="Red Hat Display"/>
                <a:cs typeface="Red Hat Display"/>
                <a:sym typeface="Red Hat Display"/>
              </a:rPr>
              <a:t>Remaining filters (grouping) on small sets</a:t>
            </a:r>
            <a:endParaRPr sz="900">
              <a:solidFill>
                <a:schemeClr val="lt1"/>
              </a:solidFill>
              <a:latin typeface="Red Hat Display"/>
              <a:ea typeface="Red Hat Display"/>
              <a:cs typeface="Red Hat Display"/>
              <a:sym typeface="Red Hat Display"/>
            </a:endParaRPr>
          </a:p>
        </p:txBody>
      </p:sp>
      <p:sp>
        <p:nvSpPr>
          <p:cNvPr id="901" name="Google Shape;901;p62"/>
          <p:cNvSpPr txBox="1"/>
          <p:nvPr/>
        </p:nvSpPr>
        <p:spPr>
          <a:xfrm>
            <a:off x="7404098" y="2295117"/>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Other potential PKs</a:t>
            </a:r>
            <a:endParaRPr sz="1100">
              <a:solidFill>
                <a:schemeClr val="dk2"/>
              </a:solidFill>
              <a:latin typeface="Red Hat Display SemiBold"/>
              <a:ea typeface="Red Hat Display SemiBold"/>
              <a:cs typeface="Red Hat Display SemiBold"/>
              <a:sym typeface="Red Hat Display SemiBold"/>
            </a:endParaRPr>
          </a:p>
        </p:txBody>
      </p:sp>
      <p:sp>
        <p:nvSpPr>
          <p:cNvPr id="902" name="Google Shape;902;p62"/>
          <p:cNvSpPr/>
          <p:nvPr/>
        </p:nvSpPr>
        <p:spPr>
          <a:xfrm>
            <a:off x="225998" y="1846426"/>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03" name="Google Shape;903;p62"/>
          <p:cNvSpPr/>
          <p:nvPr/>
        </p:nvSpPr>
        <p:spPr>
          <a:xfrm>
            <a:off x="2020523" y="1846426"/>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04" name="Google Shape;904;p62"/>
          <p:cNvSpPr/>
          <p:nvPr/>
        </p:nvSpPr>
        <p:spPr>
          <a:xfrm>
            <a:off x="3815048" y="1846426"/>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05" name="Google Shape;905;p62"/>
          <p:cNvSpPr/>
          <p:nvPr/>
        </p:nvSpPr>
        <p:spPr>
          <a:xfrm>
            <a:off x="5609573" y="1846426"/>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06" name="Google Shape;906;p62"/>
          <p:cNvSpPr/>
          <p:nvPr/>
        </p:nvSpPr>
        <p:spPr>
          <a:xfrm>
            <a:off x="7404098" y="1846426"/>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07" name="Google Shape;907;p62"/>
          <p:cNvSpPr txBox="1"/>
          <p:nvPr>
            <p:ph type="title"/>
          </p:nvPr>
        </p:nvSpPr>
        <p:spPr>
          <a:xfrm>
            <a:off x="228600" y="20137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Relational Schema</a:t>
            </a:r>
            <a:endParaRPr/>
          </a:p>
        </p:txBody>
      </p:sp>
      <p:sp>
        <p:nvSpPr>
          <p:cNvPr id="908" name="Google Shape;908;p62"/>
          <p:cNvSpPr txBox="1"/>
          <p:nvPr/>
        </p:nvSpPr>
        <p:spPr>
          <a:xfrm>
            <a:off x="212800" y="631525"/>
            <a:ext cx="8705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Default PK Indices: (</a:t>
            </a:r>
            <a:r>
              <a:rPr lang="en" sz="1200">
                <a:solidFill>
                  <a:schemeClr val="dk2"/>
                </a:solidFill>
                <a:latin typeface="Red Hat Display"/>
                <a:ea typeface="Red Hat Display"/>
                <a:cs typeface="Red Hat Display"/>
                <a:sym typeface="Red Hat Display"/>
              </a:rPr>
              <a:t>subject_id, hadm_id, stay_id, emar_id, itemid transfer_id</a:t>
            </a:r>
            <a:r>
              <a:rPr lang="en" sz="1200">
                <a:solidFill>
                  <a:schemeClr val="lt1"/>
                </a:solidFill>
                <a:latin typeface="Red Hat Display"/>
                <a:ea typeface="Red Hat Display"/>
                <a:cs typeface="Red Hat Display"/>
                <a:sym typeface="Red Hat Display"/>
              </a:rPr>
              <a:t>) </a:t>
            </a:r>
            <a:endParaRPr sz="1200">
              <a:solidFill>
                <a:schemeClr val="lt1"/>
              </a:solidFill>
              <a:latin typeface="Red Hat Display"/>
              <a:ea typeface="Red Hat Display"/>
              <a:cs typeface="Red Hat Display"/>
              <a:sym typeface="Red Hat Display"/>
            </a:endParaRPr>
          </a:p>
          <a:p>
            <a:pPr indent="-304800" lvl="0" marL="457200" rtl="0" algn="l">
              <a:spcBef>
                <a:spcPts val="0"/>
              </a:spcBef>
              <a:spcAft>
                <a:spcPts val="0"/>
              </a:spcAft>
              <a:buClr>
                <a:schemeClr val="lt1"/>
              </a:buClr>
              <a:buSzPts val="1200"/>
              <a:buFont typeface="Red Hat Display"/>
              <a:buChar char="-"/>
            </a:pPr>
            <a:r>
              <a:rPr lang="en" sz="1200">
                <a:solidFill>
                  <a:schemeClr val="lt1"/>
                </a:solidFill>
                <a:latin typeface="Red Hat Display"/>
                <a:ea typeface="Red Hat Display"/>
                <a:cs typeface="Red Hat Display"/>
                <a:sym typeface="Red Hat Display"/>
              </a:rPr>
              <a:t>Sufficient for simple lookups / joins on PKs</a:t>
            </a:r>
            <a:endParaRPr sz="1200">
              <a:solidFill>
                <a:schemeClr val="lt1"/>
              </a:solidFill>
              <a:latin typeface="Red Hat Display"/>
              <a:ea typeface="Red Hat Display"/>
              <a:cs typeface="Red Hat Display"/>
              <a:sym typeface="Red Hat Display"/>
            </a:endParaRPr>
          </a:p>
          <a:p>
            <a:pPr indent="0" lvl="0" marL="457200" rtl="0" algn="l">
              <a:spcBef>
                <a:spcPts val="0"/>
              </a:spcBef>
              <a:spcAft>
                <a:spcPts val="0"/>
              </a:spcAft>
              <a:buNone/>
            </a:pPr>
            <a:r>
              <a:t/>
            </a:r>
            <a:endParaRPr sz="12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Some of our use cases deal with time-range filtering on multiple non-PK columns</a:t>
            </a:r>
            <a:endParaRPr sz="1200">
              <a:solidFill>
                <a:schemeClr val="lt1"/>
              </a:solidFill>
              <a:latin typeface="Red Hat Display"/>
              <a:ea typeface="Red Hat Display"/>
              <a:cs typeface="Red Hat Display"/>
              <a:sym typeface="Red Hat Display"/>
            </a:endParaRPr>
          </a:p>
          <a:p>
            <a:pPr indent="-304800" lvl="0" marL="457200" rtl="0" algn="l">
              <a:spcBef>
                <a:spcPts val="0"/>
              </a:spcBef>
              <a:spcAft>
                <a:spcPts val="0"/>
              </a:spcAft>
              <a:buClr>
                <a:schemeClr val="lt1"/>
              </a:buClr>
              <a:buSzPts val="1200"/>
              <a:buFont typeface="Red Hat Display"/>
              <a:buChar char="-"/>
            </a:pPr>
            <a:r>
              <a:rPr lang="en" sz="1200">
                <a:solidFill>
                  <a:schemeClr val="lt1"/>
                </a:solidFill>
                <a:latin typeface="Red Hat Display"/>
                <a:ea typeface="Red Hat Display"/>
                <a:cs typeface="Red Hat Display"/>
                <a:sym typeface="Red Hat Display"/>
              </a:rPr>
              <a:t>Indices could significantly help improve query performance, but </a:t>
            </a:r>
            <a:r>
              <a:rPr b="1" i="1" lang="en" sz="1200">
                <a:solidFill>
                  <a:schemeClr val="lt1"/>
                </a:solidFill>
                <a:latin typeface="Red Hat Display"/>
                <a:ea typeface="Red Hat Display"/>
                <a:cs typeface="Red Hat Display"/>
                <a:sym typeface="Red Hat Display"/>
              </a:rPr>
              <a:t>*could also add to write times for our database*</a:t>
            </a:r>
            <a:endParaRPr b="1" i="1" sz="1200">
              <a:solidFill>
                <a:schemeClr val="lt1"/>
              </a:solidFill>
              <a:latin typeface="Red Hat Display"/>
              <a:ea typeface="Red Hat Display"/>
              <a:cs typeface="Red Hat Display"/>
              <a:sym typeface="Red Hat Display"/>
            </a:endParaRPr>
          </a:p>
        </p:txBody>
      </p:sp>
      <p:sp>
        <p:nvSpPr>
          <p:cNvPr id="909" name="Google Shape;909;p62"/>
          <p:cNvSpPr txBox="1"/>
          <p:nvPr/>
        </p:nvSpPr>
        <p:spPr>
          <a:xfrm>
            <a:off x="84475" y="4136350"/>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Note: </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sz="1100">
                <a:solidFill>
                  <a:schemeClr val="dk2"/>
                </a:solidFill>
                <a:latin typeface="Red Hat Display"/>
                <a:ea typeface="Red Hat Display"/>
                <a:cs typeface="Red Hat Display"/>
                <a:sym typeface="Red Hat Display"/>
              </a:rPr>
              <a:t>emar</a:t>
            </a:r>
            <a:r>
              <a:rPr b="1" lang="en" sz="1100">
                <a:solidFill>
                  <a:schemeClr val="lt1"/>
                </a:solidFill>
                <a:latin typeface="Red Hat Display"/>
                <a:ea typeface="Red Hat Display"/>
                <a:cs typeface="Red Hat Display"/>
                <a:sym typeface="Red Hat Display"/>
              </a:rPr>
              <a:t> = medication records</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sz="1100">
                <a:solidFill>
                  <a:schemeClr val="dk2"/>
                </a:solidFill>
                <a:latin typeface="Red Hat Display"/>
                <a:ea typeface="Red Hat Display"/>
                <a:cs typeface="Red Hat Display"/>
                <a:sym typeface="Red Hat Display"/>
              </a:rPr>
              <a:t>hadm_id</a:t>
            </a:r>
            <a:r>
              <a:rPr b="1" lang="en" sz="1100">
                <a:solidFill>
                  <a:schemeClr val="lt1"/>
                </a:solidFill>
                <a:latin typeface="Red Hat Display"/>
                <a:ea typeface="Red Hat Display"/>
                <a:cs typeface="Red Hat Display"/>
                <a:sym typeface="Red Hat Display"/>
              </a:rPr>
              <a:t> = hospital admission</a:t>
            </a:r>
            <a:r>
              <a:rPr b="1" lang="en" sz="1100">
                <a:solidFill>
                  <a:schemeClr val="lt1"/>
                </a:solidFill>
                <a:latin typeface="Red Hat Display"/>
                <a:ea typeface="Red Hat Display"/>
                <a:cs typeface="Red Hat Display"/>
                <a:sym typeface="Red Hat Display"/>
              </a:rPr>
              <a:t> ID</a:t>
            </a:r>
            <a:endParaRPr b="1" sz="1100">
              <a:solidFill>
                <a:schemeClr val="lt1"/>
              </a:solidFill>
              <a:latin typeface="Red Hat Display"/>
              <a:ea typeface="Red Hat Display"/>
              <a:cs typeface="Red Hat Display"/>
              <a:sym typeface="Red Hat Display"/>
            </a:endParaRPr>
          </a:p>
          <a:p>
            <a:pPr indent="0" lvl="0" marL="0" marR="0" rtl="0" algn="l">
              <a:lnSpc>
                <a:spcPct val="100000"/>
              </a:lnSpc>
              <a:spcBef>
                <a:spcPts val="0"/>
              </a:spcBef>
              <a:spcAft>
                <a:spcPts val="0"/>
              </a:spcAft>
              <a:buNone/>
            </a:pPr>
            <a:r>
              <a:rPr b="1" lang="en" sz="1100">
                <a:solidFill>
                  <a:schemeClr val="dk2"/>
                </a:solidFill>
                <a:latin typeface="Red Hat Display"/>
                <a:ea typeface="Red Hat Display"/>
                <a:cs typeface="Red Hat Display"/>
                <a:sym typeface="Red Hat Display"/>
              </a:rPr>
              <a:t>event_text</a:t>
            </a:r>
            <a:r>
              <a:rPr b="1" lang="en" sz="1100">
                <a:solidFill>
                  <a:schemeClr val="lt1"/>
                </a:solidFill>
                <a:latin typeface="Red Hat Display"/>
                <a:ea typeface="Red Hat Display"/>
                <a:cs typeface="Red Hat Display"/>
                <a:sym typeface="Red Hat Display"/>
              </a:rPr>
              <a:t> = includes notes such</a:t>
            </a:r>
            <a:r>
              <a:rPr b="1" lang="en" sz="1100">
                <a:solidFill>
                  <a:schemeClr val="dk2"/>
                </a:solidFill>
                <a:latin typeface="Red Hat Display"/>
                <a:ea typeface="Red Hat Display"/>
                <a:cs typeface="Red Hat Display"/>
                <a:sym typeface="Red Hat Display"/>
              </a:rPr>
              <a:t> </a:t>
            </a:r>
            <a:r>
              <a:rPr b="1" lang="en" sz="1100">
                <a:solidFill>
                  <a:schemeClr val="dk2"/>
                </a:solidFill>
                <a:latin typeface="Red Hat Display"/>
                <a:ea typeface="Red Hat Display"/>
                <a:cs typeface="Red Hat Display"/>
                <a:sym typeface="Red Hat Display"/>
              </a:rPr>
              <a:t> </a:t>
            </a:r>
            <a:r>
              <a:rPr b="1" lang="en" sz="1100">
                <a:solidFill>
                  <a:schemeClr val="lt1"/>
                </a:solidFill>
                <a:latin typeface="Red Hat Display"/>
                <a:ea typeface="Red Hat Display"/>
                <a:cs typeface="Red Hat Display"/>
                <a:sym typeface="Red Hat Display"/>
              </a:rPr>
              <a:t>as “not          given”. </a:t>
            </a:r>
            <a:endParaRPr b="1" sz="1100">
              <a:solidFill>
                <a:schemeClr val="lt1"/>
              </a:solidFill>
              <a:latin typeface="Red Hat Display"/>
              <a:ea typeface="Red Hat Display"/>
              <a:cs typeface="Red Hat Display"/>
              <a:sym typeface="Red Hat Display"/>
            </a:endParaRPr>
          </a:p>
        </p:txBody>
      </p:sp>
      <p:sp>
        <p:nvSpPr>
          <p:cNvPr id="910" name="Google Shape;910;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63"/>
          <p:cNvSpPr txBox="1"/>
          <p:nvPr/>
        </p:nvSpPr>
        <p:spPr>
          <a:xfrm>
            <a:off x="5609573" y="1931292"/>
            <a:ext cx="1508700" cy="17085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Without the flag, detecting dose mismatches requires reading all of </a:t>
            </a:r>
            <a:r>
              <a:rPr b="1" lang="en" sz="1100">
                <a:solidFill>
                  <a:schemeClr val="dk2"/>
                </a:solidFill>
                <a:latin typeface="Red Hat Display"/>
                <a:ea typeface="Red Hat Display"/>
                <a:cs typeface="Red Hat Display"/>
                <a:sym typeface="Red Hat Display"/>
              </a:rPr>
              <a:t>emar_detail </a:t>
            </a:r>
            <a:r>
              <a:rPr b="1" lang="en" sz="1100">
                <a:solidFill>
                  <a:schemeClr val="lt1"/>
                </a:solidFill>
                <a:latin typeface="Red Hat Display"/>
                <a:ea typeface="Red Hat Display"/>
                <a:cs typeface="Red Hat Display"/>
                <a:sym typeface="Red Hat Display"/>
              </a:rPr>
              <a:t>sub-docs and computing difference between </a:t>
            </a:r>
            <a:r>
              <a:rPr b="1" lang="en" sz="1100">
                <a:solidFill>
                  <a:schemeClr val="dk2"/>
                </a:solidFill>
                <a:latin typeface="Red Hat Display"/>
                <a:ea typeface="Red Hat Display"/>
                <a:cs typeface="Red Hat Display"/>
                <a:sym typeface="Red Hat Display"/>
              </a:rPr>
              <a:t>dose_due</a:t>
            </a:r>
            <a:r>
              <a:rPr b="1" lang="en" sz="1100">
                <a:solidFill>
                  <a:schemeClr val="lt1"/>
                </a:solidFill>
                <a:latin typeface="Red Hat Display"/>
                <a:ea typeface="Red Hat Display"/>
                <a:cs typeface="Red Hat Display"/>
                <a:sym typeface="Red Hat Display"/>
              </a:rPr>
              <a:t> and </a:t>
            </a:r>
            <a:r>
              <a:rPr b="1" lang="en" sz="1100">
                <a:solidFill>
                  <a:schemeClr val="dk2"/>
                </a:solidFill>
                <a:latin typeface="Red Hat Display"/>
                <a:ea typeface="Red Hat Display"/>
                <a:cs typeface="Red Hat Display"/>
                <a:sym typeface="Red Hat Display"/>
              </a:rPr>
              <a:t>dose_given </a:t>
            </a:r>
            <a:r>
              <a:rPr b="1" lang="en" sz="1100">
                <a:solidFill>
                  <a:schemeClr val="lt1"/>
                </a:solidFill>
                <a:latin typeface="Red Hat Display"/>
                <a:ea typeface="Red Hat Display"/>
                <a:cs typeface="Red Hat Display"/>
                <a:sym typeface="Red Hat Display"/>
              </a:rPr>
              <a:t>at read.</a:t>
            </a:r>
            <a:endParaRPr sz="900">
              <a:solidFill>
                <a:schemeClr val="lt1"/>
              </a:solidFill>
              <a:latin typeface="Red Hat Display"/>
              <a:ea typeface="Red Hat Display"/>
              <a:cs typeface="Red Hat Display"/>
              <a:sym typeface="Red Hat Display"/>
            </a:endParaRPr>
          </a:p>
        </p:txBody>
      </p:sp>
      <p:cxnSp>
        <p:nvCxnSpPr>
          <p:cNvPr id="916" name="Google Shape;916;p63"/>
          <p:cNvCxnSpPr/>
          <p:nvPr/>
        </p:nvCxnSpPr>
        <p:spPr>
          <a:xfrm>
            <a:off x="328700" y="1237753"/>
            <a:ext cx="8589300" cy="0"/>
          </a:xfrm>
          <a:prstGeom prst="straightConnector1">
            <a:avLst/>
          </a:prstGeom>
          <a:noFill/>
          <a:ln cap="flat" cmpd="sng" w="9525">
            <a:solidFill>
              <a:schemeClr val="accent6"/>
            </a:solidFill>
            <a:prstDash val="solid"/>
            <a:round/>
            <a:headEnd len="med" w="med" type="none"/>
            <a:tailEnd len="med" w="med" type="triangle"/>
          </a:ln>
        </p:spPr>
      </p:cxnSp>
      <p:sp>
        <p:nvSpPr>
          <p:cNvPr id="917" name="Google Shape;917;p63"/>
          <p:cNvSpPr txBox="1"/>
          <p:nvPr/>
        </p:nvSpPr>
        <p:spPr>
          <a:xfrm>
            <a:off x="226000" y="1931292"/>
            <a:ext cx="1508700" cy="15084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Add pre-computed </a:t>
            </a:r>
            <a:r>
              <a:rPr b="1" lang="en" sz="1100">
                <a:solidFill>
                  <a:schemeClr val="dk2"/>
                </a:solidFill>
                <a:latin typeface="Red Hat Display"/>
                <a:ea typeface="Red Hat Display"/>
                <a:cs typeface="Red Hat Display"/>
                <a:sym typeface="Red Hat Display"/>
              </a:rPr>
              <a:t>dose_mismatch</a:t>
            </a:r>
            <a:r>
              <a:rPr b="1" lang="en" sz="1100">
                <a:solidFill>
                  <a:schemeClr val="dk2"/>
                </a:solidFill>
                <a:latin typeface="Red Hat Display"/>
                <a:ea typeface="Red Hat Display"/>
                <a:cs typeface="Red Hat Display"/>
                <a:sym typeface="Red Hat Display"/>
              </a:rPr>
              <a:t> </a:t>
            </a:r>
            <a:r>
              <a:rPr b="1" lang="en" sz="1100">
                <a:solidFill>
                  <a:schemeClr val="lt1"/>
                </a:solidFill>
                <a:latin typeface="Red Hat Display"/>
                <a:ea typeface="Red Hat Display"/>
                <a:cs typeface="Red Hat Display"/>
                <a:sym typeface="Red Hat Display"/>
              </a:rPr>
              <a:t>boolean to </a:t>
            </a:r>
            <a:r>
              <a:rPr b="1" lang="en" sz="1100">
                <a:solidFill>
                  <a:schemeClr val="dk2"/>
                </a:solidFill>
                <a:latin typeface="Red Hat Display"/>
                <a:ea typeface="Red Hat Display"/>
                <a:cs typeface="Red Hat Display"/>
                <a:sym typeface="Red Hat Display"/>
              </a:rPr>
              <a:t>emar_detail</a:t>
            </a:r>
            <a:r>
              <a:rPr b="1" lang="en" sz="1100">
                <a:solidFill>
                  <a:schemeClr val="lt1"/>
                </a:solidFill>
                <a:latin typeface="Red Hat Display"/>
                <a:ea typeface="Red Hat Display"/>
                <a:cs typeface="Red Hat Display"/>
                <a:sym typeface="Red Hat Display"/>
              </a:rPr>
              <a:t> at write time</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t/>
            </a:r>
            <a:endParaRPr b="1" sz="1100">
              <a:solidFill>
                <a:schemeClr val="lt1"/>
              </a:solidFill>
              <a:latin typeface="Red Hat Display"/>
              <a:ea typeface="Red Hat Display"/>
              <a:cs typeface="Red Hat Display"/>
              <a:sym typeface="Red Hat Display"/>
            </a:endParaRPr>
          </a:p>
          <a:p>
            <a:pPr indent="0" lvl="0" marL="0" rtl="0" algn="l">
              <a:lnSpc>
                <a:spcPct val="150000"/>
              </a:lnSpc>
              <a:spcBef>
                <a:spcPts val="0"/>
              </a:spcBef>
              <a:spcAft>
                <a:spcPts val="0"/>
              </a:spcAft>
              <a:buNone/>
            </a:pPr>
            <a:r>
              <a:t/>
            </a:r>
            <a:endParaRPr sz="900">
              <a:solidFill>
                <a:schemeClr val="lt1"/>
              </a:solidFill>
              <a:latin typeface="Red Hat Display"/>
              <a:ea typeface="Red Hat Display"/>
              <a:cs typeface="Red Hat Display"/>
              <a:sym typeface="Red Hat Display"/>
            </a:endParaRPr>
          </a:p>
        </p:txBody>
      </p:sp>
      <p:sp>
        <p:nvSpPr>
          <p:cNvPr id="918" name="Google Shape;918;p63"/>
          <p:cNvSpPr txBox="1"/>
          <p:nvPr/>
        </p:nvSpPr>
        <p:spPr>
          <a:xfrm>
            <a:off x="229700" y="1548150"/>
            <a:ext cx="15525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Proposed Modification</a:t>
            </a:r>
            <a:endParaRPr sz="1100">
              <a:solidFill>
                <a:schemeClr val="dk2"/>
              </a:solidFill>
              <a:latin typeface="Red Hat Display SemiBold"/>
              <a:ea typeface="Red Hat Display SemiBold"/>
              <a:cs typeface="Red Hat Display SemiBold"/>
              <a:sym typeface="Red Hat Display SemiBold"/>
            </a:endParaRPr>
          </a:p>
        </p:txBody>
      </p:sp>
      <p:sp>
        <p:nvSpPr>
          <p:cNvPr id="919" name="Google Shape;919;p63"/>
          <p:cNvSpPr txBox="1"/>
          <p:nvPr/>
        </p:nvSpPr>
        <p:spPr>
          <a:xfrm>
            <a:off x="2023299" y="1548142"/>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Use Case</a:t>
            </a:r>
            <a:endParaRPr sz="1100">
              <a:solidFill>
                <a:schemeClr val="dk2"/>
              </a:solidFill>
              <a:latin typeface="Red Hat Display SemiBold"/>
              <a:ea typeface="Red Hat Display SemiBold"/>
              <a:cs typeface="Red Hat Display SemiBold"/>
              <a:sym typeface="Red Hat Display SemiBold"/>
            </a:endParaRPr>
          </a:p>
        </p:txBody>
      </p:sp>
      <p:sp>
        <p:nvSpPr>
          <p:cNvPr id="920" name="Google Shape;920;p63"/>
          <p:cNvSpPr txBox="1"/>
          <p:nvPr/>
        </p:nvSpPr>
        <p:spPr>
          <a:xfrm>
            <a:off x="2020524" y="1931292"/>
            <a:ext cx="1508700" cy="17085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When nurse / staff records medication, both </a:t>
            </a:r>
            <a:r>
              <a:rPr b="1" lang="en" sz="1100">
                <a:solidFill>
                  <a:schemeClr val="dk2"/>
                </a:solidFill>
                <a:latin typeface="Red Hat Display"/>
                <a:ea typeface="Red Hat Display"/>
                <a:cs typeface="Red Hat Display"/>
                <a:sym typeface="Red Hat Display"/>
              </a:rPr>
              <a:t>dose_due</a:t>
            </a:r>
            <a:r>
              <a:rPr b="1" lang="en" sz="1100">
                <a:solidFill>
                  <a:schemeClr val="dk2"/>
                </a:solidFill>
                <a:latin typeface="Red Hat Display"/>
                <a:ea typeface="Red Hat Display"/>
                <a:cs typeface="Red Hat Display"/>
                <a:sym typeface="Red Hat Display"/>
              </a:rPr>
              <a:t> </a:t>
            </a:r>
            <a:r>
              <a:rPr b="1" lang="en" sz="1100">
                <a:solidFill>
                  <a:schemeClr val="lt1"/>
                </a:solidFill>
                <a:latin typeface="Red Hat Display"/>
                <a:ea typeface="Red Hat Display"/>
                <a:cs typeface="Red Hat Display"/>
                <a:sym typeface="Red Hat Display"/>
              </a:rPr>
              <a:t>and </a:t>
            </a:r>
            <a:r>
              <a:rPr b="1" lang="en" sz="1100">
                <a:solidFill>
                  <a:schemeClr val="dk2"/>
                </a:solidFill>
                <a:latin typeface="Red Hat Display"/>
                <a:ea typeface="Red Hat Display"/>
                <a:cs typeface="Red Hat Display"/>
                <a:sym typeface="Red Hat Display"/>
              </a:rPr>
              <a:t>dose_given </a:t>
            </a:r>
            <a:r>
              <a:rPr b="1" lang="en" sz="1100">
                <a:solidFill>
                  <a:schemeClr val="lt1"/>
                </a:solidFill>
                <a:latin typeface="Red Hat Display"/>
                <a:ea typeface="Red Hat Display"/>
                <a:cs typeface="Red Hat Display"/>
                <a:sym typeface="Red Hat Display"/>
              </a:rPr>
              <a:t>are immediately available. </a:t>
            </a:r>
            <a:r>
              <a:rPr b="1" lang="en" sz="1100">
                <a:solidFill>
                  <a:schemeClr val="dk2"/>
                </a:solidFill>
                <a:latin typeface="Red Hat Display"/>
                <a:ea typeface="Red Hat Display"/>
                <a:cs typeface="Red Hat Display"/>
                <a:sym typeface="Red Hat Display"/>
              </a:rPr>
              <a:t>D</a:t>
            </a:r>
            <a:r>
              <a:rPr b="1" lang="en" sz="1100">
                <a:solidFill>
                  <a:schemeClr val="dk2"/>
                </a:solidFill>
                <a:latin typeface="Red Hat Display"/>
                <a:ea typeface="Red Hat Display"/>
                <a:cs typeface="Red Hat Display"/>
                <a:sym typeface="Red Hat Display"/>
              </a:rPr>
              <a:t>ose_mismatch </a:t>
            </a:r>
            <a:r>
              <a:rPr b="1" lang="en" sz="1100">
                <a:solidFill>
                  <a:schemeClr val="lt1"/>
                </a:solidFill>
                <a:latin typeface="Red Hat Display"/>
                <a:ea typeface="Red Hat Display"/>
                <a:cs typeface="Red Hat Display"/>
                <a:sym typeface="Red Hat Display"/>
              </a:rPr>
              <a:t>f</a:t>
            </a:r>
            <a:r>
              <a:rPr b="1" lang="en" sz="1100">
                <a:solidFill>
                  <a:schemeClr val="lt1"/>
                </a:solidFill>
                <a:latin typeface="Red Hat Display"/>
                <a:ea typeface="Red Hat Display"/>
                <a:cs typeface="Red Hat Display"/>
                <a:sym typeface="Red Hat Display"/>
              </a:rPr>
              <a:t>lag will also be computed immediately.</a:t>
            </a:r>
            <a:endParaRPr b="1" sz="900">
              <a:solidFill>
                <a:schemeClr val="lt1"/>
              </a:solidFill>
              <a:latin typeface="Red Hat Display"/>
              <a:ea typeface="Red Hat Display"/>
              <a:cs typeface="Red Hat Display"/>
              <a:sym typeface="Red Hat Display"/>
            </a:endParaRPr>
          </a:p>
        </p:txBody>
      </p:sp>
      <p:sp>
        <p:nvSpPr>
          <p:cNvPr id="921" name="Google Shape;921;p63"/>
          <p:cNvSpPr txBox="1"/>
          <p:nvPr/>
        </p:nvSpPr>
        <p:spPr>
          <a:xfrm>
            <a:off x="3816899" y="1548142"/>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Modified Schema</a:t>
            </a:r>
            <a:endParaRPr sz="1100">
              <a:solidFill>
                <a:schemeClr val="dk2"/>
              </a:solidFill>
              <a:latin typeface="Red Hat Display SemiBold"/>
              <a:ea typeface="Red Hat Display SemiBold"/>
              <a:cs typeface="Red Hat Display SemiBold"/>
              <a:sym typeface="Red Hat Display SemiBold"/>
            </a:endParaRPr>
          </a:p>
        </p:txBody>
      </p:sp>
      <p:sp>
        <p:nvSpPr>
          <p:cNvPr id="922" name="Google Shape;922;p63"/>
          <p:cNvSpPr txBox="1"/>
          <p:nvPr/>
        </p:nvSpPr>
        <p:spPr>
          <a:xfrm>
            <a:off x="3815050" y="1931300"/>
            <a:ext cx="2174400" cy="2394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"emar_detail"</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D3D7DE"/>
                </a:solidFill>
                <a:latin typeface="Red Hat Display"/>
                <a:ea typeface="Red Hat Display"/>
                <a:cs typeface="Red Hat Display"/>
                <a:sym typeface="Red Hat Display"/>
              </a:rPr>
              <a:t>    {</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"dose_due"</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"0.25"</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"dose_due_unit"</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"mg"</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"dose_given"</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"0.25"</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"dose_given_unit"</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"mg"</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"route"</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"IV"</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"infusion_rate"</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"10"</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"infusion_rate_unit"</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"mL/hr"</a:t>
            </a: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"dose_mismatch"</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5EEDED"/>
                </a:solidFill>
                <a:latin typeface="Red Hat Display"/>
                <a:ea typeface="Red Hat Display"/>
                <a:cs typeface="Red Hat Display"/>
                <a:sym typeface="Red Hat Display"/>
              </a:rPr>
              <a:t>false</a:t>
            </a:r>
            <a:r>
              <a:rPr lang="en" sz="900">
                <a:solidFill>
                  <a:srgbClr val="D3D7DE"/>
                </a:solidFill>
                <a:latin typeface="Red Hat Display"/>
                <a:ea typeface="Red Hat Display"/>
                <a:cs typeface="Red Hat Display"/>
                <a:sym typeface="Red Hat Display"/>
              </a:rPr>
              <a:t>,</a:t>
            </a:r>
            <a:endParaRPr sz="900">
              <a:solidFill>
                <a:srgbClr val="5EEDED"/>
              </a:solidFill>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F47B85"/>
                </a:solidFill>
                <a:latin typeface="Red Hat Display"/>
                <a:ea typeface="Red Hat Display"/>
                <a:cs typeface="Red Hat Display"/>
                <a:sym typeface="Red Hat Display"/>
              </a:rPr>
              <a:t>        "complete_dose_not_given"</a:t>
            </a:r>
            <a:r>
              <a:rPr lang="en" sz="900">
                <a:solidFill>
                  <a:srgbClr val="EAECF0"/>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r>
              <a:rPr lang="en" sz="900">
                <a:solidFill>
                  <a:srgbClr val="9BE963"/>
                </a:solidFill>
                <a:latin typeface="Red Hat Display"/>
                <a:ea typeface="Red Hat Display"/>
                <a:cs typeface="Red Hat Display"/>
                <a:sym typeface="Red Hat Display"/>
              </a:rPr>
              <a:t>"No"</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D3D7DE"/>
                </a:solidFill>
                <a:latin typeface="Red Hat Display"/>
                <a:ea typeface="Red Hat Display"/>
                <a:cs typeface="Red Hat Display"/>
                <a:sym typeface="Red Hat Display"/>
              </a:rPr>
              <a:t>    }</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lnSpc>
                <a:spcPct val="115000"/>
              </a:lnSpc>
              <a:spcBef>
                <a:spcPts val="0"/>
              </a:spcBef>
              <a:spcAft>
                <a:spcPts val="0"/>
              </a:spcAft>
              <a:buNone/>
            </a:pPr>
            <a:r>
              <a:rPr lang="en" sz="900">
                <a:solidFill>
                  <a:srgbClr val="D3D7DE"/>
                </a:solidFill>
                <a:latin typeface="Red Hat Display"/>
                <a:ea typeface="Red Hat Display"/>
                <a:cs typeface="Red Hat Display"/>
                <a:sym typeface="Red Hat Display"/>
              </a:rPr>
              <a:t>]</a:t>
            </a:r>
            <a:r>
              <a:rPr lang="en" sz="900">
                <a:latin typeface="Red Hat Display"/>
                <a:ea typeface="Red Hat Display"/>
                <a:cs typeface="Red Hat Display"/>
                <a:sym typeface="Red Hat Display"/>
              </a:rPr>
              <a:t> </a:t>
            </a:r>
            <a:endParaRPr sz="900">
              <a:latin typeface="Red Hat Display"/>
              <a:ea typeface="Red Hat Display"/>
              <a:cs typeface="Red Hat Display"/>
              <a:sym typeface="Red Hat Display"/>
            </a:endParaRPr>
          </a:p>
          <a:p>
            <a:pPr indent="0" lvl="0" marL="0" rtl="0" algn="l">
              <a:spcBef>
                <a:spcPts val="0"/>
              </a:spcBef>
              <a:spcAft>
                <a:spcPts val="400"/>
              </a:spcAft>
              <a:buNone/>
            </a:pPr>
            <a:r>
              <a:t/>
            </a:r>
            <a:endParaRPr b="1" sz="900">
              <a:solidFill>
                <a:schemeClr val="lt1"/>
              </a:solidFill>
              <a:latin typeface="Red Hat Display"/>
              <a:ea typeface="Red Hat Display"/>
              <a:cs typeface="Red Hat Display"/>
              <a:sym typeface="Red Hat Display"/>
            </a:endParaRPr>
          </a:p>
        </p:txBody>
      </p:sp>
      <p:sp>
        <p:nvSpPr>
          <p:cNvPr id="923" name="Google Shape;923;p63"/>
          <p:cNvSpPr txBox="1"/>
          <p:nvPr/>
        </p:nvSpPr>
        <p:spPr>
          <a:xfrm>
            <a:off x="5610498" y="1548142"/>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Performance Impact</a:t>
            </a:r>
            <a:endParaRPr sz="1100">
              <a:solidFill>
                <a:schemeClr val="dk2"/>
              </a:solidFill>
              <a:latin typeface="Red Hat Display SemiBold"/>
              <a:ea typeface="Red Hat Display SemiBold"/>
              <a:cs typeface="Red Hat Display SemiBold"/>
              <a:sym typeface="Red Hat Display SemiBold"/>
            </a:endParaRPr>
          </a:p>
        </p:txBody>
      </p:sp>
      <p:sp>
        <p:nvSpPr>
          <p:cNvPr id="924" name="Google Shape;924;p63"/>
          <p:cNvSpPr txBox="1"/>
          <p:nvPr/>
        </p:nvSpPr>
        <p:spPr>
          <a:xfrm>
            <a:off x="7404098" y="1931292"/>
            <a:ext cx="1508700" cy="1200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Use Cases 2-4 </a:t>
            </a:r>
            <a:r>
              <a:rPr lang="en" sz="900">
                <a:solidFill>
                  <a:schemeClr val="lt1"/>
                </a:solidFill>
                <a:latin typeface="Red Hat Display"/>
                <a:ea typeface="Red Hat Display"/>
                <a:cs typeface="Red Hat Display"/>
                <a:sym typeface="Red Hat Display"/>
              </a:rPr>
              <a:t>→ </a:t>
            </a:r>
            <a:r>
              <a:rPr b="1" lang="en" sz="1100">
                <a:solidFill>
                  <a:schemeClr val="lt1"/>
                </a:solidFill>
                <a:latin typeface="Red Hat Display"/>
                <a:ea typeface="Red Hat Display"/>
                <a:cs typeface="Red Hat Display"/>
                <a:sym typeface="Red Hat Display"/>
              </a:rPr>
              <a:t>N/A</a:t>
            </a:r>
            <a:endParaRPr b="1" sz="1100">
              <a:solidFill>
                <a:schemeClr val="lt1"/>
              </a:solidFill>
              <a:latin typeface="Red Hat Display"/>
              <a:ea typeface="Red Hat Display"/>
              <a:cs typeface="Red Hat Display"/>
              <a:sym typeface="Red Hat Display"/>
            </a:endParaRPr>
          </a:p>
          <a:p>
            <a:pPr indent="0" lvl="0" marL="0" rtl="0" algn="l">
              <a:spcBef>
                <a:spcPts val="0"/>
              </a:spcBef>
              <a:spcAft>
                <a:spcPts val="0"/>
              </a:spcAft>
              <a:buNone/>
            </a:pPr>
            <a:r>
              <a:rPr b="1" lang="en" sz="1100">
                <a:solidFill>
                  <a:schemeClr val="lt1"/>
                </a:solidFill>
                <a:latin typeface="Red Hat Display"/>
                <a:ea typeface="Red Hat Display"/>
                <a:cs typeface="Red Hat Display"/>
                <a:sym typeface="Red Hat Display"/>
              </a:rPr>
              <a:t>Use Case 1 write cost is </a:t>
            </a:r>
            <a:r>
              <a:rPr b="1" lang="en" sz="1100">
                <a:solidFill>
                  <a:schemeClr val="lt1"/>
                </a:solidFill>
                <a:latin typeface="Red Hat Display"/>
                <a:ea typeface="Red Hat Display"/>
                <a:cs typeface="Red Hat Display"/>
                <a:sym typeface="Red Hat Display"/>
              </a:rPr>
              <a:t>minimal</a:t>
            </a:r>
            <a:r>
              <a:rPr b="1" lang="en" sz="1100">
                <a:solidFill>
                  <a:schemeClr val="lt1"/>
                </a:solidFill>
                <a:latin typeface="Red Hat Display"/>
                <a:ea typeface="Red Hat Display"/>
                <a:cs typeface="Red Hat Display"/>
                <a:sym typeface="Red Hat Display"/>
              </a:rPr>
              <a:t> as it is updated as </a:t>
            </a:r>
            <a:r>
              <a:rPr b="1" lang="en" sz="1100">
                <a:solidFill>
                  <a:schemeClr val="dk2"/>
                </a:solidFill>
                <a:latin typeface="Red Hat Display"/>
                <a:ea typeface="Red Hat Display"/>
                <a:cs typeface="Red Hat Display"/>
                <a:sym typeface="Red Hat Display"/>
              </a:rPr>
              <a:t>dose_given </a:t>
            </a:r>
            <a:r>
              <a:rPr b="1" lang="en" sz="1100">
                <a:solidFill>
                  <a:schemeClr val="lt1"/>
                </a:solidFill>
                <a:latin typeface="Red Hat Display"/>
                <a:ea typeface="Red Hat Display"/>
                <a:cs typeface="Red Hat Display"/>
                <a:sym typeface="Red Hat Display"/>
              </a:rPr>
              <a:t>is updated </a:t>
            </a:r>
            <a:endParaRPr sz="900">
              <a:solidFill>
                <a:schemeClr val="lt1"/>
              </a:solidFill>
              <a:latin typeface="Red Hat Display"/>
              <a:ea typeface="Red Hat Display"/>
              <a:cs typeface="Red Hat Display"/>
              <a:sym typeface="Red Hat Display"/>
            </a:endParaRPr>
          </a:p>
        </p:txBody>
      </p:sp>
      <p:sp>
        <p:nvSpPr>
          <p:cNvPr id="925" name="Google Shape;925;p63"/>
          <p:cNvSpPr txBox="1"/>
          <p:nvPr/>
        </p:nvSpPr>
        <p:spPr>
          <a:xfrm>
            <a:off x="7404098" y="1548142"/>
            <a:ext cx="1508700" cy="3540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100">
                <a:solidFill>
                  <a:schemeClr val="dk2"/>
                </a:solidFill>
                <a:latin typeface="Red Hat Display SemiBold"/>
                <a:ea typeface="Red Hat Display SemiBold"/>
                <a:cs typeface="Red Hat Display SemiBold"/>
                <a:sym typeface="Red Hat Display SemiBold"/>
              </a:rPr>
              <a:t>Other Use Cases</a:t>
            </a:r>
            <a:endParaRPr sz="1100">
              <a:solidFill>
                <a:schemeClr val="dk2"/>
              </a:solidFill>
              <a:latin typeface="Red Hat Display SemiBold"/>
              <a:ea typeface="Red Hat Display SemiBold"/>
              <a:cs typeface="Red Hat Display SemiBold"/>
              <a:sym typeface="Red Hat Display SemiBold"/>
            </a:endParaRPr>
          </a:p>
        </p:txBody>
      </p:sp>
      <p:sp>
        <p:nvSpPr>
          <p:cNvPr id="926" name="Google Shape;926;p63"/>
          <p:cNvSpPr/>
          <p:nvPr/>
        </p:nvSpPr>
        <p:spPr>
          <a:xfrm>
            <a:off x="225998" y="1099451"/>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27" name="Google Shape;927;p63"/>
          <p:cNvSpPr/>
          <p:nvPr/>
        </p:nvSpPr>
        <p:spPr>
          <a:xfrm>
            <a:off x="2020523" y="1099451"/>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28" name="Google Shape;928;p63"/>
          <p:cNvSpPr/>
          <p:nvPr/>
        </p:nvSpPr>
        <p:spPr>
          <a:xfrm>
            <a:off x="3815048" y="1099451"/>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29" name="Google Shape;929;p63"/>
          <p:cNvSpPr/>
          <p:nvPr/>
        </p:nvSpPr>
        <p:spPr>
          <a:xfrm>
            <a:off x="5609573" y="1099451"/>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30" name="Google Shape;930;p63"/>
          <p:cNvSpPr/>
          <p:nvPr/>
        </p:nvSpPr>
        <p:spPr>
          <a:xfrm>
            <a:off x="7404098" y="1099451"/>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931" name="Google Shape;931;p63"/>
          <p:cNvSpPr txBox="1"/>
          <p:nvPr>
            <p:ph type="title"/>
          </p:nvPr>
        </p:nvSpPr>
        <p:spPr>
          <a:xfrm>
            <a:off x="228600" y="20137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NoSQL Schema</a:t>
            </a:r>
            <a:endParaRPr/>
          </a:p>
        </p:txBody>
      </p:sp>
      <p:sp>
        <p:nvSpPr>
          <p:cNvPr id="932" name="Google Shape;932;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64"/>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Thank you</a:t>
            </a:r>
            <a:endParaRPr/>
          </a:p>
        </p:txBody>
      </p:sp>
      <p:sp>
        <p:nvSpPr>
          <p:cNvPr id="938" name="Google Shape;938;p64"/>
          <p:cNvSpPr txBox="1"/>
          <p:nvPr>
            <p:ph idx="1" type="subTitle"/>
          </p:nvPr>
        </p:nvSpPr>
        <p:spPr>
          <a:xfrm>
            <a:off x="3154650" y="1107300"/>
            <a:ext cx="5599500" cy="50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a:t>
            </a:r>
            <a:endParaRPr/>
          </a:p>
        </p:txBody>
      </p:sp>
      <p:sp>
        <p:nvSpPr>
          <p:cNvPr id="939" name="Google Shape;939;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